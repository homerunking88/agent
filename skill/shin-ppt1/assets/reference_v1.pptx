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691988" cy="7559985"/>
  <p:notesSz cx="7559985" cy="106919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부문</c:v>
                </c:pt>
              </c:strCache>
            </c:strRef>
          </c:tx>
          <c:spPr>
            <a:solidFill>
              <a:srgbClr val="1F3A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C4550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1Q</c:v>
                  </c:pt>
                  <c:pt idx="1">
                    <c:v>2Q</c:v>
                  </c:pt>
                  <c:pt idx="2">
                    <c:v>3Q</c:v>
                  </c:pt>
                  <c:pt idx="3">
                    <c:v>4Q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280</c:v>
                </c:pt>
                <c:pt idx="2">
                  <c:v>410</c:v>
                </c:pt>
                <c:pt idx="3">
                  <c:v>380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부문</c:v>
                </c:pt>
              </c:strCache>
            </c:strRef>
          </c:tx>
          <c:spPr>
            <a:solidFill>
              <a:srgbClr val="4B7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C4550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1Q</c:v>
                  </c:pt>
                  <c:pt idx="1">
                    <c:v>2Q</c:v>
                  </c:pt>
                  <c:pt idx="2">
                    <c:v>3Q</c:v>
                  </c:pt>
                  <c:pt idx="3">
                    <c:v>4Q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240</c:v>
                </c:pt>
                <c:pt idx="2">
                  <c:v>190</c:v>
                </c:pt>
                <c:pt idx="3">
                  <c:v>260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부문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C4550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1Q</c:v>
                  </c:pt>
                  <c:pt idx="1">
                    <c:v>2Q</c:v>
                  </c:pt>
                  <c:pt idx="2">
                    <c:v>3Q</c:v>
                  </c:pt>
                  <c:pt idx="3">
                    <c:v>4Q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130</c:v>
                </c:pt>
                <c:pt idx="3">
                  <c:v>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C4550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4181D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8794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C4550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받침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464E"/>
                    </a:solidFill>
                    <a:latin typeface="맑은 고딕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FY25</c:v>
                  </c:pt>
                  <c:pt idx="1">
                    <c:v>위탁</c:v>
                  </c:pt>
                  <c:pt idx="2">
                    <c:v>IB</c:v>
                  </c:pt>
                  <c:pt idx="3">
                    <c:v>운용</c:v>
                  </c:pt>
                  <c:pt idx="4">
                    <c:v>기타</c:v>
                  </c:pt>
                  <c:pt idx="5">
                    <c:v>FY26E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1431</c:v>
                </c:pt>
                <c:pt idx="2">
                  <c:v>1617</c:v>
                </c:pt>
                <c:pt idx="3">
                  <c:v>1661</c:v>
                </c:pt>
                <c:pt idx="4">
                  <c:v>1661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기준·합계</c:v>
                </c:pt>
              </c:strCache>
            </c:strRef>
          </c:tx>
          <c:spPr>
            <a:solidFill>
              <a:srgbClr val="1A1D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464E"/>
                    </a:solidFill>
                    <a:latin typeface="맑은 고딕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FY25</c:v>
                  </c:pt>
                  <c:pt idx="1">
                    <c:v>위탁</c:v>
                  </c:pt>
                  <c:pt idx="2">
                    <c:v>IB</c:v>
                  </c:pt>
                  <c:pt idx="3">
                    <c:v>운용</c:v>
                  </c:pt>
                  <c:pt idx="4">
                    <c:v>기타</c:v>
                  </c:pt>
                  <c:pt idx="5">
                    <c:v>FY26E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1431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1688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증가</c:v>
                </c:pt>
              </c:strCache>
            </c:strRef>
          </c:tx>
          <c:spPr>
            <a:solidFill>
              <a:srgbClr val="5E7C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464E"/>
                    </a:solidFill>
                    <a:latin typeface="맑은 고딕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FY25</c:v>
                  </c:pt>
                  <c:pt idx="1">
                    <c:v>위탁</c:v>
                  </c:pt>
                  <c:pt idx="2">
                    <c:v>IB</c:v>
                  </c:pt>
                  <c:pt idx="3">
                    <c:v>운용</c:v>
                  </c:pt>
                  <c:pt idx="4">
                    <c:v>기타</c:v>
                  </c:pt>
                  <c:pt idx="5">
                    <c:v>FY26E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186</c:v>
                </c:pt>
                <c:pt idx="2">
                  <c:v>142</c:v>
                </c:pt>
                <c:pt idx="3">
                  <c:v>0</c:v>
                </c:pt>
                <c:pt idx="4">
                  <c:v>27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감소</c:v>
                </c:pt>
              </c:strCache>
            </c:strRef>
          </c:tx>
          <c:spPr>
            <a:solidFill>
              <a:srgbClr val="B4C6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464E"/>
                    </a:solidFill>
                    <a:latin typeface="맑은 고딕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FY25</c:v>
                  </c:pt>
                  <c:pt idx="1">
                    <c:v>위탁</c:v>
                  </c:pt>
                  <c:pt idx="2">
                    <c:v>IB</c:v>
                  </c:pt>
                  <c:pt idx="3">
                    <c:v>운용</c:v>
                  </c:pt>
                  <c:pt idx="4">
                    <c:v>기타</c:v>
                  </c:pt>
                  <c:pt idx="5">
                    <c:v>FY26E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98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F464E"/>
                  </a:solidFill>
                  <a:latin typeface="맑은 고딕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D21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"/>
          <c:min val="12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29B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위탁</c:v>
                </c:pt>
              </c:strCache>
            </c:strRef>
          </c:tx>
          <c:spPr>
            <a:solidFill>
              <a:srgbClr val="1F5C63"/>
            </a:solidFill>
            <a:ln w="25400" cap="flat">
              <a:solidFill>
                <a:srgbClr val="1F5C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464E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5C63"/>
              </a:solidFill>
              <a:ln w="9525" cap="flat">
                <a:solidFill>
                  <a:srgbClr val="1F5C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1Q</c:v>
                  </c:pt>
                  <c:pt idx="1">
                    <c:v>2Q</c:v>
                  </c:pt>
                  <c:pt idx="2">
                    <c:v>3Q</c:v>
                  </c:pt>
                  <c:pt idx="3">
                    <c:v>4Q</c:v>
                  </c:pt>
                  <c:pt idx="4">
                    <c:v>1Q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</c:v>
                </c:pt>
                <c:pt idx="1">
                  <c:v>288</c:v>
                </c:pt>
                <c:pt idx="2">
                  <c:v>356</c:v>
                </c:pt>
                <c:pt idx="3">
                  <c:v>402</c:v>
                </c:pt>
                <c:pt idx="4">
                  <c:v>418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IB</c:v>
                </c:pt>
              </c:strCache>
            </c:strRef>
          </c:tx>
          <c:spPr>
            <a:solidFill>
              <a:srgbClr val="5E7C8A"/>
            </a:solidFill>
            <a:ln w="25400" cap="flat">
              <a:solidFill>
                <a:srgbClr val="5E7C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464E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E7C8A"/>
              </a:solidFill>
              <a:ln w="9525" cap="flat">
                <a:solidFill>
                  <a:srgbClr val="5E7C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1Q</c:v>
                  </c:pt>
                  <c:pt idx="1">
                    <c:v>2Q</c:v>
                  </c:pt>
                  <c:pt idx="2">
                    <c:v>3Q</c:v>
                  </c:pt>
                  <c:pt idx="3">
                    <c:v>4Q</c:v>
                  </c:pt>
                  <c:pt idx="4">
                    <c:v>1Q 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186</c:v>
                </c:pt>
                <c:pt idx="1">
                  <c:v>214</c:v>
                </c:pt>
                <c:pt idx="2">
                  <c:v>198</c:v>
                </c:pt>
                <c:pt idx="3">
                  <c:v>246</c:v>
                </c:pt>
                <c:pt idx="4">
                  <c:v>262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운용</c:v>
                </c:pt>
              </c:strCache>
            </c:strRef>
          </c:tx>
          <c:spPr>
            <a:solidFill>
              <a:srgbClr val="8FA9B0"/>
            </a:solidFill>
            <a:ln w="25400" cap="flat">
              <a:solidFill>
                <a:srgbClr val="8FA9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464E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FA9B0"/>
              </a:solidFill>
              <a:ln w="9525" cap="flat">
                <a:solidFill>
                  <a:srgbClr val="8FA9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1Q</c:v>
                  </c:pt>
                  <c:pt idx="1">
                    <c:v>2Q</c:v>
                  </c:pt>
                  <c:pt idx="2">
                    <c:v>3Q</c:v>
                  </c:pt>
                  <c:pt idx="3">
                    <c:v>4Q</c:v>
                  </c:pt>
                  <c:pt idx="4">
                    <c:v>1Q 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142</c:v>
                </c:pt>
                <c:pt idx="1">
                  <c:v>108</c:v>
                </c:pt>
                <c:pt idx="2">
                  <c:v>126</c:v>
                </c:pt>
                <c:pt idx="3">
                  <c:v>96</c:v>
                </c:pt>
                <c:pt idx="4">
                  <c:v>104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F464E"/>
                  </a:solidFill>
                  <a:latin typeface="맑은 고딕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D21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29B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F464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위탁</c:v>
                </c:pt>
              </c:strCache>
            </c:strRef>
          </c:tx>
          <c:spPr>
            <a:solidFill>
              <a:srgbClr val="1F3A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맑은 고딕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512</c:v>
                </c:pt>
                <c:pt idx="1">
                  <c:v>566</c:v>
                </c:pt>
                <c:pt idx="2">
                  <c:v>648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IB</c:v>
                </c:pt>
              </c:strCache>
            </c:strRef>
          </c:tx>
          <c:spPr>
            <a:solidFill>
              <a:srgbClr val="4B7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맑은 고딕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286</c:v>
                </c:pt>
                <c:pt idx="1">
                  <c:v>348</c:v>
                </c:pt>
                <c:pt idx="2">
                  <c:v>452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운용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맑은 고딕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244</c:v>
                </c:pt>
                <c:pt idx="1">
                  <c:v>302</c:v>
                </c:pt>
                <c:pt idx="2">
                  <c:v>358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8A9A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맑은 고딕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FY26E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162</c:v>
                </c:pt>
                <c:pt idx="1">
                  <c:v>215</c:v>
                </c:pt>
                <c:pt idx="2">
                  <c:v>230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맑은 고딕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4181D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8794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C4550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테마 report — 기본 팔레트 (표 + 흐름 도식)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94360" y="822960"/>
            <a:ext cx="9503268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9264"/>
            <a:ext cx="9503268" cy="694944"/>
          </a:xfrm>
          <a:prstGeom prst="roundRect">
            <a:avLst>
              <a:gd name="adj" fmla="val 6579"/>
            </a:avLst>
          </a:prstGeom>
          <a:solidFill>
            <a:srgbClr val="2A313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969264"/>
            <a:ext cx="91740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상급자 개인 보고에 쓰는 기본 테마임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7FB3BA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색면은 요약박스 하나로 제한하고 구조는 선·여백으로 만듦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항목별 비중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0664" y="182880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(단위: 억원, 예시)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53512" y="2962656"/>
            <a:ext cx="1188720" cy="3291840"/>
          </a:xfrm>
          <a:prstGeom prst="rect">
            <a:avLst/>
          </a:prstGeom>
          <a:solidFill>
            <a:srgbClr val="F4F6F7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31136"/>
          <a:ext cx="4590288" cy="914400"/>
        </p:xfrm>
        <a:graphic>
          <a:graphicData uri="http://schemas.openxmlformats.org/drawingml/2006/table">
            <a:tbl>
              <a:tblPr/>
              <a:tblGrid>
                <a:gridCol w="1170432"/>
                <a:gridCol w="1188720"/>
                <a:gridCol w="1188720"/>
                <a:gridCol w="1042416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부문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1,240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5C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64.6%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부문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860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44.8%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부문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-180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-9.4%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1,920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A929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" y="2218334"/>
            <a:ext cx="4590288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2962656"/>
            <a:ext cx="459028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13" name="Shape 10"/>
          <p:cNvSpPr/>
          <p:nvPr/>
        </p:nvSpPr>
        <p:spPr>
          <a:xfrm>
            <a:off x="594360" y="3785616"/>
            <a:ext cx="459028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14" name="Shape 11"/>
          <p:cNvSpPr/>
          <p:nvPr/>
        </p:nvSpPr>
        <p:spPr>
          <a:xfrm>
            <a:off x="594360" y="4608576"/>
            <a:ext cx="459028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15" name="Shape 12"/>
          <p:cNvSpPr/>
          <p:nvPr/>
        </p:nvSpPr>
        <p:spPr>
          <a:xfrm>
            <a:off x="594360" y="5431536"/>
            <a:ext cx="459028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16" name="Shape 13"/>
          <p:cNvSpPr/>
          <p:nvPr/>
        </p:nvSpPr>
        <p:spPr>
          <a:xfrm>
            <a:off x="594360" y="6254496"/>
            <a:ext cx="4590288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7" name="Shape 14"/>
          <p:cNvSpPr/>
          <p:nvPr/>
        </p:nvSpPr>
        <p:spPr>
          <a:xfrm>
            <a:off x="5504688" y="1847088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18" name="Text 15"/>
          <p:cNvSpPr/>
          <p:nvPr/>
        </p:nvSpPr>
        <p:spPr>
          <a:xfrm>
            <a:off x="5650992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자금 회전 구조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650992" y="182880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(회귀 경로 포함)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504688" y="2231136"/>
            <a:ext cx="1274064" cy="192024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64692" y="2399386"/>
            <a:ext cx="354056" cy="104607"/>
          </a:xfrm>
          <a:prstGeom prst="ellipse">
            <a:avLst/>
          </a:prstGeom>
          <a:ln w="15875">
            <a:solidFill>
              <a:srgbClr val="3F464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64692" y="2451689"/>
            <a:ext cx="0" cy="96561"/>
          </a:xfrm>
          <a:prstGeom prst="line">
            <a:avLst/>
          </a:prstGeom>
          <a:noFill/>
          <a:ln w="15875">
            <a:solidFill>
              <a:srgbClr val="3F464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18748" y="2451689"/>
            <a:ext cx="0" cy="96561"/>
          </a:xfrm>
          <a:prstGeom prst="line">
            <a:avLst/>
          </a:prstGeom>
          <a:noFill/>
          <a:ln w="15875">
            <a:solidFill>
              <a:srgbClr val="3F464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64692" y="2495946"/>
            <a:ext cx="354056" cy="104607"/>
          </a:xfrm>
          <a:prstGeom prst="ellipse">
            <a:avLst/>
          </a:prstGeom>
          <a:ln w="15875">
            <a:solidFill>
              <a:srgbClr val="3F464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64692" y="2548250"/>
            <a:ext cx="0" cy="96561"/>
          </a:xfrm>
          <a:prstGeom prst="line">
            <a:avLst/>
          </a:prstGeom>
          <a:noFill/>
          <a:ln w="15875">
            <a:solidFill>
              <a:srgbClr val="3F464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18748" y="2548250"/>
            <a:ext cx="0" cy="96561"/>
          </a:xfrm>
          <a:prstGeom prst="line">
            <a:avLst/>
          </a:prstGeom>
          <a:noFill/>
          <a:ln w="15875">
            <a:solidFill>
              <a:srgbClr val="3F464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64692" y="2592507"/>
            <a:ext cx="354056" cy="104607"/>
          </a:xfrm>
          <a:prstGeom prst="ellipse">
            <a:avLst/>
          </a:prstGeom>
          <a:ln w="15875">
            <a:solidFill>
              <a:srgbClr val="3F464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77840" y="2834640"/>
            <a:ext cx="112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조달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596128" y="3163824"/>
            <a:ext cx="10911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차입·자본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861048" y="2807208"/>
            <a:ext cx="219456" cy="182880"/>
          </a:xfrm>
          <a:prstGeom prst="rightArrow">
            <a:avLst/>
          </a:prstGeom>
          <a:solidFill>
            <a:srgbClr val="D5D9DE"/>
          </a:solidFill>
          <a:ln/>
        </p:spPr>
      </p:sp>
      <p:sp>
        <p:nvSpPr>
          <p:cNvPr id="31" name="Shape 28"/>
          <p:cNvSpPr/>
          <p:nvPr/>
        </p:nvSpPr>
        <p:spPr>
          <a:xfrm>
            <a:off x="7162800" y="2231136"/>
            <a:ext cx="1274064" cy="1920240"/>
          </a:xfrm>
          <a:prstGeom prst="roundRect">
            <a:avLst>
              <a:gd name="adj" fmla="val 3589"/>
            </a:avLst>
          </a:prstGeom>
          <a:solidFill>
            <a:srgbClr val="F4F6F7"/>
          </a:solidFill>
          <a:ln w="15875">
            <a:solidFill>
              <a:srgbClr val="1F5C6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30851" y="2455713"/>
            <a:ext cx="337962" cy="241402"/>
          </a:xfrm>
          <a:prstGeom prst="rect">
            <a:avLst/>
          </a:prstGeom>
          <a:ln w="15875">
            <a:solidFill>
              <a:srgbClr val="1F5C6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30851" y="2536180"/>
            <a:ext cx="337962" cy="0"/>
          </a:xfrm>
          <a:prstGeom prst="line">
            <a:avLst/>
          </a:prstGeom>
          <a:noFill/>
          <a:ln w="15875">
            <a:solidFill>
              <a:srgbClr val="1F5C6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43505" y="2399386"/>
            <a:ext cx="112654" cy="0"/>
          </a:xfrm>
          <a:prstGeom prst="line">
            <a:avLst/>
          </a:prstGeom>
          <a:noFill/>
          <a:ln w="15875">
            <a:solidFill>
              <a:srgbClr val="1F5C6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43505" y="2399386"/>
            <a:ext cx="0" cy="56327"/>
          </a:xfrm>
          <a:prstGeom prst="line">
            <a:avLst/>
          </a:prstGeom>
          <a:noFill/>
          <a:ln w="15875">
            <a:solidFill>
              <a:srgbClr val="1F5C6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856159" y="2399386"/>
            <a:ext cx="0" cy="56327"/>
          </a:xfrm>
          <a:prstGeom prst="line">
            <a:avLst/>
          </a:prstGeom>
          <a:noFill/>
          <a:ln w="15875">
            <a:solidFill>
              <a:srgbClr val="1F5C6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235952" y="2834640"/>
            <a:ext cx="112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운용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254240" y="3163824"/>
            <a:ext cx="10911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편입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519160" y="2807208"/>
            <a:ext cx="219456" cy="182880"/>
          </a:xfrm>
          <a:prstGeom prst="rightArrow">
            <a:avLst/>
          </a:prstGeom>
          <a:solidFill>
            <a:srgbClr val="D5D9DE"/>
          </a:solidFill>
          <a:ln/>
        </p:spPr>
      </p:sp>
      <p:sp>
        <p:nvSpPr>
          <p:cNvPr id="40" name="Shape 37"/>
          <p:cNvSpPr/>
          <p:nvPr/>
        </p:nvSpPr>
        <p:spPr>
          <a:xfrm>
            <a:off x="8820912" y="2231136"/>
            <a:ext cx="1274064" cy="192024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288963" y="2391339"/>
            <a:ext cx="337962" cy="337962"/>
          </a:xfrm>
          <a:prstGeom prst="ellipse">
            <a:avLst/>
          </a:prstGeom>
          <a:ln w="15875">
            <a:solidFill>
              <a:srgbClr val="3F464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457944" y="2471806"/>
            <a:ext cx="0" cy="88514"/>
          </a:xfrm>
          <a:prstGeom prst="line">
            <a:avLst/>
          </a:prstGeom>
          <a:noFill/>
          <a:ln w="15875">
            <a:solidFill>
              <a:srgbClr val="3F464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457944" y="2560320"/>
            <a:ext cx="88514" cy="0"/>
          </a:xfrm>
          <a:prstGeom prst="line">
            <a:avLst/>
          </a:prstGeom>
          <a:noFill/>
          <a:ln w="15875">
            <a:solidFill>
              <a:srgbClr val="3F464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894064" y="2834640"/>
            <a:ext cx="112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8912352" y="3163824"/>
            <a:ext cx="10911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 상환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9457944" y="4151376"/>
            <a:ext cx="0" cy="237744"/>
          </a:xfrm>
          <a:prstGeom prst="line">
            <a:avLst/>
          </a:prstGeom>
          <a:noFill/>
          <a:ln w="12700">
            <a:solidFill>
              <a:srgbClr val="1F5C63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>
            <a:off x="6141720" y="4389120"/>
            <a:ext cx="3316224" cy="0"/>
          </a:xfrm>
          <a:prstGeom prst="line">
            <a:avLst/>
          </a:prstGeom>
          <a:noFill/>
          <a:ln w="12700">
            <a:solidFill>
              <a:srgbClr val="1F5C63"/>
            </a:solidFill>
            <a:prstDash val="dash"/>
          </a:ln>
        </p:spPr>
      </p:sp>
      <p:sp>
        <p:nvSpPr>
          <p:cNvPr id="48" name="Shape 45"/>
          <p:cNvSpPr/>
          <p:nvPr/>
        </p:nvSpPr>
        <p:spPr>
          <a:xfrm>
            <a:off x="6059424" y="4187952"/>
            <a:ext cx="164592" cy="201168"/>
          </a:xfrm>
          <a:prstGeom prst="upArrow">
            <a:avLst/>
          </a:prstGeom>
          <a:solidFill>
            <a:srgbClr val="1F5C63"/>
          </a:solidFill>
          <a:ln/>
        </p:spPr>
      </p:sp>
      <p:sp>
        <p:nvSpPr>
          <p:cNvPr id="49" name="Shape 46"/>
          <p:cNvSpPr/>
          <p:nvPr/>
        </p:nvSpPr>
        <p:spPr>
          <a:xfrm>
            <a:off x="6361176" y="4215384"/>
            <a:ext cx="2877312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6324600" y="4206240"/>
            <a:ext cx="2950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C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회수분 재투입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504688" y="4882896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52" name="Text 49"/>
          <p:cNvSpPr/>
          <p:nvPr/>
        </p:nvSpPr>
        <p:spPr>
          <a:xfrm>
            <a:off x="5650992" y="4864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포인트</a:t>
            </a:r>
            <a:endParaRPr lang="en-US" sz="1350" dirty="0"/>
          </a:p>
        </p:txBody>
      </p:sp>
      <p:sp>
        <p:nvSpPr>
          <p:cNvPr id="53" name="Shape 50"/>
          <p:cNvSpPr/>
          <p:nvPr/>
        </p:nvSpPr>
        <p:spPr>
          <a:xfrm>
            <a:off x="5513832" y="5326380"/>
            <a:ext cx="50292" cy="5029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54" name="Text 51"/>
          <p:cNvSpPr/>
          <p:nvPr/>
        </p:nvSpPr>
        <p:spPr>
          <a:xfrm>
            <a:off x="5650992" y="5248656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 주기가 12개월을 넘기면 재투입분이 한 회전 밀림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5513832" y="5710428"/>
            <a:ext cx="50292" cy="5029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56" name="Text 53"/>
          <p:cNvSpPr/>
          <p:nvPr/>
        </p:nvSpPr>
        <p:spPr>
          <a:xfrm>
            <a:off x="5650992" y="5632704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부문 손실은 조달 단계 한도에서 흡수 불가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5650992" y="601675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⇒ 한도 재산정을 운용 단계보다 먼저 진행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594360" y="6345936"/>
            <a:ext cx="9503268" cy="640080"/>
          </a:xfrm>
          <a:prstGeom prst="roundRect">
            <a:avLst>
              <a:gd name="adj" fmla="val 7143"/>
            </a:avLst>
          </a:prstGeom>
          <a:solidFill>
            <a:srgbClr val="DCE9ED"/>
          </a:solidFill>
          <a:ln/>
        </p:spPr>
      </p:sp>
      <p:sp>
        <p:nvSpPr>
          <p:cNvPr id="59" name="Text 56"/>
          <p:cNvSpPr/>
          <p:nvPr/>
        </p:nvSpPr>
        <p:spPr>
          <a:xfrm>
            <a:off x="795528" y="6345936"/>
            <a:ext cx="91009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부문은 손실 구간이 이어지고 있어 한도 재산정이 선행되어야 함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594360" y="7059168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61" name="Text 58"/>
          <p:cNvSpPr/>
          <p:nvPr/>
        </p:nvSpPr>
        <p:spPr>
          <a:xfrm>
            <a:off x="594360" y="7168896"/>
            <a:ext cx="8497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예시 수치임. 실제 보고에는 원천 데이터로 대체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음수는 마이너스 부호로 표기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9091788" y="7168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테마 mono — 무채색 전용 (비교 대조)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94360" y="822960"/>
            <a:ext cx="9503268" cy="2560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9264"/>
            <a:ext cx="9503268" cy="694944"/>
          </a:xfrm>
          <a:prstGeom prst="roundRect">
            <a:avLst>
              <a:gd name="adj" fmla="val 6579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969264"/>
            <a:ext cx="91740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색이 브랜드로 읽히면 안 되는 대외·심의 자료용임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4B4B4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강조는 색이 아니라 굵기와 선 두께로 처리함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54864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방식 비교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0664" y="1828800"/>
            <a:ext cx="9503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(강조 쪽만 옅은 배경 + 굵은 테두리)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231136"/>
            <a:ext cx="3882954" cy="512064"/>
          </a:xfrm>
          <a:prstGeom prst="roundRect">
            <a:avLst>
              <a:gd name="adj" fmla="val 8929"/>
            </a:avLst>
          </a:prstGeom>
          <a:solidFill>
            <a:srgbClr val="F5F5F5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231136"/>
            <a:ext cx="3736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수행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4674" y="2231136"/>
            <a:ext cx="388295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7826" y="2231136"/>
            <a:ext cx="3736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위탁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" y="2798064"/>
            <a:ext cx="3736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 (28억)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77314" y="279806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비용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7826" y="2798064"/>
            <a:ext cx="3736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 (11억)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346704"/>
            <a:ext cx="9503268" cy="731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3346704"/>
            <a:ext cx="3736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77314" y="33467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 누적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7826" y="3346704"/>
            <a:ext cx="3736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895344"/>
            <a:ext cx="9503268" cy="731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895344"/>
            <a:ext cx="3736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9개월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77314" y="38953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소요 기간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87826" y="3895344"/>
            <a:ext cx="3736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4443984"/>
            <a:ext cx="9503268" cy="731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" y="4443984"/>
            <a:ext cx="3736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축적됨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77314" y="44439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역량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87826" y="4443984"/>
            <a:ext cx="3736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축적 안 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4992624"/>
            <a:ext cx="9503268" cy="731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" y="4992624"/>
            <a:ext cx="3736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통제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77314" y="49926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통제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87826" y="4992624"/>
            <a:ext cx="3736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범위 내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5833872"/>
            <a:ext cx="54864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" y="58155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의견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03504" y="6277356"/>
            <a:ext cx="50292" cy="502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" y="6199632"/>
            <a:ext cx="9356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비용은 외부 위탁이 낮으나 3년 누적 기준으로 역전됨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3504" y="6643116"/>
            <a:ext cx="50292" cy="502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740664" y="6565392"/>
            <a:ext cx="9356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역량 축적이 후속 과제의 전제 조건임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0664" y="6931152"/>
            <a:ext cx="9356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⇒ 직접 수행을 원안으로 하되 1차 연도만 부분 위탁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4360" y="7196328"/>
            <a:ext cx="9503268" cy="731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7306056"/>
            <a:ext cx="84974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비용은 예시 수치임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091788" y="7306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924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테마 paper — 크림 지면 (적층 구조 + 카드 표)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94360" y="822960"/>
            <a:ext cx="9503268" cy="25603"/>
          </a:xfrm>
          <a:prstGeom prst="rect">
            <a:avLst/>
          </a:prstGeom>
          <a:solidFill>
            <a:srgbClr val="2A2924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9264"/>
            <a:ext cx="9503268" cy="694944"/>
          </a:xfrm>
          <a:prstGeom prst="roundRect">
            <a:avLst>
              <a:gd name="adj" fmla="val 6579"/>
            </a:avLst>
          </a:prstGeom>
          <a:solidFill>
            <a:srgbClr val="2A2924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969264"/>
            <a:ext cx="91740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6F5F2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인쇄해서 손에 들고 보는 회장·이사회 보고용임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9FB2CC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지면이 크림색이라 표를 카드로 띄우면 종이 위에 얹힌 것처럼 읽힘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54864" cy="256032"/>
          </a:xfrm>
          <a:prstGeom prst="rect">
            <a:avLst/>
          </a:prstGeom>
          <a:solidFill>
            <a:srgbClr val="1F3A6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9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 우선순위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231136"/>
            <a:ext cx="2111532" cy="822960"/>
          </a:xfrm>
          <a:prstGeom prst="roundRect">
            <a:avLst>
              <a:gd name="adj" fmla="val 5556"/>
            </a:avLst>
          </a:prstGeom>
          <a:solidFill>
            <a:srgbClr val="EBE8E0"/>
          </a:solidFill>
          <a:ln w="15875">
            <a:solidFill>
              <a:srgbClr val="1F3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231136"/>
            <a:ext cx="19652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선순위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9504" y="2231136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확보, 금리 하단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211153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ED9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108960"/>
            <a:ext cx="19652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9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메자닌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9504" y="310896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전환권 부여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986784"/>
            <a:ext cx="211153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ED9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986784"/>
            <a:ext cx="19652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9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에쿼티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9504" y="3986784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수익 귀속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75504"/>
            <a:ext cx="54864" cy="256032"/>
          </a:xfrm>
          <a:prstGeom prst="rect">
            <a:avLst/>
          </a:prstGeom>
          <a:solidFill>
            <a:srgbClr val="1F3A63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" y="51572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9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 전제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3504" y="5637276"/>
            <a:ext cx="50292" cy="50292"/>
          </a:xfrm>
          <a:prstGeom prst="rect">
            <a:avLst/>
          </a:prstGeom>
          <a:solidFill>
            <a:srgbClr val="1F3A63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" y="5559552"/>
            <a:ext cx="4443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55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선순위 상환 완료 전까지 에쿼티 배분 유보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" y="6039612"/>
            <a:ext cx="50292" cy="50292"/>
          </a:xfrm>
          <a:prstGeom prst="rect">
            <a:avLst/>
          </a:prstGeom>
          <a:solidFill>
            <a:srgbClr val="1F3A63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" y="5961888"/>
            <a:ext cx="4443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55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메자닌 전환권은 FY27 이후 행사 가능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04688" y="1847088"/>
            <a:ext cx="54864" cy="256032"/>
          </a:xfrm>
          <a:prstGeom prst="rect">
            <a:avLst/>
          </a:prstGeom>
          <a:solidFill>
            <a:srgbClr val="1F3A63"/>
          </a:solidFill>
          <a:ln/>
        </p:spPr>
      </p:sp>
      <p:sp>
        <p:nvSpPr>
          <p:cNvPr id="24" name="Text 22"/>
          <p:cNvSpPr/>
          <p:nvPr/>
        </p:nvSpPr>
        <p:spPr>
          <a:xfrm>
            <a:off x="5650992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9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연도별 수지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50992" y="182880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(억원)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04688" y="2231136"/>
            <a:ext cx="4590288" cy="4096512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4688" y="2231136"/>
          <a:ext cx="4590288" cy="914400"/>
        </p:xfrm>
        <a:graphic>
          <a:graphicData uri="http://schemas.openxmlformats.org/drawingml/2006/table">
            <a:tbl>
              <a:tblPr/>
              <a:tblGrid>
                <a:gridCol w="1042416"/>
                <a:gridCol w="1207008"/>
                <a:gridCol w="1188720"/>
                <a:gridCol w="1152144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9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9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9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9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순이익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55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FY24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55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1,204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55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988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55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55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FY25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55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1,431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55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1,109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55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55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FY26E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55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1,688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55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1,240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A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29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CAGR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29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18.4%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29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12.1%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29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44.0%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5504688" y="2218334"/>
            <a:ext cx="4590288" cy="25603"/>
          </a:xfrm>
          <a:prstGeom prst="rect">
            <a:avLst/>
          </a:prstGeom>
          <a:solidFill>
            <a:srgbClr val="2A2924"/>
          </a:solidFill>
          <a:ln/>
        </p:spPr>
      </p:sp>
      <p:sp>
        <p:nvSpPr>
          <p:cNvPr id="29" name="Shape 26"/>
          <p:cNvSpPr/>
          <p:nvPr/>
        </p:nvSpPr>
        <p:spPr>
          <a:xfrm>
            <a:off x="5504688" y="2962656"/>
            <a:ext cx="4590288" cy="7315"/>
          </a:xfrm>
          <a:prstGeom prst="rect">
            <a:avLst/>
          </a:prstGeom>
          <a:solidFill>
            <a:srgbClr val="DED9CA"/>
          </a:solidFill>
          <a:ln/>
        </p:spPr>
      </p:sp>
      <p:sp>
        <p:nvSpPr>
          <p:cNvPr id="30" name="Shape 27"/>
          <p:cNvSpPr/>
          <p:nvPr/>
        </p:nvSpPr>
        <p:spPr>
          <a:xfrm>
            <a:off x="5504688" y="3803904"/>
            <a:ext cx="4590288" cy="7315"/>
          </a:xfrm>
          <a:prstGeom prst="rect">
            <a:avLst/>
          </a:prstGeom>
          <a:solidFill>
            <a:srgbClr val="DED9CA"/>
          </a:solidFill>
          <a:ln/>
        </p:spPr>
      </p:sp>
      <p:sp>
        <p:nvSpPr>
          <p:cNvPr id="31" name="Shape 28"/>
          <p:cNvSpPr/>
          <p:nvPr/>
        </p:nvSpPr>
        <p:spPr>
          <a:xfrm>
            <a:off x="5504688" y="4645152"/>
            <a:ext cx="4590288" cy="7315"/>
          </a:xfrm>
          <a:prstGeom prst="rect">
            <a:avLst/>
          </a:prstGeom>
          <a:solidFill>
            <a:srgbClr val="DED9CA"/>
          </a:solidFill>
          <a:ln/>
        </p:spPr>
      </p:sp>
      <p:sp>
        <p:nvSpPr>
          <p:cNvPr id="32" name="Shape 29"/>
          <p:cNvSpPr/>
          <p:nvPr/>
        </p:nvSpPr>
        <p:spPr>
          <a:xfrm>
            <a:off x="5504688" y="5486400"/>
            <a:ext cx="4590288" cy="7315"/>
          </a:xfrm>
          <a:prstGeom prst="rect">
            <a:avLst/>
          </a:prstGeom>
          <a:solidFill>
            <a:srgbClr val="DED9CA"/>
          </a:solidFill>
          <a:ln/>
        </p:spPr>
      </p:sp>
      <p:sp>
        <p:nvSpPr>
          <p:cNvPr id="33" name="Shape 30"/>
          <p:cNvSpPr/>
          <p:nvPr/>
        </p:nvSpPr>
        <p:spPr>
          <a:xfrm>
            <a:off x="5504688" y="6327648"/>
            <a:ext cx="4590288" cy="25603"/>
          </a:xfrm>
          <a:prstGeom prst="rect">
            <a:avLst/>
          </a:prstGeom>
          <a:solidFill>
            <a:srgbClr val="2A2924"/>
          </a:solidFill>
          <a:ln/>
        </p:spPr>
      </p:sp>
      <p:sp>
        <p:nvSpPr>
          <p:cNvPr id="34" name="Shape 31"/>
          <p:cNvSpPr/>
          <p:nvPr/>
        </p:nvSpPr>
        <p:spPr>
          <a:xfrm>
            <a:off x="594360" y="6327648"/>
            <a:ext cx="9503268" cy="658368"/>
          </a:xfrm>
          <a:prstGeom prst="roundRect">
            <a:avLst>
              <a:gd name="adj" fmla="val 6944"/>
            </a:avLst>
          </a:prstGeom>
          <a:solidFill>
            <a:srgbClr val="E7ECF2"/>
          </a:solidFill>
          <a:ln/>
        </p:spPr>
      </p:sp>
      <p:sp>
        <p:nvSpPr>
          <p:cNvPr id="35" name="Text 32"/>
          <p:cNvSpPr/>
          <p:nvPr/>
        </p:nvSpPr>
        <p:spPr>
          <a:xfrm>
            <a:off x="795528" y="6327648"/>
            <a:ext cx="91009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조달금리가 50bp 오르면 FY26E 순이익은 -32 변동함. 헤지 비율 상향을 함께 검토 요망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94360" y="7059168"/>
            <a:ext cx="9503268" cy="7315"/>
          </a:xfrm>
          <a:prstGeom prst="rect">
            <a:avLst/>
          </a:prstGeom>
          <a:solidFill>
            <a:srgbClr val="DED9CA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7168896"/>
            <a:ext cx="8497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표는 지면색과 다른 카드 배경으로 띄움(cardBg). 크림 지면에서만 효과가 있음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예시 수치임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9091788" y="7168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81D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테마 dense — 다계열 수치 (막대 + 다열 표)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94360" y="822960"/>
            <a:ext cx="9503268" cy="25603"/>
          </a:xfrm>
          <a:prstGeom prst="rect">
            <a:avLst/>
          </a:prstGeom>
          <a:solidFill>
            <a:srgbClr val="14181D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9264"/>
            <a:ext cx="9503268" cy="694944"/>
          </a:xfrm>
          <a:prstGeom prst="roundRect">
            <a:avLst>
              <a:gd name="adj" fmla="val 6579"/>
            </a:avLst>
          </a:prstGeom>
          <a:solidFill>
            <a:srgbClr val="1A2330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969264"/>
            <a:ext cx="91740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계열이 셋 이상인 수치 페이지에만 씀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9FB2CC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계열색은 순서를 고정해 페이지가 바뀌어도 같은 계열이 같은 색임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54864" cy="256032"/>
          </a:xfrm>
          <a:prstGeom prst="rect">
            <a:avLst/>
          </a:prstGeom>
          <a:solidFill>
            <a:srgbClr val="1F3A6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분기별 부문 실적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0664" y="182880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(단위: 억원)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" y="2231136"/>
          <a:ext cx="4590288" cy="36027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504688" y="1847088"/>
            <a:ext cx="54864" cy="256032"/>
          </a:xfrm>
          <a:prstGeom prst="rect">
            <a:avLst/>
          </a:prstGeom>
          <a:solidFill>
            <a:srgbClr val="1F3A63"/>
          </a:solidFill>
          <a:ln/>
        </p:spPr>
      </p:sp>
      <p:sp>
        <p:nvSpPr>
          <p:cNvPr id="11" name="Text 8"/>
          <p:cNvSpPr/>
          <p:nvPr/>
        </p:nvSpPr>
        <p:spPr>
          <a:xfrm>
            <a:off x="5650992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부문별 지표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650992" y="182880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(매출 억원, 나머지 %)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88352" y="2962656"/>
            <a:ext cx="932688" cy="3145536"/>
          </a:xfrm>
          <a:prstGeom prst="rect">
            <a:avLst/>
          </a:prstGeom>
          <a:solidFill>
            <a:srgbClr val="F4F6F8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4688" y="2231136"/>
          <a:ext cx="4590288" cy="914400"/>
        </p:xfrm>
        <a:graphic>
          <a:graphicData uri="http://schemas.openxmlformats.org/drawingml/2006/table">
            <a:tbl>
              <a:tblPr/>
              <a:tblGrid>
                <a:gridCol w="786384"/>
                <a:gridCol w="1097280"/>
                <a:gridCol w="932688"/>
                <a:gridCol w="914400"/>
                <a:gridCol w="859536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YoY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이익률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1,390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-3.1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A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2,860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5504688" y="2218334"/>
            <a:ext cx="4590288" cy="25603"/>
          </a:xfrm>
          <a:prstGeom prst="rect">
            <a:avLst/>
          </a:prstGeom>
          <a:solidFill>
            <a:srgbClr val="14181D"/>
          </a:solidFill>
          <a:ln/>
        </p:spPr>
      </p:sp>
      <p:sp>
        <p:nvSpPr>
          <p:cNvPr id="16" name="Shape 12"/>
          <p:cNvSpPr/>
          <p:nvPr/>
        </p:nvSpPr>
        <p:spPr>
          <a:xfrm>
            <a:off x="5504688" y="2962656"/>
            <a:ext cx="4590288" cy="7315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17" name="Shape 13"/>
          <p:cNvSpPr/>
          <p:nvPr/>
        </p:nvSpPr>
        <p:spPr>
          <a:xfrm>
            <a:off x="5504688" y="3749040"/>
            <a:ext cx="4590288" cy="7315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18" name="Shape 14"/>
          <p:cNvSpPr/>
          <p:nvPr/>
        </p:nvSpPr>
        <p:spPr>
          <a:xfrm>
            <a:off x="5504688" y="4535424"/>
            <a:ext cx="4590288" cy="7315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19" name="Shape 15"/>
          <p:cNvSpPr/>
          <p:nvPr/>
        </p:nvSpPr>
        <p:spPr>
          <a:xfrm>
            <a:off x="5504688" y="5321808"/>
            <a:ext cx="4590288" cy="7315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20" name="Shape 16"/>
          <p:cNvSpPr/>
          <p:nvPr/>
        </p:nvSpPr>
        <p:spPr>
          <a:xfrm>
            <a:off x="5504688" y="6108192"/>
            <a:ext cx="4590288" cy="25603"/>
          </a:xfrm>
          <a:prstGeom prst="rect">
            <a:avLst/>
          </a:prstGeom>
          <a:solidFill>
            <a:srgbClr val="14181D"/>
          </a:solidFill>
          <a:ln/>
        </p:spPr>
      </p:sp>
      <p:sp>
        <p:nvSpPr>
          <p:cNvPr id="21" name="Shape 17"/>
          <p:cNvSpPr/>
          <p:nvPr/>
        </p:nvSpPr>
        <p:spPr>
          <a:xfrm>
            <a:off x="594360" y="6144768"/>
            <a:ext cx="54864" cy="256032"/>
          </a:xfrm>
          <a:prstGeom prst="rect">
            <a:avLst/>
          </a:prstGeom>
          <a:solidFill>
            <a:srgbClr val="1F3A63"/>
          </a:solidFill>
          <a:ln/>
        </p:spPr>
      </p:sp>
      <p:sp>
        <p:nvSpPr>
          <p:cNvPr id="22" name="Text 18"/>
          <p:cNvSpPr/>
          <p:nvPr/>
        </p:nvSpPr>
        <p:spPr>
          <a:xfrm>
            <a:off x="740664" y="6126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03504" y="6551676"/>
            <a:ext cx="50292" cy="50292"/>
          </a:xfrm>
          <a:prstGeom prst="rect">
            <a:avLst/>
          </a:prstGeom>
          <a:solidFill>
            <a:srgbClr val="1F3A63"/>
          </a:solidFill>
          <a:ln/>
        </p:spPr>
      </p:sp>
      <p:sp>
        <p:nvSpPr>
          <p:cNvPr id="24" name="Text 20"/>
          <p:cNvSpPr/>
          <p:nvPr/>
        </p:nvSpPr>
        <p:spPr>
          <a:xfrm>
            <a:off x="740664" y="6473952"/>
            <a:ext cx="9356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C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부문 YoY 21.8%는 기저 효과가 절반 이상 차지함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40664" y="6784848"/>
            <a:ext cx="9356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⇒ 4Q 반등 폭만으로 FY27 목표를 상향하지 않음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94360" y="7059168"/>
            <a:ext cx="9503268" cy="7315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27" name="Text 23"/>
          <p:cNvSpPr/>
          <p:nvPr/>
        </p:nvSpPr>
        <p:spPr>
          <a:xfrm>
            <a:off x="594360" y="7168896"/>
            <a:ext cx="8497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7C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계 행의 YoY·이익률·ROE는 매출 가중평균임(단순평균 아님). 매출은 단순 합계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7C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막대는 네이티브 차트이며 더블클릭하면 엑셀 데이터 편집이 열림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091788" y="7168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컴포넌트 견본 — 타임라인 + 매트릭스 (report 테마)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94360" y="822960"/>
            <a:ext cx="9503268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9264"/>
            <a:ext cx="9503268" cy="694944"/>
          </a:xfrm>
          <a:prstGeom prst="roundRect">
            <a:avLst>
              <a:gd name="adj" fmla="val 6579"/>
            </a:avLst>
          </a:prstGeom>
          <a:solidFill>
            <a:srgbClr val="2A313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969264"/>
            <a:ext cx="91740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일정과 우선순위를 한 장에서 같이 보여줄 때의 배치임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7FB3BA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타임라인 설명 높이를 줄수에 맞춰 아래 빈 띠를 없앰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일정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0664" y="1828800"/>
            <a:ext cx="9503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(2분기 진행 중)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852928"/>
            <a:ext cx="9503268" cy="18288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231136"/>
            <a:ext cx="22295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512" y="2542032"/>
            <a:ext cx="22295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04544" y="278434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35808"/>
            <a:ext cx="222951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검토 완료</a:t>
            </a:r>
            <a:endParaRPr lang="en-US" sz="12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부문 3개 확정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43329" y="2231136"/>
            <a:ext cx="22295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C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43329" y="2542032"/>
            <a:ext cx="22295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80361" y="2784348"/>
            <a:ext cx="155448" cy="155448"/>
          </a:xfrm>
          <a:prstGeom prst="ellipse">
            <a:avLst/>
          </a:prstGeom>
          <a:solidFill>
            <a:srgbClr val="1F5C63"/>
          </a:solidFill>
          <a:ln w="15875">
            <a:solidFill>
              <a:srgbClr val="1F5C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3329" y="3035808"/>
            <a:ext cx="222951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적용</a:t>
            </a:r>
            <a:endParaRPr lang="en-US" sz="12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손익 영향 월 단위 점검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19146" y="2231136"/>
            <a:ext cx="22295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19146" y="2542032"/>
            <a:ext cx="22295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56178" y="278434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9146" y="3035808"/>
            <a:ext cx="222951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부문 전개</a:t>
            </a:r>
            <a:endParaRPr lang="en-US" sz="12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 재산정 반영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94963" y="2231136"/>
            <a:ext cx="22295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4분기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94963" y="2542032"/>
            <a:ext cx="22295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31995" y="278434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4963" y="3035808"/>
            <a:ext cx="222951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</a:t>
            </a:r>
            <a:endParaRPr lang="en-US" sz="12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FY27 계획에 반영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3968496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" y="39502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판단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24712" y="4389120"/>
            <a:ext cx="4486458" cy="1197864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9" name="Text 27"/>
          <p:cNvSpPr/>
          <p:nvPr/>
        </p:nvSpPr>
        <p:spPr>
          <a:xfrm>
            <a:off x="1289304" y="4535424"/>
            <a:ext cx="4157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C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착수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289304" y="4882896"/>
            <a:ext cx="415727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크고 난이도 낮음. 2분기 시범 대상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75762" y="4535424"/>
            <a:ext cx="4157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추진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775762" y="4882896"/>
            <a:ext cx="415727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크나 사전 준비 필요. 3분기 이후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89304" y="5733288"/>
            <a:ext cx="4157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후순위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289304" y="6080760"/>
            <a:ext cx="415727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효과·난이도 모두 낮음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75762" y="5733288"/>
            <a:ext cx="4157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775762" y="6080760"/>
            <a:ext cx="415727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 대비 효과 불명확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24712" y="5586984"/>
            <a:ext cx="8972916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11170" y="4389120"/>
            <a:ext cx="0" cy="2395728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24712" y="6784848"/>
            <a:ext cx="8972916" cy="18288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40" name="Shape 38"/>
          <p:cNvSpPr/>
          <p:nvPr/>
        </p:nvSpPr>
        <p:spPr>
          <a:xfrm>
            <a:off x="1124712" y="4389120"/>
            <a:ext cx="18288" cy="2395728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41" name="Text 39"/>
          <p:cNvSpPr/>
          <p:nvPr/>
        </p:nvSpPr>
        <p:spPr>
          <a:xfrm>
            <a:off x="1124712" y="6858000"/>
            <a:ext cx="4486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11170" y="6858000"/>
            <a:ext cx="4449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24712" y="6858000"/>
            <a:ext cx="8972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난이도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" y="4370832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" y="6565392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 rot="16200000">
            <a:off x="-338328" y="54498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4360" y="7196328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7306056"/>
            <a:ext cx="84974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두 축 모두 방향을 말로 적음. 세로축 이름은 왼쪽 여백에 세워서 넣음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091788" y="7306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도식 견본 ① — 증감 분해 + 시계열 추이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94360" y="822960"/>
            <a:ext cx="9503268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9264"/>
            <a:ext cx="9503268" cy="694944"/>
          </a:xfrm>
          <a:prstGeom prst="roundRect">
            <a:avLst>
              <a:gd name="adj" fmla="val 6579"/>
            </a:avLst>
          </a:prstGeom>
          <a:solidFill>
            <a:srgbClr val="2A313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969264"/>
            <a:ext cx="91740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수치가 왜 움직였는지는 표가 아니라 분해 도식으로 보여줌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7FB3BA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추이는 방향이 보여야 하므로 막대 대신 꺾은선을 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순영업수익 증감 분해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0664" y="1828800"/>
            <a:ext cx="9503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(FY25 → FY26E, 억원)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" y="2231136"/>
          <a:ext cx="9503268" cy="22311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94360" y="4809744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11" name="Text 8"/>
          <p:cNvSpPr/>
          <p:nvPr/>
        </p:nvSpPr>
        <p:spPr>
          <a:xfrm>
            <a:off x="740664" y="4791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부문별 분기 추이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0664" y="4791456"/>
            <a:ext cx="9503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(억원)</a:t>
            </a:r>
            <a:endParaRPr lang="en-US" sz="11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594360" y="5193792"/>
          <a:ext cx="9503268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594360" y="7196328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7306056"/>
            <a:ext cx="84974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두 그림 모두 네이티브 차트임. 증감 분해는 받침 계열로 막대를 띄우므로 세로축이 0에서 시작하지 않음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091788" y="7306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81D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도식 견본 ② — 수익 구성 (누적 금액 막대 + 구성비 표)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94360" y="822960"/>
            <a:ext cx="9503268" cy="25603"/>
          </a:xfrm>
          <a:prstGeom prst="rect">
            <a:avLst/>
          </a:prstGeom>
          <a:solidFill>
            <a:srgbClr val="14181D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9264"/>
            <a:ext cx="9503268" cy="694944"/>
          </a:xfrm>
          <a:prstGeom prst="roundRect">
            <a:avLst>
              <a:gd name="adj" fmla="val 6579"/>
            </a:avLst>
          </a:prstGeom>
          <a:solidFill>
            <a:srgbClr val="1A2330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969264"/>
            <a:ext cx="91740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구성비만 보여주면 총액이 커진 사실이 가려짐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9FB2CC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금액 누적 막대로 총액과 구성을 한 그림에서 보이고 비중은 표로 읽힘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54864" cy="256032"/>
          </a:xfrm>
          <a:prstGeom prst="rect">
            <a:avLst/>
          </a:prstGeom>
          <a:solidFill>
            <a:srgbClr val="1F3A6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구성 추이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0664" y="182880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(금액, 억원)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" y="2231136"/>
          <a:ext cx="4590288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504688" y="1847088"/>
            <a:ext cx="54864" cy="256032"/>
          </a:xfrm>
          <a:prstGeom prst="rect">
            <a:avLst/>
          </a:prstGeom>
          <a:solidFill>
            <a:srgbClr val="1F3A63"/>
          </a:solidFill>
          <a:ln/>
        </p:spPr>
      </p:sp>
      <p:sp>
        <p:nvSpPr>
          <p:cNvPr id="11" name="Text 8"/>
          <p:cNvSpPr/>
          <p:nvPr/>
        </p:nvSpPr>
        <p:spPr>
          <a:xfrm>
            <a:off x="5650992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부문별 구성비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650992" y="182880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(%, %p)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198864" y="2871216"/>
            <a:ext cx="896112" cy="3291840"/>
          </a:xfrm>
          <a:prstGeom prst="rect">
            <a:avLst/>
          </a:prstGeom>
          <a:solidFill>
            <a:srgbClr val="F4F6F8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4688" y="2231136"/>
          <a:ext cx="4590288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96112"/>
                <a:gridCol w="896112"/>
                <a:gridCol w="896112"/>
                <a:gridCol w="896112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FY24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FY25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FY26E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42.5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39.6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38.4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-4.1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24.3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A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A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+0.9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+0.2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18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C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5504688" y="2218334"/>
            <a:ext cx="4590288" cy="25603"/>
          </a:xfrm>
          <a:prstGeom prst="rect">
            <a:avLst/>
          </a:prstGeom>
          <a:solidFill>
            <a:srgbClr val="14181D"/>
          </a:solidFill>
          <a:ln/>
        </p:spPr>
      </p:sp>
      <p:sp>
        <p:nvSpPr>
          <p:cNvPr id="16" name="Shape 12"/>
          <p:cNvSpPr/>
          <p:nvPr/>
        </p:nvSpPr>
        <p:spPr>
          <a:xfrm>
            <a:off x="5504688" y="2871216"/>
            <a:ext cx="4590288" cy="7315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17" name="Shape 13"/>
          <p:cNvSpPr/>
          <p:nvPr/>
        </p:nvSpPr>
        <p:spPr>
          <a:xfrm>
            <a:off x="5504688" y="3529584"/>
            <a:ext cx="4590288" cy="7315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18" name="Shape 14"/>
          <p:cNvSpPr/>
          <p:nvPr/>
        </p:nvSpPr>
        <p:spPr>
          <a:xfrm>
            <a:off x="5504688" y="4187952"/>
            <a:ext cx="4590288" cy="7315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19" name="Shape 15"/>
          <p:cNvSpPr/>
          <p:nvPr/>
        </p:nvSpPr>
        <p:spPr>
          <a:xfrm>
            <a:off x="5504688" y="4846320"/>
            <a:ext cx="4590288" cy="7315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20" name="Shape 16"/>
          <p:cNvSpPr/>
          <p:nvPr/>
        </p:nvSpPr>
        <p:spPr>
          <a:xfrm>
            <a:off x="5504688" y="5504688"/>
            <a:ext cx="4590288" cy="7315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21" name="Shape 17"/>
          <p:cNvSpPr/>
          <p:nvPr/>
        </p:nvSpPr>
        <p:spPr>
          <a:xfrm>
            <a:off x="5504688" y="6163056"/>
            <a:ext cx="4590288" cy="25603"/>
          </a:xfrm>
          <a:prstGeom prst="rect">
            <a:avLst/>
          </a:prstGeom>
          <a:solidFill>
            <a:srgbClr val="14181D"/>
          </a:solidFill>
          <a:ln/>
        </p:spPr>
      </p:sp>
      <p:sp>
        <p:nvSpPr>
          <p:cNvPr id="22" name="Shape 18"/>
          <p:cNvSpPr/>
          <p:nvPr/>
        </p:nvSpPr>
        <p:spPr>
          <a:xfrm>
            <a:off x="594360" y="6419088"/>
            <a:ext cx="9503268" cy="566928"/>
          </a:xfrm>
          <a:prstGeom prst="roundRect">
            <a:avLst>
              <a:gd name="adj" fmla="val 8065"/>
            </a:avLst>
          </a:prstGeom>
          <a:solidFill>
            <a:srgbClr val="E6EDF3"/>
          </a:solidFill>
          <a:ln/>
        </p:spPr>
      </p:sp>
      <p:sp>
        <p:nvSpPr>
          <p:cNvPr id="23" name="Text 19"/>
          <p:cNvSpPr/>
          <p:nvPr/>
        </p:nvSpPr>
        <p:spPr>
          <a:xfrm>
            <a:off x="795528" y="6419088"/>
            <a:ext cx="91009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총액은 3년간 1,204 → 1,688로 늘었고 그 증가분의 절반 이상이 IB 부문에서 나옴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94360" y="7059168"/>
            <a:ext cx="9503268" cy="7315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25" name="Text 21"/>
          <p:cNvSpPr/>
          <p:nvPr/>
        </p:nvSpPr>
        <p:spPr>
          <a:xfrm>
            <a:off x="594360" y="7168896"/>
            <a:ext cx="8497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7C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FY24 기타는 합계 100.0%를 맞추기 위한 단수조정 -0.1%p를 반영한 값임(반올림값 13.5%)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7C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증감은 FY26E와 FY24의 차이(%p). 막대는 네이티브 차트임. 예시 수치임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091788" y="7168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도식 견본 ③ — 추진 단계 + 기간 일정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94360" y="822960"/>
            <a:ext cx="9503268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9264"/>
            <a:ext cx="9503268" cy="694944"/>
          </a:xfrm>
          <a:prstGeom prst="roundRect">
            <a:avLst>
              <a:gd name="adj" fmla="val 6579"/>
            </a:avLst>
          </a:prstGeom>
          <a:solidFill>
            <a:srgbClr val="2A313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969264"/>
            <a:ext cx="91740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단계 이름만 이어 붙일 때는 띠, 기간이 겹칠 때는 간트를 씀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7FB3BA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타임라인은 시점만 찍으므로 기간 표현에는 쓰지 않음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단계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0664" y="1828800"/>
            <a:ext cx="9503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(3단계 진행 중)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231136"/>
            <a:ext cx="2499261" cy="950976"/>
          </a:xfrm>
          <a:prstGeom prst="chevron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304288"/>
            <a:ext cx="20969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진단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" y="2615184"/>
            <a:ext cx="20969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부문별 수익성 실사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9029" y="2231136"/>
            <a:ext cx="2499261" cy="950976"/>
          </a:xfrm>
          <a:prstGeom prst="chevron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8485" y="2304288"/>
            <a:ext cx="20969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도출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48485" y="2615184"/>
            <a:ext cx="20969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3개 비교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63698" y="2231136"/>
            <a:ext cx="2499261" cy="950976"/>
          </a:xfrm>
          <a:prstGeom prst="chevron">
            <a:avLst/>
          </a:prstGeom>
          <a:solidFill>
            <a:srgbClr val="F4F6F7"/>
          </a:solidFill>
          <a:ln w="15875">
            <a:solidFill>
              <a:srgbClr val="1F5C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3154" y="2304288"/>
            <a:ext cx="20969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C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보고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3154" y="2615184"/>
            <a:ext cx="20969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이사회 부의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98367" y="2231136"/>
            <a:ext cx="2499261" cy="950976"/>
          </a:xfrm>
          <a:prstGeom prst="chevron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7823" y="2304288"/>
            <a:ext cx="20969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전개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17823" y="2615184"/>
            <a:ext cx="20969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단위 점검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529584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" y="35112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일정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" y="3511296"/>
            <a:ext cx="9503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(기간이 겹치는 과제)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75144" y="3913632"/>
            <a:ext cx="1805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1Q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80765" y="3913632"/>
            <a:ext cx="1805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2Q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86386" y="3913632"/>
            <a:ext cx="1805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3Q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92007" y="3913632"/>
            <a:ext cx="1805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4Q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4279392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29" name="Shape 27"/>
          <p:cNvSpPr/>
          <p:nvPr/>
        </p:nvSpPr>
        <p:spPr>
          <a:xfrm>
            <a:off x="4680765" y="4279392"/>
            <a:ext cx="0" cy="2798064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86386" y="4279392"/>
            <a:ext cx="0" cy="2798064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2007" y="4279392"/>
            <a:ext cx="0" cy="2798064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34256"/>
            <a:ext cx="218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수익성 실사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30008" y="4416552"/>
            <a:ext cx="3501514" cy="329184"/>
          </a:xfrm>
          <a:prstGeom prst="roundRect">
            <a:avLst>
              <a:gd name="adj" fmla="val 13889"/>
            </a:avLst>
          </a:prstGeom>
          <a:solidFill>
            <a:srgbClr val="5E7C8A"/>
          </a:solidFill>
          <a:ln/>
        </p:spPr>
      </p:sp>
      <p:sp>
        <p:nvSpPr>
          <p:cNvPr id="34" name="Text 32"/>
          <p:cNvSpPr/>
          <p:nvPr/>
        </p:nvSpPr>
        <p:spPr>
          <a:xfrm>
            <a:off x="2930008" y="4416552"/>
            <a:ext cx="35015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부문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4882896"/>
            <a:ext cx="218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비교·선정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35629" y="4965192"/>
            <a:ext cx="3501514" cy="329184"/>
          </a:xfrm>
          <a:prstGeom prst="roundRect">
            <a:avLst>
              <a:gd name="adj" fmla="val 13889"/>
            </a:avLst>
          </a:prstGeom>
          <a:solidFill>
            <a:srgbClr val="1F5C63"/>
          </a:solidFill>
          <a:ln/>
        </p:spPr>
      </p:sp>
      <p:sp>
        <p:nvSpPr>
          <p:cNvPr id="37" name="Text 35"/>
          <p:cNvSpPr/>
          <p:nvPr/>
        </p:nvSpPr>
        <p:spPr>
          <a:xfrm>
            <a:off x="4735629" y="4965192"/>
            <a:ext cx="35015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안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5431536"/>
            <a:ext cx="218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이사회 부의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41250" y="5513832"/>
            <a:ext cx="1695893" cy="329184"/>
          </a:xfrm>
          <a:prstGeom prst="roundRect">
            <a:avLst>
              <a:gd name="adj" fmla="val 13889"/>
            </a:avLst>
          </a:prstGeom>
          <a:solidFill>
            <a:srgbClr val="5E7C8A"/>
          </a:solidFill>
          <a:ln/>
        </p:spPr>
      </p:sp>
      <p:sp>
        <p:nvSpPr>
          <p:cNvPr id="40" name="Text 38"/>
          <p:cNvSpPr/>
          <p:nvPr/>
        </p:nvSpPr>
        <p:spPr>
          <a:xfrm>
            <a:off x="6541250" y="5513832"/>
            <a:ext cx="16958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" y="5980176"/>
            <a:ext cx="218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적용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41250" y="6062472"/>
            <a:ext cx="3501514" cy="329184"/>
          </a:xfrm>
          <a:prstGeom prst="roundRect">
            <a:avLst>
              <a:gd name="adj" fmla="val 13889"/>
            </a:avLst>
          </a:prstGeom>
          <a:solidFill>
            <a:srgbClr val="5E7C8A"/>
          </a:solidFill>
          <a:ln/>
        </p:spPr>
      </p:sp>
      <p:sp>
        <p:nvSpPr>
          <p:cNvPr id="43" name="Text 41"/>
          <p:cNvSpPr/>
          <p:nvPr/>
        </p:nvSpPr>
        <p:spPr>
          <a:xfrm>
            <a:off x="6541250" y="6062472"/>
            <a:ext cx="35015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 부문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" y="6528816"/>
            <a:ext cx="218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46871" y="6611112"/>
            <a:ext cx="1695893" cy="329184"/>
          </a:xfrm>
          <a:prstGeom prst="roundRect">
            <a:avLst>
              <a:gd name="adj" fmla="val 13889"/>
            </a:avLst>
          </a:prstGeom>
          <a:solidFill>
            <a:srgbClr val="5E7C8A"/>
          </a:solidFill>
          <a:ln/>
        </p:spPr>
      </p:sp>
      <p:sp>
        <p:nvSpPr>
          <p:cNvPr id="46" name="Shape 44"/>
          <p:cNvSpPr/>
          <p:nvPr/>
        </p:nvSpPr>
        <p:spPr>
          <a:xfrm>
            <a:off x="594360" y="7077456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47" name="Shape 45"/>
          <p:cNvSpPr/>
          <p:nvPr/>
        </p:nvSpPr>
        <p:spPr>
          <a:xfrm>
            <a:off x="594360" y="7196328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7306056"/>
            <a:ext cx="84974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간트 막대는 기간 양끝을 포함함. 예시 일정임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091788" y="7306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도식 견본 ④ — 주체별 프로세스 + 평가 격자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94360" y="822960"/>
            <a:ext cx="9503268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9264"/>
            <a:ext cx="9503268" cy="694944"/>
          </a:xfrm>
          <a:prstGeom prst="roundRect">
            <a:avLst>
              <a:gd name="adj" fmla="val 6579"/>
            </a:avLst>
          </a:prstGeom>
          <a:solidFill>
            <a:srgbClr val="2A313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969264"/>
            <a:ext cx="91740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부서가 여럿인 절차는 흐름 도식으로는 누가 하는지 안 보임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7FB3BA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평가는 초록·빨강 신호등 대신 농도 3단계로 표시함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 승인 절차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0664" y="1828800"/>
            <a:ext cx="9503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(부서별 역할)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28216" y="2231136"/>
            <a:ext cx="20923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20569" y="2231136"/>
            <a:ext cx="20923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12922" y="2231136"/>
            <a:ext cx="20923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5275" y="2231136"/>
            <a:ext cx="20923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596896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51760"/>
            <a:ext cx="1042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영업본부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92224" y="2706624"/>
            <a:ext cx="1964337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2706624"/>
            <a:ext cx="18546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 신청서 제출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69283" y="2706624"/>
            <a:ext cx="1964337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4147" y="2706624"/>
            <a:ext cx="18546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약정 체결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236976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36976"/>
            <a:ext cx="1042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리스크관리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84577" y="3291840"/>
            <a:ext cx="1964337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9441" y="3291840"/>
            <a:ext cx="18546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여신 심사·등급 부여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69283" y="3291840"/>
            <a:ext cx="1964337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4147" y="3291840"/>
            <a:ext cx="18546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 한도 점검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3822192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822192"/>
            <a:ext cx="1042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경영전략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84577" y="3877056"/>
            <a:ext cx="1964337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9441" y="3877056"/>
            <a:ext cx="18546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 배분 검토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53486" y="4032504"/>
            <a:ext cx="118872" cy="146304"/>
          </a:xfrm>
          <a:prstGeom prst="rightArrow">
            <a:avLst/>
          </a:prstGeom>
          <a:solidFill>
            <a:srgbClr val="D5D9DE"/>
          </a:solidFill>
          <a:ln/>
        </p:spPr>
      </p:sp>
      <p:sp>
        <p:nvSpPr>
          <p:cNvPr id="30" name="Shape 28"/>
          <p:cNvSpPr/>
          <p:nvPr/>
        </p:nvSpPr>
        <p:spPr>
          <a:xfrm>
            <a:off x="5976930" y="3877056"/>
            <a:ext cx="1964337" cy="438912"/>
          </a:xfrm>
          <a:prstGeom prst="roundRect">
            <a:avLst>
              <a:gd name="adj" fmla="val 10417"/>
            </a:avLst>
          </a:prstGeom>
          <a:solidFill>
            <a:srgbClr val="F4F6F7"/>
          </a:solidFill>
          <a:ln w="15875">
            <a:solidFill>
              <a:srgbClr val="1F5C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1794" y="3877056"/>
            <a:ext cx="18546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5C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심의위 상정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" y="4407408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4754880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" y="4736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대안별 평가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40664" y="4736592"/>
            <a:ext cx="9503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(농도가 진할수록 우위)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5138928"/>
          <a:ext cx="9503268" cy="914400"/>
        </p:xfrm>
        <a:graphic>
          <a:graphicData uri="http://schemas.openxmlformats.org/drawingml/2006/table">
            <a:tbl>
              <a:tblPr/>
              <a:tblGrid>
                <a:gridCol w="2470850"/>
                <a:gridCol w="1758105"/>
                <a:gridCol w="1758105"/>
                <a:gridCol w="1758105"/>
                <a:gridCol w="175810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자본 효율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용이성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조직 수용성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A안 · 직접 수행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3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B안 · 합작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3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3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3B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C안 · 전면 위탁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63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594360" y="5522976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38" name="Shape 35"/>
          <p:cNvSpPr/>
          <p:nvPr/>
        </p:nvSpPr>
        <p:spPr>
          <a:xfrm>
            <a:off x="594360" y="6894576"/>
            <a:ext cx="9503268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9" name="Shape 36"/>
          <p:cNvSpPr/>
          <p:nvPr/>
        </p:nvSpPr>
        <p:spPr>
          <a:xfrm>
            <a:off x="594360" y="7059168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40" name="Text 37"/>
          <p:cNvSpPr/>
          <p:nvPr/>
        </p:nvSpPr>
        <p:spPr>
          <a:xfrm>
            <a:off x="594360" y="7168896"/>
            <a:ext cx="8497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강조 칸은 심의위 상정 단계임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평가는 상·중·하 3단계이며 절대 점수가 아님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9091788" y="7168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도식 견본 ⑤ — 분기 구조 + 단계별 축소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94360" y="822960"/>
            <a:ext cx="9503268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9264"/>
            <a:ext cx="9503268" cy="694944"/>
          </a:xfrm>
          <a:prstGeom prst="roundRect">
            <a:avLst>
              <a:gd name="adj" fmla="val 6579"/>
            </a:avLst>
          </a:prstGeom>
          <a:solidFill>
            <a:srgbClr val="2A313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969264"/>
            <a:ext cx="91740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숫자 몇 개를 큰 색면으로 부풀리지 않음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7FB3BA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도형 크기는 담는 정보량에 맞추고 남는 자리는 표나 문장으로 채움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FY26E 수익 귀속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0664" y="1828800"/>
            <a:ext cx="9503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(억원)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231136"/>
            <a:ext cx="2850980" cy="2011680"/>
          </a:xfrm>
          <a:prstGeom prst="roundRect">
            <a:avLst>
              <a:gd name="adj" fmla="val 2273"/>
            </a:avLst>
          </a:prstGeom>
          <a:solidFill>
            <a:srgbClr val="F4F6F7"/>
          </a:solidFill>
          <a:ln w="15875">
            <a:solidFill>
              <a:srgbClr val="1F5C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92654"/>
            <a:ext cx="2668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순영업수익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975458"/>
            <a:ext cx="26681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C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1,688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3719779"/>
            <a:ext cx="2668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FY26E 계획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45340" y="3236976"/>
            <a:ext cx="218724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4065" y="2523744"/>
            <a:ext cx="0" cy="1426464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64065" y="2523744"/>
            <a:ext cx="256764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20828" y="2231136"/>
            <a:ext cx="6176799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7132" y="2231136"/>
            <a:ext cx="24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위탁 648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5084" y="2231136"/>
            <a:ext cx="3459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리테일 잔고 증가분 반영. 분기 균등 가정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64065" y="3236976"/>
            <a:ext cx="256764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20828" y="2944368"/>
            <a:ext cx="6176799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7132" y="2944368"/>
            <a:ext cx="24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IB 452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5084" y="2944368"/>
            <a:ext cx="3459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딜 17건 기준. 파이프라인 잔여분 제외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64065" y="3950208"/>
            <a:ext cx="256764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20828" y="3657600"/>
            <a:ext cx="6176799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7132" y="3657600"/>
            <a:ext cx="24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운용·기타 588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5084" y="3657600"/>
            <a:ext cx="3459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종금북 포함. 조달금리 3.4% 전제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4553712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" y="4535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딜 파이프라인 단계별 잔존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40664" y="4535424"/>
            <a:ext cx="9503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(건수)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4937760"/>
            <a:ext cx="3231111" cy="420624"/>
          </a:xfrm>
          <a:prstGeom prst="roundRect">
            <a:avLst>
              <a:gd name="adj" fmla="val 10870"/>
            </a:avLst>
          </a:prstGeom>
          <a:solidFill>
            <a:srgbClr val="1F5C63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937760"/>
            <a:ext cx="3231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접수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71775" y="493776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148건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88511" y="4937760"/>
            <a:ext cx="473596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채널 유입 기준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71147" y="5449824"/>
            <a:ext cx="1877537" cy="420624"/>
          </a:xfrm>
          <a:prstGeom prst="roundRect">
            <a:avLst>
              <a:gd name="adj" fmla="val 10870"/>
            </a:avLst>
          </a:prstGeom>
          <a:solidFill>
            <a:srgbClr val="5E7C8A"/>
          </a:solidFill>
          <a:ln/>
        </p:spPr>
      </p:sp>
      <p:sp>
        <p:nvSpPr>
          <p:cNvPr id="35" name="Text 33"/>
          <p:cNvSpPr/>
          <p:nvPr/>
        </p:nvSpPr>
        <p:spPr>
          <a:xfrm>
            <a:off x="1271147" y="5449824"/>
            <a:ext cx="187753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심사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71775" y="5449824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86건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88511" y="5449824"/>
            <a:ext cx="473596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단계 대비 58% · 규모·업종 요건 미달분 제외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62363" y="5961888"/>
            <a:ext cx="895105" cy="420624"/>
          </a:xfrm>
          <a:prstGeom prst="roundRect">
            <a:avLst>
              <a:gd name="adj" fmla="val 10870"/>
            </a:avLst>
          </a:prstGeom>
          <a:solidFill>
            <a:srgbClr val="8FA9B0"/>
          </a:solidFill>
          <a:ln/>
        </p:spPr>
      </p:sp>
      <p:sp>
        <p:nvSpPr>
          <p:cNvPr id="39" name="Text 37"/>
          <p:cNvSpPr/>
          <p:nvPr/>
        </p:nvSpPr>
        <p:spPr>
          <a:xfrm>
            <a:off x="1762363" y="5961888"/>
            <a:ext cx="8951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 착수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71775" y="5961888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41건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88511" y="5961888"/>
            <a:ext cx="473596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단계 대비 48% · 외부 자문 계약 체결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854493" y="6473952"/>
            <a:ext cx="710844" cy="420624"/>
          </a:xfrm>
          <a:prstGeom prst="roundRect">
            <a:avLst>
              <a:gd name="adj" fmla="val 10870"/>
            </a:avLst>
          </a:prstGeom>
          <a:solidFill>
            <a:srgbClr val="B4C6CA"/>
          </a:solidFill>
          <a:ln/>
        </p:spPr>
      </p:sp>
      <p:sp>
        <p:nvSpPr>
          <p:cNvPr id="43" name="Text 41"/>
          <p:cNvSpPr/>
          <p:nvPr/>
        </p:nvSpPr>
        <p:spPr>
          <a:xfrm>
            <a:off x="1854493" y="6473952"/>
            <a:ext cx="7108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약정 체결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971775" y="6473952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17건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88511" y="6473952"/>
            <a:ext cx="473596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6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단계 대비 41% · FY26 상반기 누적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" y="7196328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7306056"/>
            <a:ext cx="84974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깔때기 폭은 첫 단계 대비 비율이며 전환율은 전 단계 대비임. 예시 수치임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91788" y="7306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2026-08-27T08:46:31Z</dcterms:created>
  <dcterms:modified xsi:type="dcterms:W3CDTF">2026-08-27T08:46:31Z</dcterms:modified>
</cp:coreProperties>
</file>