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802" r:id="rId2"/>
    <p:sldId id="832" r:id="rId3"/>
    <p:sldId id="833" r:id="rId4"/>
  </p:sldIdLst>
  <p:sldSz cx="10693400" cy="7561263"/>
  <p:notesSz cx="9928225" cy="6797675"/>
  <p:defaultTextStyle>
    <a:defPPr>
      <a:defRPr lang="ko-KR"/>
    </a:defPPr>
    <a:lvl1pPr marL="0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1528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43056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64584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086112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07640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29168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50696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172224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49" userDrawn="1">
          <p15:clr>
            <a:srgbClr val="A4A3A4"/>
          </p15:clr>
        </p15:guide>
        <p15:guide id="2" pos="37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1" userDrawn="1">
          <p15:clr>
            <a:srgbClr val="A4A3A4"/>
          </p15:clr>
        </p15:guide>
        <p15:guide id="2" pos="3127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user" initials="u" lastIdx="1" clrIdx="0"/>
  <p:cmAuthor id="1" name="Administrator" initials="A" lastIdx="2" clrIdx="1">
    <p:extLst>
      <p:ext uri="{19B8F6BF-5375-455C-9EA6-DF929625EA0E}">
        <p15:presenceInfo xmlns:p15="http://schemas.microsoft.com/office/powerpoint/2012/main" userId="Administrator" providerId="None"/>
      </p:ext>
    </p:extLst>
  </p:cmAuthor>
  <p:cmAuthor id="2" name="정양균" initials="정" lastIdx="2" clrIdx="2">
    <p:extLst>
      <p:ext uri="{19B8F6BF-5375-455C-9EA6-DF929625EA0E}">
        <p15:presenceInfo xmlns:p15="http://schemas.microsoft.com/office/powerpoint/2012/main" userId="S-1-5-21-1723870191-668786075-2236793228-350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4D79"/>
    <a:srgbClr val="FF9900"/>
    <a:srgbClr val="602800"/>
    <a:srgbClr val="FFDC6D"/>
    <a:srgbClr val="FFF2CC"/>
    <a:srgbClr val="FFC000"/>
    <a:srgbClr val="632D00"/>
    <a:srgbClr val="D9D9D9"/>
    <a:srgbClr val="7793C0"/>
    <a:srgbClr val="005A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preferSingleView="1">
    <p:restoredLeft sz="15099" autoAdjust="0"/>
    <p:restoredTop sz="96210" autoAdjust="0"/>
  </p:normalViewPr>
  <p:slideViewPr>
    <p:cSldViewPr>
      <p:cViewPr varScale="1">
        <p:scale>
          <a:sx n="105" d="100"/>
          <a:sy n="105" d="100"/>
        </p:scale>
        <p:origin x="1980" y="108"/>
      </p:cViewPr>
      <p:guideLst>
        <p:guide orient="horz" pos="749"/>
        <p:guide pos="37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116" d="100"/>
          <a:sy n="116" d="100"/>
        </p:scale>
        <p:origin x="2094" y="90"/>
      </p:cViewPr>
      <p:guideLst>
        <p:guide orient="horz" pos="2141"/>
        <p:guide pos="3127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4302813" cy="339725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23826" y="2"/>
            <a:ext cx="4302813" cy="339725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r">
              <a:defRPr sz="1200"/>
            </a:lvl1pPr>
          </a:lstStyle>
          <a:p>
            <a:fld id="{F4F578AC-469C-4214-9559-99FEC9DC35D0}" type="datetimeFigureOut">
              <a:rPr lang="ko-KR" altLang="en-US" smtClean="0"/>
              <a:pPr/>
              <a:t>2026-07-27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6456365"/>
            <a:ext cx="4302813" cy="339725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23826" y="6456365"/>
            <a:ext cx="4302813" cy="339725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r">
              <a:defRPr sz="1200"/>
            </a:lvl1pPr>
          </a:lstStyle>
          <a:p>
            <a:fld id="{09F34F4F-CE07-45C3-B7D9-64B293C6EF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595870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4" y="3"/>
            <a:ext cx="4302813" cy="339725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3827" y="3"/>
            <a:ext cx="4302813" cy="339725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r">
              <a:defRPr sz="1200"/>
            </a:lvl1pPr>
          </a:lstStyle>
          <a:p>
            <a:fld id="{FA5623CB-335E-432F-9DB8-7541A5CDFABD}" type="datetimeFigureOut">
              <a:rPr lang="ko-KR" altLang="en-US" smtClean="0"/>
              <a:pPr/>
              <a:t>2026-07-27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7463" y="793750"/>
            <a:ext cx="7086600" cy="50117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2" tIns="45715" rIns="91432" bIns="4571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96720" y="794768"/>
            <a:ext cx="2731508" cy="5011481"/>
          </a:xfrm>
          <a:prstGeom prst="rect">
            <a:avLst/>
          </a:prstGeom>
          <a:solidFill>
            <a:srgbClr val="FFF2CC"/>
          </a:solidFill>
        </p:spPr>
        <p:txBody>
          <a:bodyPr vert="horz" lIns="91432" tIns="45715" rIns="91432" bIns="45715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4" y="6456366"/>
            <a:ext cx="4302813" cy="339725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3827" y="6456366"/>
            <a:ext cx="4302813" cy="339725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r">
              <a:defRPr sz="1200"/>
            </a:lvl1pPr>
          </a:lstStyle>
          <a:p>
            <a:fld id="{BAF4C2AF-E4A5-4E75-94FA-C867B35FD3B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312681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7559675" cy="5345113"/>
          </a:xfrm>
        </p:spPr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F4C2AF-E4A5-4E75-94FA-C867B35FD3B0}" type="slidenum">
              <a:rPr lang="ko-KR" altLang="en-US" smtClean="0"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61311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7559675" cy="5346700"/>
          </a:xfrm>
        </p:spPr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4C2AF-E4A5-4E75-94FA-C867B35FD3B0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8072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7559675" cy="5346700"/>
          </a:xfrm>
        </p:spPr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4C2AF-E4A5-4E75-94FA-C867B35FD3B0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19258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94972" y="468263"/>
            <a:ext cx="2408941" cy="360040"/>
          </a:xfrm>
          <a:prstGeom prst="rect">
            <a:avLst/>
          </a:prstGeom>
        </p:spPr>
      </p:pic>
      <p:sp>
        <p:nvSpPr>
          <p:cNvPr id="12" name="Rectangle 3"/>
          <p:cNvSpPr>
            <a:spLocks noChangeArrowheads="1"/>
          </p:cNvSpPr>
          <p:nvPr userDrawn="1"/>
        </p:nvSpPr>
        <p:spPr bwMode="auto">
          <a:xfrm>
            <a:off x="1602284" y="2413379"/>
            <a:ext cx="8712968" cy="1943100"/>
          </a:xfrm>
          <a:prstGeom prst="rect">
            <a:avLst/>
          </a:prstGeom>
          <a:solidFill>
            <a:srgbClr val="0D4D79"/>
          </a:solidFill>
          <a:ln>
            <a:noFill/>
          </a:ln>
          <a:effectLst/>
          <a:ex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7FC96C8-4A21-4516-9F47-CE38AA548B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78" r="23165"/>
          <a:stretch/>
        </p:blipFill>
        <p:spPr>
          <a:xfrm>
            <a:off x="1" y="2413378"/>
            <a:ext cx="1602283" cy="1943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315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Line 164"/>
          <p:cNvSpPr>
            <a:spLocks noChangeShapeType="1"/>
          </p:cNvSpPr>
          <p:nvPr userDrawn="1"/>
        </p:nvSpPr>
        <p:spPr bwMode="auto">
          <a:xfrm>
            <a:off x="594172" y="1584387"/>
            <a:ext cx="5976664" cy="0"/>
          </a:xfrm>
          <a:prstGeom prst="line">
            <a:avLst/>
          </a:prstGeom>
          <a:noFill/>
          <a:ln w="114300">
            <a:solidFill>
              <a:srgbClr val="0D4D7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endParaRPr lang="ko-KR" altLang="en-US" dirty="0"/>
          </a:p>
        </p:txBody>
      </p:sp>
      <p:sp>
        <p:nvSpPr>
          <p:cNvPr id="18" name="Line 164"/>
          <p:cNvSpPr>
            <a:spLocks noChangeShapeType="1"/>
          </p:cNvSpPr>
          <p:nvPr userDrawn="1"/>
        </p:nvSpPr>
        <p:spPr bwMode="auto">
          <a:xfrm>
            <a:off x="6642844" y="1584387"/>
            <a:ext cx="612000" cy="0"/>
          </a:xfrm>
          <a:prstGeom prst="line">
            <a:avLst/>
          </a:prstGeom>
          <a:noFill/>
          <a:ln w="114300">
            <a:solidFill>
              <a:schemeClr val="bg1">
                <a:lumMod val="8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ko-KR" altLang="en-US" dirty="0"/>
          </a:p>
        </p:txBody>
      </p:sp>
      <p:sp>
        <p:nvSpPr>
          <p:cNvPr id="19" name="Line 164"/>
          <p:cNvSpPr>
            <a:spLocks noChangeShapeType="1"/>
          </p:cNvSpPr>
          <p:nvPr userDrawn="1"/>
        </p:nvSpPr>
        <p:spPr bwMode="auto">
          <a:xfrm>
            <a:off x="7326920" y="1584387"/>
            <a:ext cx="1728000" cy="0"/>
          </a:xfrm>
          <a:prstGeom prst="line">
            <a:avLst/>
          </a:prstGeom>
          <a:noFill/>
          <a:ln w="114300">
            <a:solidFill>
              <a:schemeClr val="tx2">
                <a:lumMod val="20000"/>
                <a:lumOff val="8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0913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2"/>
          <p:cNvSpPr>
            <a:spLocks noGrp="1"/>
          </p:cNvSpPr>
          <p:nvPr>
            <p:ph idx="1"/>
          </p:nvPr>
        </p:nvSpPr>
        <p:spPr>
          <a:xfrm>
            <a:off x="609928" y="1116335"/>
            <a:ext cx="4091949" cy="615553"/>
          </a:xfrm>
        </p:spPr>
        <p:txBody>
          <a:bodyPr lIns="0" tIns="0" rIns="0" bIns="0" anchor="ctr" anchorCtr="0">
            <a:spAutoFit/>
          </a:bodyPr>
          <a:lstStyle>
            <a:lvl1pPr marL="85725" indent="-85725">
              <a:lnSpc>
                <a:spcPct val="100000"/>
              </a:lnSpc>
              <a:spcBef>
                <a:spcPts val="600"/>
              </a:spcBef>
              <a:defRPr sz="100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266700" indent="-107950">
              <a:lnSpc>
                <a:spcPct val="100000"/>
              </a:lnSpc>
              <a:spcBef>
                <a:spcPts val="600"/>
              </a:spcBef>
              <a:defRPr sz="100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447675" indent="-119063">
              <a:lnSpc>
                <a:spcPct val="100000"/>
              </a:lnSpc>
              <a:spcBef>
                <a:spcPts val="600"/>
              </a:spcBef>
              <a:buFont typeface="굴림" panose="020B0600000101010101" pitchFamily="50" charset="-127"/>
              <a:buChar char="·"/>
              <a:defRPr sz="100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>
              <a:defRPr sz="1000"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>
              <a:defRPr sz="1000"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12" name="Line 164"/>
          <p:cNvSpPr>
            <a:spLocks noChangeShapeType="1"/>
          </p:cNvSpPr>
          <p:nvPr userDrawn="1"/>
        </p:nvSpPr>
        <p:spPr bwMode="auto">
          <a:xfrm>
            <a:off x="590812" y="828303"/>
            <a:ext cx="7200000" cy="0"/>
          </a:xfrm>
          <a:prstGeom prst="line">
            <a:avLst/>
          </a:prstGeom>
          <a:noFill/>
          <a:ln w="47625">
            <a:solidFill>
              <a:srgbClr val="0D4D7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ko-KR" altLang="en-US" dirty="0"/>
          </a:p>
        </p:txBody>
      </p:sp>
      <p:sp>
        <p:nvSpPr>
          <p:cNvPr id="15" name="Rectangle 5"/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auto">
          <a:xfrm>
            <a:off x="5051848" y="7318954"/>
            <a:ext cx="586203" cy="138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1043056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fld id="{793F8072-BA9F-42A0-B914-75540BCA7C2F}" type="slidenum">
              <a:rPr kumimoji="1" lang="ko-KR" altLang="ko-KR" sz="9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ea typeface="굴림" pitchFamily="50" charset="-127"/>
                <a:cs typeface="Arial" panose="020B0604020202020204" pitchFamily="34" charset="0"/>
              </a:rPr>
              <a:pPr marL="0" marR="0" lvl="0" indent="0" algn="ctr" defTabSz="1043056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1" lang="ko-KR" altLang="ko-KR" sz="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ea typeface="굴림" pitchFamily="50" charset="-127"/>
              <a:cs typeface="Arial" panose="020B0604020202020204" pitchFamily="34" charset="0"/>
            </a:endParaRPr>
          </a:p>
        </p:txBody>
      </p:sp>
      <p:sp>
        <p:nvSpPr>
          <p:cNvPr id="8" name="Line 164"/>
          <p:cNvSpPr>
            <a:spLocks noChangeShapeType="1"/>
          </p:cNvSpPr>
          <p:nvPr userDrawn="1"/>
        </p:nvSpPr>
        <p:spPr bwMode="auto">
          <a:xfrm>
            <a:off x="7832144" y="828303"/>
            <a:ext cx="720000" cy="0"/>
          </a:xfrm>
          <a:prstGeom prst="line">
            <a:avLst/>
          </a:prstGeom>
          <a:noFill/>
          <a:ln w="47625">
            <a:solidFill>
              <a:schemeClr val="bg1">
                <a:lumMod val="8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endParaRPr lang="ko-KR" altLang="en-US" dirty="0"/>
          </a:p>
        </p:txBody>
      </p:sp>
      <p:sp>
        <p:nvSpPr>
          <p:cNvPr id="11" name="Line 164"/>
          <p:cNvSpPr>
            <a:spLocks noChangeShapeType="1"/>
          </p:cNvSpPr>
          <p:nvPr userDrawn="1"/>
        </p:nvSpPr>
        <p:spPr bwMode="auto">
          <a:xfrm>
            <a:off x="8582812" y="828303"/>
            <a:ext cx="1728000" cy="0"/>
          </a:xfrm>
          <a:prstGeom prst="line">
            <a:avLst/>
          </a:prstGeom>
          <a:noFill/>
          <a:ln w="47625">
            <a:solidFill>
              <a:schemeClr val="tx2">
                <a:lumMod val="20000"/>
                <a:lumOff val="8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ko-KR" altLang="en-US" dirty="0"/>
          </a:p>
        </p:txBody>
      </p:sp>
      <p:pic>
        <p:nvPicPr>
          <p:cNvPr id="17" name="Picture 2" descr="C:\Users\Administrator\Downloads\한국투자증권 영문_all white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77795" y="7293437"/>
            <a:ext cx="1108941" cy="177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6"/>
          <p:cNvSpPr>
            <a:spLocks noChangeArrowheads="1"/>
          </p:cNvSpPr>
          <p:nvPr userDrawn="1"/>
        </p:nvSpPr>
        <p:spPr bwMode="auto">
          <a:xfrm>
            <a:off x="1303919" y="7329812"/>
            <a:ext cx="65" cy="169277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pPr>
              <a:defRPr/>
            </a:pPr>
            <a:endParaRPr lang="ko-KR" altLang="en-US" sz="1100" b="0"/>
          </a:p>
        </p:txBody>
      </p:sp>
      <p:sp>
        <p:nvSpPr>
          <p:cNvPr id="13" name="Line 98"/>
          <p:cNvSpPr>
            <a:spLocks noChangeShapeType="1"/>
          </p:cNvSpPr>
          <p:nvPr userDrawn="1"/>
        </p:nvSpPr>
        <p:spPr bwMode="auto">
          <a:xfrm>
            <a:off x="590812" y="7164471"/>
            <a:ext cx="9720000" cy="0"/>
          </a:xfrm>
          <a:prstGeom prst="line">
            <a:avLst/>
          </a:prstGeom>
          <a:noFill/>
          <a:ln w="12700">
            <a:solidFill>
              <a:srgbClr val="0D4D79"/>
            </a:solidFill>
            <a:round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endParaRPr lang="ko-KR" altLang="en-US" sz="1100" b="0"/>
          </a:p>
        </p:txBody>
      </p:sp>
      <p:sp>
        <p:nvSpPr>
          <p:cNvPr id="16" name="Rectangle 5"/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4300537" y="7237015"/>
            <a:ext cx="2092325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defTabSz="1019175" eaLnBrk="0" latinLnBrk="0" hangingPunct="0">
              <a:lnSpc>
                <a:spcPct val="100000"/>
              </a:lnSpc>
              <a:defRPr/>
            </a:pPr>
            <a:fld id="{E29DEEF9-95E9-4D98-9ACC-8D6003A6E101}" type="slidenum">
              <a:rPr kumimoji="0" lang="en-US" altLang="ko-KR" sz="1000" b="0">
                <a:latin typeface="+mn-ea"/>
                <a:ea typeface="+mn-ea"/>
                <a:cs typeface="Arial" panose="020B0604020202020204" pitchFamily="34" charset="0"/>
              </a:rPr>
              <a:pPr algn="ctr" defTabSz="1019175" eaLnBrk="0" latinLnBrk="0" hangingPunct="0">
                <a:lnSpc>
                  <a:spcPct val="100000"/>
                </a:lnSpc>
                <a:defRPr/>
              </a:pPr>
              <a:t>‹#›</a:t>
            </a:fld>
            <a:endParaRPr kumimoji="0" lang="en-US" altLang="ko-KR" sz="1000" b="0" dirty="0">
              <a:latin typeface="+mn-ea"/>
              <a:ea typeface="+mn-ea"/>
              <a:cs typeface="Arial" panose="020B0604020202020204" pitchFamily="34" charset="0"/>
            </a:endParaRPr>
          </a:p>
        </p:txBody>
      </p:sp>
      <p:pic>
        <p:nvPicPr>
          <p:cNvPr id="3" name="그림 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3084" y="7237016"/>
            <a:ext cx="1455389" cy="217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359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34671" y="302801"/>
            <a:ext cx="9624060" cy="1260211"/>
          </a:xfrm>
          <a:prstGeom prst="rect">
            <a:avLst/>
          </a:prstGeom>
        </p:spPr>
        <p:txBody>
          <a:bodyPr vert="horz" lIns="104306" tIns="52153" rIns="104306" bIns="52153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4671" y="1764295"/>
            <a:ext cx="9624060" cy="4990084"/>
          </a:xfrm>
          <a:prstGeom prst="rect">
            <a:avLst/>
          </a:prstGeom>
        </p:spPr>
        <p:txBody>
          <a:bodyPr vert="horz" lIns="104306" tIns="52153" rIns="104306" bIns="52153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4671" y="7008172"/>
            <a:ext cx="2495127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682AE1-8893-4322-A050-DA3A2E39FF9C}" type="datetimeFigureOut">
              <a:rPr lang="ko-KR" altLang="en-US" smtClean="0"/>
              <a:pPr/>
              <a:t>2026-07-27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53579" y="7008172"/>
            <a:ext cx="3386243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663604" y="7008172"/>
            <a:ext cx="2495127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F0659E-5881-4452-8922-0FC4118DA9F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9608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0" r:id="rId2"/>
    <p:sldLayoutId id="2147483649" r:id="rId3"/>
  </p:sldLayoutIdLst>
  <p:txStyles>
    <p:titleStyle>
      <a:lvl1pPr algn="ctr" defTabSz="1043056" rtl="0" eaLnBrk="1" latinLnBrk="1" hangingPunct="1">
        <a:spcBef>
          <a:spcPct val="0"/>
        </a:spcBef>
        <a:buNone/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1146" indent="-391146" algn="l" defTabSz="1043056" rtl="0" eaLnBrk="1" latinLnBrk="1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47483" indent="-325955" algn="l" defTabSz="1043056" rtl="0" eaLnBrk="1" latinLnBrk="1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03820" indent="-260764" algn="l" defTabSz="1043056" rtl="0" eaLnBrk="1" latinLnBrk="1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825348" indent="-260764" algn="l" defTabSz="1043056" rtl="0" eaLnBrk="1" latinLnBrk="1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46876" indent="-260764" algn="l" defTabSz="1043056" rtl="0" eaLnBrk="1" latinLnBrk="1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68404" indent="-260764" algn="l" defTabSz="1043056" rtl="0" eaLnBrk="1" latinLnBrk="1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89932" indent="-260764" algn="l" defTabSz="1043056" rtl="0" eaLnBrk="1" latinLnBrk="1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11460" indent="-260764" algn="l" defTabSz="1043056" rtl="0" eaLnBrk="1" latinLnBrk="1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32988" indent="-260764" algn="l" defTabSz="1043056" rtl="0" eaLnBrk="1" latinLnBrk="1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1528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43056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64584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086112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07640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29168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50696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172224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/>
          <p:cNvSpPr txBox="1">
            <a:spLocks noChangeArrowheads="1"/>
          </p:cNvSpPr>
          <p:nvPr/>
        </p:nvSpPr>
        <p:spPr bwMode="auto">
          <a:xfrm>
            <a:off x="2286360" y="3144172"/>
            <a:ext cx="7056784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algn="ctr" defTabSz="1043056" rtl="0" eaLnBrk="1" latinLnBrk="1" hangingPunct="1">
              <a:spcBef>
                <a:spcPct val="0"/>
              </a:spcBef>
              <a:buNone/>
              <a:defRPr sz="5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1042988">
              <a:lnSpc>
                <a:spcPct val="100000"/>
              </a:lnSpc>
            </a:pPr>
            <a:r>
              <a:rPr lang="ko-KR" altLang="en-US" sz="32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경쟁사 부문별 </a:t>
            </a:r>
            <a:r>
              <a:rPr lang="en-US" altLang="ko-KR" sz="32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CIR </a:t>
            </a:r>
            <a:r>
              <a:rPr lang="ko-KR" altLang="en-US" sz="32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비교 분석</a:t>
            </a:r>
          </a:p>
        </p:txBody>
      </p:sp>
      <p:graphicFrame>
        <p:nvGraphicFramePr>
          <p:cNvPr id="3" name="Group 23">
            <a:extLst>
              <a:ext uri="{FF2B5EF4-FFF2-40B4-BE49-F238E27FC236}">
                <a16:creationId xmlns:a16="http://schemas.microsoft.com/office/drawing/2014/main" id="{37F22763-61CC-4022-BA4B-18A03B2EA5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1230712"/>
              </p:ext>
            </p:extLst>
          </p:nvPr>
        </p:nvGraphicFramePr>
        <p:xfrm>
          <a:off x="6966880" y="5699691"/>
          <a:ext cx="3325635" cy="421200"/>
        </p:xfrm>
        <a:graphic>
          <a:graphicData uri="http://schemas.openxmlformats.org/drawingml/2006/table">
            <a:tbl>
              <a:tblPr/>
              <a:tblGrid>
                <a:gridCol w="10029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26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1200">
                <a:tc>
                  <a:txBody>
                    <a:bodyPr/>
                    <a:lstStyle/>
                    <a:p>
                      <a:pPr marL="0" marR="0" lvl="0" indent="0" algn="ctr" defTabSz="10001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일자</a:t>
                      </a:r>
                    </a:p>
                  </a:txBody>
                  <a:tcPr marL="105490" marR="105490" marT="53867" marB="53867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D4D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01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2026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년 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7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월 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30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헤드라인M" pitchFamily="18" charset="-127"/>
                          <a:ea typeface="HY헤드라인M" pitchFamily="18" charset="-127"/>
                        </a:rPr>
                        <a:t>일</a:t>
                      </a: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marL="105490" marR="105490" marT="53867" marB="53867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4608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1003"/>
          <p:cNvSpPr>
            <a:spLocks noChangeArrowheads="1"/>
          </p:cNvSpPr>
          <p:nvPr/>
        </p:nvSpPr>
        <p:spPr bwMode="auto">
          <a:xfrm>
            <a:off x="594172" y="504267"/>
            <a:ext cx="745282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dirty="0">
                <a:solidFill>
                  <a:prstClr val="black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Arial" panose="020B0604020202020204" pitchFamily="34" charset="0"/>
              </a:rPr>
              <a:t>Executive Summary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594172" y="1152339"/>
            <a:ext cx="9685076" cy="57600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632D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108000" rtlCol="0" anchor="ctr"/>
          <a:lstStyle/>
          <a:p>
            <a:pPr latinLnBrk="0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dirty="0">
                <a:solidFill>
                  <a:srgbClr val="000000"/>
                </a:solidFill>
                <a:latin typeface="+mn-ea"/>
              </a:rPr>
              <a:t>[</a:t>
            </a:r>
            <a:r>
              <a:rPr sz="1400" b="1" dirty="0" err="1">
                <a:solidFill>
                  <a:srgbClr val="000000"/>
                </a:solidFill>
                <a:latin typeface="+mn-ea"/>
              </a:rPr>
              <a:t>경쟁사</a:t>
            </a:r>
            <a:r>
              <a:rPr sz="1400" b="1" dirty="0">
                <a:solidFill>
                  <a:srgbClr val="000000"/>
                </a:solidFill>
                <a:latin typeface="+mn-ea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+mn-ea"/>
              </a:rPr>
              <a:t>부문별</a:t>
            </a:r>
            <a:r>
              <a:rPr sz="1400" b="1" dirty="0">
                <a:solidFill>
                  <a:srgbClr val="000000"/>
                </a:solidFill>
                <a:latin typeface="+mn-ea"/>
              </a:rPr>
              <a:t> CIR </a:t>
            </a:r>
            <a:r>
              <a:rPr sz="1400" b="1" dirty="0" err="1">
                <a:solidFill>
                  <a:srgbClr val="000000"/>
                </a:solidFill>
                <a:latin typeface="+mn-ea"/>
              </a:rPr>
              <a:t>비교</a:t>
            </a:r>
            <a:r>
              <a:rPr sz="1400" b="1" dirty="0">
                <a:solidFill>
                  <a:srgbClr val="000000"/>
                </a:solidFill>
                <a:latin typeface="+mn-ea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+mn-ea"/>
              </a:rPr>
              <a:t>결과</a:t>
            </a:r>
            <a:r>
              <a:rPr sz="1400" b="1" dirty="0">
                <a:solidFill>
                  <a:srgbClr val="000000"/>
                </a:solidFill>
                <a:latin typeface="+mn-ea"/>
              </a:rPr>
              <a:t>]</a:t>
            </a:r>
          </a:p>
          <a:p>
            <a:pPr marL="465750" lvl="1" indent="-285750">
              <a:lnSpc>
                <a:spcPct val="150000"/>
              </a:lnSpc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sz="1400" b="1" dirty="0" err="1">
                <a:solidFill>
                  <a:srgbClr val="000000"/>
                </a:solidFill>
                <a:latin typeface="+mn-ea"/>
              </a:rPr>
              <a:t>당사</a:t>
            </a:r>
            <a:r>
              <a:rPr sz="1400" b="1" dirty="0">
                <a:solidFill>
                  <a:srgbClr val="000000"/>
                </a:solidFill>
                <a:latin typeface="+mn-ea"/>
              </a:rPr>
              <a:t> CIR </a:t>
            </a:r>
            <a:r>
              <a:rPr sz="1400" b="1" dirty="0">
                <a:solidFill>
                  <a:srgbClr val="FF0000"/>
                </a:solidFill>
                <a:latin typeface="+mn-ea"/>
              </a:rPr>
              <a:t>36.9%로 5사 중 </a:t>
            </a:r>
            <a:r>
              <a:rPr sz="1400" b="1" dirty="0" err="1">
                <a:solidFill>
                  <a:srgbClr val="FF0000"/>
                </a:solidFill>
                <a:latin typeface="+mn-ea"/>
              </a:rPr>
              <a:t>최저</a:t>
            </a:r>
            <a:r>
              <a:rPr sz="1400" b="1" dirty="0">
                <a:solidFill>
                  <a:srgbClr val="000000"/>
                </a:solidFill>
                <a:latin typeface="+mn-ea"/>
              </a:rPr>
              <a:t>, </a:t>
            </a:r>
            <a:r>
              <a:rPr sz="1400" b="1" dirty="0" err="1">
                <a:solidFill>
                  <a:srgbClr val="000000"/>
                </a:solidFill>
                <a:latin typeface="+mn-ea"/>
              </a:rPr>
              <a:t>경쟁사</a:t>
            </a:r>
            <a:r>
              <a:rPr sz="1400" b="1" dirty="0">
                <a:solidFill>
                  <a:srgbClr val="000000"/>
                </a:solidFill>
                <a:latin typeface="+mn-ea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+mn-ea"/>
              </a:rPr>
              <a:t>평균</a:t>
            </a:r>
            <a:r>
              <a:rPr sz="1400" b="1" dirty="0">
                <a:solidFill>
                  <a:srgbClr val="000000"/>
                </a:solidFill>
                <a:latin typeface="+mn-ea"/>
              </a:rPr>
              <a:t>(44.0%) </a:t>
            </a:r>
            <a:r>
              <a:rPr sz="1400" b="1" dirty="0" err="1">
                <a:solidFill>
                  <a:srgbClr val="000000"/>
                </a:solidFill>
                <a:latin typeface="+mn-ea"/>
              </a:rPr>
              <a:t>대비</a:t>
            </a:r>
            <a:r>
              <a:rPr sz="1400" b="1" dirty="0">
                <a:solidFill>
                  <a:srgbClr val="000000"/>
                </a:solidFill>
                <a:latin typeface="+mn-ea"/>
              </a:rPr>
              <a:t> </a:t>
            </a:r>
            <a:r>
              <a:rPr sz="1400" b="1" dirty="0">
                <a:solidFill>
                  <a:srgbClr val="FF0000"/>
                </a:solidFill>
                <a:latin typeface="+mn-ea"/>
              </a:rPr>
              <a:t>7.1%p </a:t>
            </a:r>
            <a:r>
              <a:rPr sz="1400" b="1" dirty="0" err="1">
                <a:solidFill>
                  <a:srgbClr val="FF0000"/>
                </a:solidFill>
                <a:latin typeface="+mn-ea"/>
              </a:rPr>
              <a:t>우위</a:t>
            </a:r>
            <a:r>
              <a:rPr sz="1400" b="1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ko-KR" sz="1100" b="1" dirty="0">
                <a:solidFill>
                  <a:srgbClr val="000000"/>
                </a:solidFill>
                <a:latin typeface="+mn-ea"/>
              </a:rPr>
              <a:t>(</a:t>
            </a:r>
            <a:r>
              <a:rPr lang="ko-KR" altLang="en-US" sz="1100" b="1" dirty="0">
                <a:solidFill>
                  <a:srgbClr val="000000"/>
                </a:solidFill>
                <a:latin typeface="+mn-ea"/>
              </a:rPr>
              <a:t>미래 </a:t>
            </a:r>
            <a:r>
              <a:rPr lang="en-US" altLang="ko-KR" sz="1100" b="1" dirty="0">
                <a:solidFill>
                  <a:srgbClr val="000000"/>
                </a:solidFill>
                <a:latin typeface="+mn-ea"/>
              </a:rPr>
              <a:t>54.1 / NH 45.0 / KB 39.8 / </a:t>
            </a:r>
            <a:r>
              <a:rPr lang="ko-KR" altLang="en-US" sz="1100" b="1" dirty="0">
                <a:solidFill>
                  <a:srgbClr val="000000"/>
                </a:solidFill>
                <a:latin typeface="+mn-ea"/>
              </a:rPr>
              <a:t>삼성 </a:t>
            </a:r>
            <a:r>
              <a:rPr lang="en-US" altLang="ko-KR" sz="1100" b="1" dirty="0">
                <a:solidFill>
                  <a:srgbClr val="000000"/>
                </a:solidFill>
                <a:latin typeface="+mn-ea"/>
              </a:rPr>
              <a:t>37.2%)</a:t>
            </a:r>
          </a:p>
          <a:p>
            <a:pPr marL="465750" lvl="1" indent="-285750">
              <a:lnSpc>
                <a:spcPct val="150000"/>
              </a:lnSpc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ko-KR" altLang="en-US" sz="1400" b="1" dirty="0">
                <a:solidFill>
                  <a:srgbClr val="000000"/>
                </a:solidFill>
                <a:latin typeface="+mn-ea"/>
              </a:rPr>
              <a:t>자본활용부문</a:t>
            </a:r>
            <a:r>
              <a:rPr lang="en-US" altLang="ko-KR" sz="1400" b="1" dirty="0">
                <a:solidFill>
                  <a:srgbClr val="000000"/>
                </a:solidFill>
                <a:latin typeface="+mn-ea"/>
              </a:rPr>
              <a:t>(IB·PF·</a:t>
            </a:r>
            <a:r>
              <a:rPr lang="ko-KR" altLang="en-US" sz="1400" b="1" dirty="0">
                <a:solidFill>
                  <a:srgbClr val="000000"/>
                </a:solidFill>
                <a:latin typeface="+mn-ea"/>
              </a:rPr>
              <a:t>운용</a:t>
            </a:r>
            <a:r>
              <a:rPr lang="en-US" altLang="ko-KR" sz="1400" b="1" dirty="0">
                <a:solidFill>
                  <a:srgbClr val="000000"/>
                </a:solidFill>
                <a:latin typeface="+mn-ea"/>
              </a:rPr>
              <a:t>) CIR </a:t>
            </a:r>
            <a:r>
              <a:rPr lang="en-US" altLang="ko-KR" sz="1400" b="1" dirty="0">
                <a:solidFill>
                  <a:srgbClr val="FF0000"/>
                </a:solidFill>
                <a:latin typeface="+mn-ea"/>
              </a:rPr>
              <a:t>27.3%</a:t>
            </a:r>
            <a:r>
              <a:rPr lang="ko-KR" altLang="en-US" sz="1400" b="1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ko-KR" sz="1100" b="1" dirty="0">
                <a:solidFill>
                  <a:srgbClr val="000000"/>
                </a:solidFill>
                <a:latin typeface="+mn-ea"/>
              </a:rPr>
              <a:t>(</a:t>
            </a:r>
            <a:r>
              <a:rPr lang="ko-KR" altLang="en-US" sz="1100" b="1" dirty="0">
                <a:solidFill>
                  <a:srgbClr val="000000"/>
                </a:solidFill>
                <a:latin typeface="+mn-ea"/>
              </a:rPr>
              <a:t>경쟁사 </a:t>
            </a:r>
            <a:r>
              <a:rPr lang="en-US" altLang="ko-KR" sz="1100" b="1" dirty="0">
                <a:solidFill>
                  <a:srgbClr val="000000"/>
                </a:solidFill>
                <a:latin typeface="+mn-ea"/>
              </a:rPr>
              <a:t>43.4~154.6%)</a:t>
            </a:r>
          </a:p>
          <a:p>
            <a:pPr>
              <a:lnSpc>
                <a:spcPct val="150000"/>
              </a:lnSpc>
              <a:spcBef>
                <a:spcPts val="500"/>
              </a:spcBef>
              <a:spcAft>
                <a:spcPts val="300"/>
              </a:spcAft>
            </a:pPr>
            <a:endParaRPr lang="en-US" altLang="ko-KR" sz="1400" b="1" dirty="0">
              <a:solidFill>
                <a:srgbClr val="000000"/>
              </a:solidFill>
              <a:latin typeface="+mn-ea"/>
            </a:endParaRPr>
          </a:p>
          <a:p>
            <a:pPr>
              <a:lnSpc>
                <a:spcPct val="150000"/>
              </a:lnSpc>
              <a:spcBef>
                <a:spcPts val="500"/>
              </a:spcBef>
              <a:spcAft>
                <a:spcPts val="300"/>
              </a:spcAft>
            </a:pPr>
            <a:r>
              <a:rPr sz="1400" b="1" dirty="0">
                <a:solidFill>
                  <a:srgbClr val="000000"/>
                </a:solidFill>
                <a:latin typeface="+mn-ea"/>
              </a:rPr>
              <a:t>[</a:t>
            </a:r>
            <a:r>
              <a:rPr sz="1400" b="1" dirty="0" err="1">
                <a:solidFill>
                  <a:srgbClr val="000000"/>
                </a:solidFill>
                <a:latin typeface="+mn-ea"/>
              </a:rPr>
              <a:t>격차의</a:t>
            </a:r>
            <a:r>
              <a:rPr sz="1400" b="1" dirty="0">
                <a:solidFill>
                  <a:srgbClr val="000000"/>
                </a:solidFill>
                <a:latin typeface="+mn-ea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+mn-ea"/>
              </a:rPr>
              <a:t>구조적</a:t>
            </a:r>
            <a:r>
              <a:rPr sz="1400" b="1" dirty="0">
                <a:solidFill>
                  <a:srgbClr val="000000"/>
                </a:solidFill>
                <a:latin typeface="+mn-ea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+mn-ea"/>
              </a:rPr>
              <a:t>원인</a:t>
            </a:r>
            <a:r>
              <a:rPr sz="1400" b="1" dirty="0">
                <a:solidFill>
                  <a:srgbClr val="000000"/>
                </a:solidFill>
                <a:latin typeface="+mn-ea"/>
              </a:rPr>
              <a:t>: </a:t>
            </a:r>
            <a:r>
              <a:rPr sz="1400" b="1" dirty="0" err="1">
                <a:solidFill>
                  <a:srgbClr val="000000"/>
                </a:solidFill>
                <a:latin typeface="+mn-ea"/>
              </a:rPr>
              <a:t>사업구조와</a:t>
            </a:r>
            <a:r>
              <a:rPr sz="1400" b="1" dirty="0">
                <a:solidFill>
                  <a:srgbClr val="000000"/>
                </a:solidFill>
                <a:latin typeface="+mn-ea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+mn-ea"/>
              </a:rPr>
              <a:t>규모의</a:t>
            </a:r>
            <a:r>
              <a:rPr sz="1400" b="1" dirty="0">
                <a:solidFill>
                  <a:srgbClr val="000000"/>
                </a:solidFill>
                <a:latin typeface="+mn-ea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+mn-ea"/>
              </a:rPr>
              <a:t>경제</a:t>
            </a:r>
            <a:r>
              <a:rPr sz="1400" b="1" dirty="0">
                <a:solidFill>
                  <a:srgbClr val="000000"/>
                </a:solidFill>
                <a:latin typeface="+mn-ea"/>
              </a:rPr>
              <a:t>]</a:t>
            </a:r>
          </a:p>
          <a:p>
            <a:pPr marL="465750" lvl="1" indent="-285750">
              <a:lnSpc>
                <a:spcPct val="150000"/>
              </a:lnSpc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sz="1400" b="1" dirty="0" err="1">
                <a:solidFill>
                  <a:srgbClr val="FF0000"/>
                </a:solidFill>
                <a:latin typeface="+mn-ea"/>
              </a:rPr>
              <a:t>리테일</a:t>
            </a:r>
            <a:r>
              <a:rPr sz="1400" b="1" dirty="0">
                <a:solidFill>
                  <a:srgbClr val="FF0000"/>
                </a:solidFill>
                <a:latin typeface="+mn-ea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+mn-ea"/>
              </a:rPr>
              <a:t>비중</a:t>
            </a:r>
            <a:r>
              <a:rPr sz="1400" b="1" dirty="0">
                <a:solidFill>
                  <a:srgbClr val="FF0000"/>
                </a:solidFill>
                <a:latin typeface="+mn-ea"/>
              </a:rPr>
              <a:t> 41.2%로 5사 중 </a:t>
            </a:r>
            <a:r>
              <a:rPr sz="1400" b="1" dirty="0" err="1">
                <a:solidFill>
                  <a:srgbClr val="FF0000"/>
                </a:solidFill>
                <a:latin typeface="+mn-ea"/>
              </a:rPr>
              <a:t>최저</a:t>
            </a:r>
            <a:r>
              <a:rPr sz="1400" b="1" dirty="0">
                <a:solidFill>
                  <a:srgbClr val="000000"/>
                </a:solidFill>
                <a:latin typeface="+mn-ea"/>
              </a:rPr>
              <a:t>, </a:t>
            </a:r>
            <a:r>
              <a:rPr sz="1400" b="1" dirty="0" err="1">
                <a:solidFill>
                  <a:srgbClr val="000000"/>
                </a:solidFill>
                <a:latin typeface="+mn-ea"/>
              </a:rPr>
              <a:t>수익의</a:t>
            </a:r>
            <a:r>
              <a:rPr sz="1400" b="1" dirty="0">
                <a:solidFill>
                  <a:srgbClr val="000000"/>
                </a:solidFill>
                <a:latin typeface="+mn-ea"/>
              </a:rPr>
              <a:t> 59%를 </a:t>
            </a:r>
            <a:r>
              <a:rPr sz="1400" b="1" dirty="0" err="1">
                <a:solidFill>
                  <a:srgbClr val="000000"/>
                </a:solidFill>
                <a:latin typeface="+mn-ea"/>
              </a:rPr>
              <a:t>리테일</a:t>
            </a:r>
            <a:r>
              <a:rPr lang="ko-KR" altLang="en-US" sz="1400" b="1" dirty="0">
                <a:solidFill>
                  <a:srgbClr val="000000"/>
                </a:solidFill>
                <a:latin typeface="+mn-ea"/>
              </a:rPr>
              <a:t> 외 부문</a:t>
            </a:r>
            <a:r>
              <a:rPr sz="1400" b="1" dirty="0" err="1">
                <a:solidFill>
                  <a:srgbClr val="000000"/>
                </a:solidFill>
                <a:latin typeface="+mn-ea"/>
              </a:rPr>
              <a:t>에서</a:t>
            </a:r>
            <a:r>
              <a:rPr sz="1400" b="1" dirty="0">
                <a:solidFill>
                  <a:srgbClr val="000000"/>
                </a:solidFill>
                <a:latin typeface="+mn-ea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+mn-ea"/>
              </a:rPr>
              <a:t>창출</a:t>
            </a:r>
            <a:r>
              <a:rPr sz="1400" b="1" dirty="0">
                <a:solidFill>
                  <a:srgbClr val="000000"/>
                </a:solidFill>
                <a:latin typeface="+mn-ea"/>
              </a:rPr>
              <a:t> </a:t>
            </a:r>
            <a:r>
              <a:rPr sz="1100" b="1" dirty="0">
                <a:solidFill>
                  <a:srgbClr val="000000"/>
                </a:solidFill>
                <a:latin typeface="+mn-ea"/>
              </a:rPr>
              <a:t>(</a:t>
            </a:r>
            <a:r>
              <a:rPr sz="1100" b="1" dirty="0" err="1">
                <a:solidFill>
                  <a:srgbClr val="000000"/>
                </a:solidFill>
                <a:latin typeface="+mn-ea"/>
              </a:rPr>
              <a:t>경쟁사</a:t>
            </a:r>
            <a:r>
              <a:rPr sz="1100" b="1" dirty="0">
                <a:solidFill>
                  <a:srgbClr val="000000"/>
                </a:solidFill>
                <a:latin typeface="+mn-ea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+mn-ea"/>
              </a:rPr>
              <a:t>리테일</a:t>
            </a:r>
            <a:r>
              <a:rPr sz="1100" b="1" dirty="0">
                <a:solidFill>
                  <a:srgbClr val="000000"/>
                </a:solidFill>
                <a:latin typeface="+mn-ea"/>
              </a:rPr>
              <a:t> 55~76%)</a:t>
            </a:r>
          </a:p>
          <a:p>
            <a:pPr marL="465750" lvl="1" indent="-285750">
              <a:lnSpc>
                <a:spcPct val="150000"/>
              </a:lnSpc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sz="1400" b="1" dirty="0" err="1">
                <a:solidFill>
                  <a:srgbClr val="000000"/>
                </a:solidFill>
                <a:latin typeface="+mn-ea"/>
              </a:rPr>
              <a:t>리테일</a:t>
            </a:r>
            <a:r>
              <a:rPr sz="1400" b="1" dirty="0">
                <a:solidFill>
                  <a:srgbClr val="000000"/>
                </a:solidFill>
                <a:latin typeface="+mn-ea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+mn-ea"/>
              </a:rPr>
              <a:t>비중</a:t>
            </a:r>
            <a:r>
              <a:rPr lang="ko-KR" altLang="en-US" sz="1400" b="1" dirty="0">
                <a:solidFill>
                  <a:srgbClr val="000000"/>
                </a:solidFill>
                <a:latin typeface="+mn-ea"/>
              </a:rPr>
              <a:t>을</a:t>
            </a:r>
            <a:r>
              <a:rPr sz="1400" b="1" dirty="0">
                <a:solidFill>
                  <a:srgbClr val="000000"/>
                </a:solidFill>
                <a:latin typeface="+mn-ea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+mn-ea"/>
              </a:rPr>
              <a:t>경쟁사</a:t>
            </a:r>
            <a:r>
              <a:rPr sz="1400" b="1" dirty="0">
                <a:solidFill>
                  <a:srgbClr val="000000"/>
                </a:solidFill>
                <a:latin typeface="+mn-ea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+mn-ea"/>
              </a:rPr>
              <a:t>평균</a:t>
            </a:r>
            <a:r>
              <a:rPr sz="1400" b="1" dirty="0">
                <a:solidFill>
                  <a:srgbClr val="000000"/>
                </a:solidFill>
                <a:latin typeface="+mn-ea"/>
              </a:rPr>
              <a:t>(69.1%)</a:t>
            </a:r>
            <a:r>
              <a:rPr sz="1400" b="1" dirty="0" err="1">
                <a:solidFill>
                  <a:srgbClr val="000000"/>
                </a:solidFill>
                <a:latin typeface="+mn-ea"/>
              </a:rPr>
              <a:t>으로</a:t>
            </a:r>
            <a:r>
              <a:rPr sz="1400" b="1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1400" b="1" dirty="0">
                <a:solidFill>
                  <a:srgbClr val="000000"/>
                </a:solidFill>
                <a:latin typeface="+mn-ea"/>
              </a:rPr>
              <a:t>가정</a:t>
            </a:r>
            <a:r>
              <a:rPr sz="1400" b="1" dirty="0">
                <a:solidFill>
                  <a:srgbClr val="000000"/>
                </a:solidFill>
                <a:latin typeface="+mn-ea"/>
              </a:rPr>
              <a:t> 시 CIR 36.9% → 42.9%</a:t>
            </a:r>
            <a:endParaRPr lang="ko-KR" altLang="en-US" sz="1400" b="1" dirty="0">
              <a:solidFill>
                <a:srgbClr val="FF0000"/>
              </a:solidFill>
              <a:latin typeface="+mn-ea"/>
            </a:endParaRPr>
          </a:p>
          <a:p>
            <a:pPr>
              <a:lnSpc>
                <a:spcPct val="150000"/>
              </a:lnSpc>
              <a:spcBef>
                <a:spcPts val="500"/>
              </a:spcBef>
              <a:spcAft>
                <a:spcPts val="300"/>
              </a:spcAft>
            </a:pPr>
            <a:endParaRPr lang="en-US" altLang="ko-KR" sz="1400" b="1" dirty="0">
              <a:solidFill>
                <a:srgbClr val="000000"/>
              </a:solidFill>
              <a:latin typeface="+mn-ea"/>
            </a:endParaRPr>
          </a:p>
          <a:p>
            <a:pPr>
              <a:lnSpc>
                <a:spcPct val="150000"/>
              </a:lnSpc>
              <a:spcBef>
                <a:spcPts val="500"/>
              </a:spcBef>
              <a:spcAft>
                <a:spcPts val="300"/>
              </a:spcAft>
            </a:pPr>
            <a:r>
              <a:rPr sz="1400" b="1" dirty="0">
                <a:solidFill>
                  <a:srgbClr val="000000"/>
                </a:solidFill>
                <a:latin typeface="+mn-ea"/>
              </a:rPr>
              <a:t>[</a:t>
            </a:r>
            <a:r>
              <a:rPr sz="1400" b="1" dirty="0" err="1">
                <a:solidFill>
                  <a:srgbClr val="000000"/>
                </a:solidFill>
                <a:latin typeface="+mn-ea"/>
              </a:rPr>
              <a:t>성과급</a:t>
            </a:r>
            <a:r>
              <a:rPr sz="1400" b="1" dirty="0">
                <a:solidFill>
                  <a:srgbClr val="000000"/>
                </a:solidFill>
                <a:latin typeface="+mn-ea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+mn-ea"/>
              </a:rPr>
              <a:t>지급률</a:t>
            </a:r>
            <a:r>
              <a:rPr sz="1400" b="1" dirty="0">
                <a:solidFill>
                  <a:srgbClr val="000000"/>
                </a:solidFill>
                <a:latin typeface="+mn-ea"/>
              </a:rPr>
              <a:t>]</a:t>
            </a:r>
          </a:p>
          <a:p>
            <a:pPr marL="465750" lvl="1" indent="-285750">
              <a:lnSpc>
                <a:spcPct val="150000"/>
              </a:lnSpc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ko-KR" altLang="en-US" sz="1400" b="1" dirty="0">
                <a:solidFill>
                  <a:srgbClr val="000000"/>
                </a:solidFill>
                <a:latin typeface="+mn-ea"/>
              </a:rPr>
              <a:t>순영업수익 대비 전사</a:t>
            </a:r>
            <a:r>
              <a:rPr sz="1400" b="1" dirty="0">
                <a:solidFill>
                  <a:srgbClr val="000000"/>
                </a:solidFill>
                <a:latin typeface="+mn-ea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+mn-ea"/>
              </a:rPr>
              <a:t>지급률</a:t>
            </a:r>
            <a:r>
              <a:rPr sz="1400" b="1" dirty="0">
                <a:solidFill>
                  <a:srgbClr val="000000"/>
                </a:solidFill>
                <a:latin typeface="+mn-ea"/>
              </a:rPr>
              <a:t> 16.9%로 </a:t>
            </a:r>
            <a:r>
              <a:rPr sz="1400" b="1" dirty="0" err="1">
                <a:solidFill>
                  <a:srgbClr val="FF0000"/>
                </a:solidFill>
                <a:latin typeface="+mn-ea"/>
              </a:rPr>
              <a:t>경쟁사</a:t>
            </a:r>
            <a:r>
              <a:rPr sz="1400" b="1" dirty="0">
                <a:solidFill>
                  <a:srgbClr val="FF0000"/>
                </a:solidFill>
                <a:latin typeface="+mn-ea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+mn-ea"/>
              </a:rPr>
              <a:t>평균</a:t>
            </a:r>
            <a:r>
              <a:rPr sz="1400" b="1" dirty="0">
                <a:solidFill>
                  <a:srgbClr val="FF0000"/>
                </a:solidFill>
                <a:latin typeface="+mn-ea"/>
              </a:rPr>
              <a:t>(17.6%)과 </a:t>
            </a:r>
            <a:r>
              <a:rPr sz="1400" b="1" dirty="0" err="1">
                <a:solidFill>
                  <a:srgbClr val="FF0000"/>
                </a:solidFill>
                <a:latin typeface="+mn-ea"/>
              </a:rPr>
              <a:t>유사한</a:t>
            </a:r>
            <a:r>
              <a:rPr sz="1400" b="1" dirty="0">
                <a:solidFill>
                  <a:srgbClr val="FF0000"/>
                </a:solidFill>
                <a:latin typeface="+mn-ea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+mn-ea"/>
              </a:rPr>
              <a:t>수준</a:t>
            </a:r>
            <a:r>
              <a:rPr sz="1400" b="1" dirty="0">
                <a:solidFill>
                  <a:srgbClr val="000000"/>
                </a:solidFill>
                <a:latin typeface="+mn-ea"/>
              </a:rPr>
              <a:t> </a:t>
            </a:r>
            <a:r>
              <a:rPr sz="1100" b="1" dirty="0">
                <a:solidFill>
                  <a:srgbClr val="000000"/>
                </a:solidFill>
                <a:latin typeface="+mn-ea"/>
              </a:rPr>
              <a:t>(</a:t>
            </a:r>
            <a:r>
              <a:rPr sz="1100" b="1" dirty="0" err="1">
                <a:solidFill>
                  <a:srgbClr val="000000"/>
                </a:solidFill>
                <a:latin typeface="+mn-ea"/>
              </a:rPr>
              <a:t>미래</a:t>
            </a:r>
            <a:r>
              <a:rPr sz="1100" b="1" dirty="0">
                <a:solidFill>
                  <a:srgbClr val="000000"/>
                </a:solidFill>
                <a:latin typeface="+mn-ea"/>
              </a:rPr>
              <a:t> 26.3% </a:t>
            </a:r>
            <a:r>
              <a:rPr sz="1100" b="1" dirty="0" err="1">
                <a:solidFill>
                  <a:srgbClr val="000000"/>
                </a:solidFill>
                <a:latin typeface="+mn-ea"/>
              </a:rPr>
              <a:t>최고</a:t>
            </a:r>
            <a:r>
              <a:rPr sz="1100" b="1" dirty="0">
                <a:solidFill>
                  <a:srgbClr val="000000"/>
                </a:solidFill>
                <a:latin typeface="+mn-ea"/>
              </a:rPr>
              <a:t>, </a:t>
            </a:r>
            <a:r>
              <a:rPr sz="1100" b="1" dirty="0" err="1">
                <a:solidFill>
                  <a:srgbClr val="000000"/>
                </a:solidFill>
                <a:latin typeface="+mn-ea"/>
              </a:rPr>
              <a:t>삼성</a:t>
            </a:r>
            <a:r>
              <a:rPr sz="1100" b="1" dirty="0">
                <a:solidFill>
                  <a:srgbClr val="000000"/>
                </a:solidFill>
                <a:latin typeface="+mn-ea"/>
              </a:rPr>
              <a:t> 10.9% </a:t>
            </a:r>
            <a:r>
              <a:rPr sz="1100" b="1" dirty="0" err="1">
                <a:solidFill>
                  <a:srgbClr val="000000"/>
                </a:solidFill>
                <a:latin typeface="+mn-ea"/>
              </a:rPr>
              <a:t>최저</a:t>
            </a:r>
            <a:r>
              <a:rPr sz="1100" b="1" dirty="0">
                <a:solidFill>
                  <a:srgbClr val="000000"/>
                </a:solidFill>
                <a:latin typeface="+mn-ea"/>
              </a:rPr>
              <a:t>)</a:t>
            </a:r>
          </a:p>
          <a:p>
            <a:pPr>
              <a:lnSpc>
                <a:spcPct val="150000"/>
              </a:lnSpc>
              <a:spcBef>
                <a:spcPts val="500"/>
              </a:spcBef>
              <a:spcAft>
                <a:spcPts val="300"/>
              </a:spcAft>
            </a:pPr>
            <a:endParaRPr lang="en-US" altLang="ko-KR" sz="1400" b="1" dirty="0">
              <a:solidFill>
                <a:srgbClr val="000000"/>
              </a:solidFill>
              <a:latin typeface="+mn-ea"/>
            </a:endParaRPr>
          </a:p>
          <a:p>
            <a:pPr>
              <a:lnSpc>
                <a:spcPct val="150000"/>
              </a:lnSpc>
              <a:spcBef>
                <a:spcPts val="500"/>
              </a:spcBef>
              <a:spcAft>
                <a:spcPts val="300"/>
              </a:spcAft>
            </a:pPr>
            <a:r>
              <a:rPr sz="1400" b="1" dirty="0">
                <a:solidFill>
                  <a:srgbClr val="000000"/>
                </a:solidFill>
                <a:latin typeface="+mn-ea"/>
              </a:rPr>
              <a:t>[</a:t>
            </a:r>
            <a:r>
              <a:rPr lang="ko-KR" altLang="en-US" sz="1400" b="1" dirty="0">
                <a:solidFill>
                  <a:srgbClr val="000000"/>
                </a:solidFill>
                <a:latin typeface="+mn-ea"/>
              </a:rPr>
              <a:t>결론</a:t>
            </a:r>
            <a:r>
              <a:rPr sz="1400" b="1" dirty="0">
                <a:solidFill>
                  <a:srgbClr val="000000"/>
                </a:solidFill>
                <a:latin typeface="+mn-ea"/>
              </a:rPr>
              <a:t>]</a:t>
            </a:r>
          </a:p>
          <a:p>
            <a:pPr marL="465750" lvl="1" indent="-285750">
              <a:lnSpc>
                <a:spcPct val="150000"/>
              </a:lnSpc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sz="1400" b="1" dirty="0">
                <a:solidFill>
                  <a:srgbClr val="000000"/>
                </a:solidFill>
                <a:latin typeface="+mn-ea"/>
              </a:rPr>
              <a:t>CIR</a:t>
            </a:r>
            <a:r>
              <a:rPr lang="en-US" altLang="ko-KR" sz="1400" b="1" dirty="0">
                <a:solidFill>
                  <a:srgbClr val="000000"/>
                </a:solidFill>
                <a:latin typeface="+mn-ea"/>
              </a:rPr>
              <a:t> </a:t>
            </a:r>
            <a:r>
              <a:rPr sz="1400" b="1" dirty="0">
                <a:solidFill>
                  <a:srgbClr val="000000"/>
                </a:solidFill>
                <a:latin typeface="+mn-ea"/>
              </a:rPr>
              <a:t>·</a:t>
            </a:r>
            <a:r>
              <a:rPr lang="en-US" altLang="ko-KR" sz="1400" b="1" dirty="0">
                <a:solidFill>
                  <a:srgbClr val="000000"/>
                </a:solidFill>
                <a:latin typeface="+mn-ea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+mn-ea"/>
              </a:rPr>
              <a:t>지급률</a:t>
            </a:r>
            <a:r>
              <a:rPr sz="1400" b="1" dirty="0">
                <a:solidFill>
                  <a:srgbClr val="000000"/>
                </a:solidFill>
                <a:latin typeface="+mn-ea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+mn-ea"/>
              </a:rPr>
              <a:t>우위는</a:t>
            </a:r>
            <a:r>
              <a:rPr sz="1400" b="1" dirty="0">
                <a:solidFill>
                  <a:srgbClr val="000000"/>
                </a:solidFill>
                <a:latin typeface="+mn-ea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+mn-ea"/>
              </a:rPr>
              <a:t>자본활용</a:t>
            </a:r>
            <a:r>
              <a:rPr lang="ko-KR" altLang="en-US" sz="1400" b="1" dirty="0">
                <a:solidFill>
                  <a:srgbClr val="000000"/>
                </a:solidFill>
                <a:latin typeface="+mn-ea"/>
              </a:rPr>
              <a:t>부문</a:t>
            </a:r>
            <a:r>
              <a:rPr sz="1400" b="1" dirty="0">
                <a:solidFill>
                  <a:srgbClr val="000000"/>
                </a:solidFill>
                <a:latin typeface="+mn-ea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+mn-ea"/>
              </a:rPr>
              <a:t>중심</a:t>
            </a:r>
            <a:r>
              <a:rPr sz="1400" b="1" dirty="0">
                <a:solidFill>
                  <a:srgbClr val="000000"/>
                </a:solidFill>
                <a:latin typeface="+mn-ea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+mn-ea"/>
              </a:rPr>
              <a:t>사업구조와</a:t>
            </a:r>
            <a:r>
              <a:rPr sz="1400" b="1" dirty="0">
                <a:solidFill>
                  <a:srgbClr val="000000"/>
                </a:solidFill>
                <a:latin typeface="+mn-ea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+mn-ea"/>
              </a:rPr>
              <a:t>규모의</a:t>
            </a:r>
            <a:r>
              <a:rPr sz="1400" b="1" dirty="0">
                <a:solidFill>
                  <a:srgbClr val="000000"/>
                </a:solidFill>
                <a:latin typeface="+mn-ea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+mn-ea"/>
              </a:rPr>
              <a:t>경제의</a:t>
            </a:r>
            <a:r>
              <a:rPr sz="1400" b="1" dirty="0">
                <a:solidFill>
                  <a:srgbClr val="000000"/>
                </a:solidFill>
                <a:latin typeface="+mn-ea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+mn-ea"/>
              </a:rPr>
              <a:t>결과</a:t>
            </a:r>
            <a:endParaRPr lang="en-US" altLang="ko-KR" sz="1400" b="1" dirty="0">
              <a:solidFill>
                <a:srgbClr val="000000"/>
              </a:solidFill>
              <a:latin typeface="+mn-ea"/>
            </a:endParaRPr>
          </a:p>
          <a:p>
            <a:pPr marL="465750" lvl="1" indent="-285750">
              <a:lnSpc>
                <a:spcPct val="150000"/>
              </a:lnSpc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en-US" sz="1400" b="1" dirty="0">
                <a:solidFill>
                  <a:srgbClr val="000000"/>
                </a:solidFill>
                <a:latin typeface="+mn-ea"/>
              </a:rPr>
              <a:t>IB/PF </a:t>
            </a:r>
            <a:r>
              <a:rPr lang="ko-KR" altLang="en-US" sz="1400" b="1" dirty="0">
                <a:solidFill>
                  <a:srgbClr val="000000"/>
                </a:solidFill>
                <a:latin typeface="+mn-ea"/>
              </a:rPr>
              <a:t>및 운용부문</a:t>
            </a:r>
            <a:r>
              <a:rPr sz="1400" b="1" dirty="0">
                <a:solidFill>
                  <a:srgbClr val="000000"/>
                </a:solidFill>
                <a:latin typeface="+mn-ea"/>
              </a:rPr>
              <a:t> 등 </a:t>
            </a:r>
            <a:r>
              <a:rPr sz="1400" b="1" dirty="0" err="1">
                <a:solidFill>
                  <a:srgbClr val="FF0000"/>
                </a:solidFill>
                <a:latin typeface="+mn-ea"/>
              </a:rPr>
              <a:t>자본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활용 기반</a:t>
            </a:r>
            <a:r>
              <a:rPr sz="1400" b="1" dirty="0">
                <a:solidFill>
                  <a:srgbClr val="FF0000"/>
                </a:solidFill>
                <a:latin typeface="+mn-ea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+mn-ea"/>
              </a:rPr>
              <a:t>비즈니스</a:t>
            </a:r>
            <a:r>
              <a:rPr sz="1400" b="1" dirty="0">
                <a:solidFill>
                  <a:srgbClr val="FF0000"/>
                </a:solidFill>
                <a:latin typeface="+mn-ea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+mn-ea"/>
              </a:rPr>
              <a:t>확대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로</a:t>
            </a:r>
            <a:r>
              <a:rPr sz="14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sz="1400" b="1" dirty="0">
                <a:solidFill>
                  <a:srgbClr val="FF0000"/>
                </a:solidFill>
                <a:latin typeface="+mn-ea"/>
              </a:rPr>
              <a:t>CIR </a:t>
            </a:r>
            <a:r>
              <a:rPr sz="1400" b="1" dirty="0" err="1">
                <a:solidFill>
                  <a:srgbClr val="FF0000"/>
                </a:solidFill>
                <a:latin typeface="+mn-ea"/>
              </a:rPr>
              <a:t>우위</a:t>
            </a:r>
            <a:r>
              <a:rPr sz="1400" b="1" dirty="0">
                <a:solidFill>
                  <a:srgbClr val="FF0000"/>
                </a:solidFill>
                <a:latin typeface="+mn-ea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+mn-ea"/>
              </a:rPr>
              <a:t>강화</a:t>
            </a:r>
            <a:endParaRPr sz="1400" b="1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35680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1003"/>
          <p:cNvSpPr>
            <a:spLocks noChangeArrowheads="1"/>
          </p:cNvSpPr>
          <p:nvPr/>
        </p:nvSpPr>
        <p:spPr bwMode="auto">
          <a:xfrm>
            <a:off x="594172" y="504267"/>
            <a:ext cx="745282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600" dirty="0">
                <a:solidFill>
                  <a:prstClr val="black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Arial" panose="020B0604020202020204" pitchFamily="34" charset="0"/>
              </a:rPr>
              <a:t>경쟁사 부문별 </a:t>
            </a:r>
            <a:r>
              <a:rPr kumimoji="1" lang="en-US" altLang="ko-KR" sz="1600" dirty="0">
                <a:solidFill>
                  <a:prstClr val="black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Arial" panose="020B0604020202020204" pitchFamily="34" charset="0"/>
              </a:rPr>
              <a:t>CIR </a:t>
            </a:r>
            <a:r>
              <a:rPr kumimoji="1" lang="ko-KR" altLang="en-US" sz="1600" dirty="0">
                <a:solidFill>
                  <a:prstClr val="black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Arial" panose="020B0604020202020204" pitchFamily="34" charset="0"/>
              </a:rPr>
              <a:t>비교 분석</a:t>
            </a:r>
            <a:endParaRPr kumimoji="1" lang="en-US" altLang="ko-KR" sz="1600" dirty="0">
              <a:solidFill>
                <a:prstClr val="black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Arial" panose="020B0604020202020204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F4170DD-7A94-403A-9DB1-77B92A8250CF}"/>
              </a:ext>
            </a:extLst>
          </p:cNvPr>
          <p:cNvSpPr/>
          <p:nvPr/>
        </p:nvSpPr>
        <p:spPr>
          <a:xfrm>
            <a:off x="594173" y="972319"/>
            <a:ext cx="9685075" cy="720000"/>
          </a:xfrm>
          <a:prstGeom prst="rect">
            <a:avLst/>
          </a:prstGeom>
          <a:solidFill>
            <a:srgbClr val="0D4D79"/>
          </a:solidFill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8000"/>
              </a:lnSpc>
            </a:pPr>
            <a:r>
              <a:rPr lang="en-US" altLang="ko-KR" sz="1600" b="1" dirty="0" err="1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Arial" pitchFamily="34" charset="-120"/>
              </a:rPr>
              <a:t>당사</a:t>
            </a:r>
            <a:r>
              <a:rPr lang="en-US" altLang="ko-KR" sz="1600" b="1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Arial" pitchFamily="34" charset="-120"/>
              </a:rPr>
              <a:t> CIR </a:t>
            </a:r>
            <a:r>
              <a:rPr lang="ko-KR" altLang="en-US" sz="1600" b="1" dirty="0">
                <a:solidFill>
                  <a:srgbClr val="FFC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Arial" pitchFamily="34" charset="-120"/>
              </a:rPr>
              <a:t>전사 </a:t>
            </a:r>
            <a:r>
              <a:rPr lang="en-US" altLang="ko-KR" sz="1100" b="1" dirty="0">
                <a:solidFill>
                  <a:srgbClr val="FFC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Arial" pitchFamily="34" charset="-120"/>
              </a:rPr>
              <a:t>(36.9%)</a:t>
            </a:r>
            <a:r>
              <a:rPr lang="en-US" altLang="ko-KR" sz="1600" b="1" dirty="0">
                <a:solidFill>
                  <a:srgbClr val="FFC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Arial" pitchFamily="34" charset="-120"/>
              </a:rPr>
              <a:t> </a:t>
            </a:r>
            <a:r>
              <a:rPr lang="ko-KR" altLang="en-US" sz="1600" b="1" dirty="0">
                <a:solidFill>
                  <a:srgbClr val="FFC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Arial" pitchFamily="34" charset="-120"/>
              </a:rPr>
              <a:t>및</a:t>
            </a:r>
            <a:r>
              <a:rPr lang="en-US" altLang="ko-KR" sz="1600" b="1" dirty="0">
                <a:solidFill>
                  <a:srgbClr val="FFC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Arial" pitchFamily="34" charset="-120"/>
              </a:rPr>
              <a:t> </a:t>
            </a:r>
            <a:r>
              <a:rPr lang="en-US" altLang="ko-KR" sz="1600" b="1" dirty="0" err="1">
                <a:solidFill>
                  <a:srgbClr val="FFC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Arial" pitchFamily="34" charset="-120"/>
              </a:rPr>
              <a:t>홀세일</a:t>
            </a:r>
            <a:r>
              <a:rPr lang="en-US" altLang="ko-KR" sz="1600" b="1" dirty="0">
                <a:solidFill>
                  <a:srgbClr val="FFC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Arial" pitchFamily="34" charset="-120"/>
              </a:rPr>
              <a:t>, IB, PF, </a:t>
            </a:r>
            <a:r>
              <a:rPr lang="en-US" altLang="ko-KR" sz="1600" b="1" dirty="0" err="1">
                <a:solidFill>
                  <a:srgbClr val="FFC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Arial" pitchFamily="34" charset="-120"/>
              </a:rPr>
              <a:t>운용</a:t>
            </a:r>
            <a:r>
              <a:rPr lang="en-US" altLang="ko-KR" sz="1600" b="1" dirty="0">
                <a:solidFill>
                  <a:srgbClr val="FFC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Arial" pitchFamily="34" charset="-120"/>
              </a:rPr>
              <a:t> 전 </a:t>
            </a:r>
            <a:r>
              <a:rPr lang="en-US" altLang="ko-KR" sz="1600" b="1" dirty="0" err="1">
                <a:solidFill>
                  <a:srgbClr val="FFC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Arial" pitchFamily="34" charset="-120"/>
              </a:rPr>
              <a:t>부문에서</a:t>
            </a:r>
            <a:r>
              <a:rPr lang="en-US" altLang="ko-KR" sz="1600" b="1" dirty="0">
                <a:solidFill>
                  <a:srgbClr val="FFC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Arial" pitchFamily="34" charset="-120"/>
              </a:rPr>
              <a:t> </a:t>
            </a:r>
            <a:r>
              <a:rPr lang="en-US" altLang="ko-KR" sz="1600" b="1" dirty="0" err="1">
                <a:solidFill>
                  <a:srgbClr val="FFC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Arial" pitchFamily="34" charset="-120"/>
              </a:rPr>
              <a:t>경쟁사</a:t>
            </a:r>
            <a:r>
              <a:rPr lang="en-US" altLang="ko-KR" sz="1600" b="1" dirty="0">
                <a:solidFill>
                  <a:srgbClr val="FFC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Arial" pitchFamily="34" charset="-120"/>
              </a:rPr>
              <a:t> </a:t>
            </a:r>
            <a:r>
              <a:rPr lang="en-US" altLang="ko-KR" sz="1600" b="1" dirty="0" err="1">
                <a:solidFill>
                  <a:srgbClr val="FFC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Arial" pitchFamily="34" charset="-120"/>
              </a:rPr>
              <a:t>평균</a:t>
            </a:r>
            <a:r>
              <a:rPr lang="en-US" altLang="ko-KR" sz="1600" b="1" dirty="0">
                <a:solidFill>
                  <a:srgbClr val="FFC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Arial" pitchFamily="34" charset="-120"/>
              </a:rPr>
              <a:t> </a:t>
            </a:r>
            <a:r>
              <a:rPr lang="en-US" altLang="ko-KR" sz="1600" b="1" dirty="0" err="1">
                <a:solidFill>
                  <a:srgbClr val="FFC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Arial" pitchFamily="34" charset="-120"/>
              </a:rPr>
              <a:t>대비</a:t>
            </a:r>
            <a:r>
              <a:rPr lang="en-US" altLang="ko-KR" sz="1600" b="1" dirty="0">
                <a:solidFill>
                  <a:srgbClr val="FFC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Arial" pitchFamily="34" charset="-120"/>
              </a:rPr>
              <a:t> </a:t>
            </a:r>
            <a:r>
              <a:rPr lang="en-US" altLang="ko-KR" sz="1600" b="1" dirty="0" err="1">
                <a:solidFill>
                  <a:srgbClr val="FFC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Arial" pitchFamily="34" charset="-120"/>
              </a:rPr>
              <a:t>우위</a:t>
            </a:r>
            <a:endParaRPr lang="en-US" altLang="ko-KR" sz="1600" dirty="0">
              <a:solidFill>
                <a:srgbClr val="FFC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ctr">
              <a:lnSpc>
                <a:spcPct val="118000"/>
              </a:lnSpc>
            </a:pPr>
            <a:r>
              <a:rPr lang="en-US" altLang="ko-KR" sz="1600" b="1" dirty="0" err="1">
                <a:solidFill>
                  <a:srgbClr val="FFC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Arial" pitchFamily="34" charset="-120"/>
              </a:rPr>
              <a:t>자본활용</a:t>
            </a:r>
            <a:r>
              <a:rPr lang="ko-KR" altLang="en-US" sz="1600" b="1" dirty="0">
                <a:solidFill>
                  <a:srgbClr val="FFC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Arial" pitchFamily="34" charset="-120"/>
              </a:rPr>
              <a:t>부문 </a:t>
            </a:r>
            <a:r>
              <a:rPr lang="en-US" altLang="ko-KR" sz="1100" b="1" dirty="0">
                <a:solidFill>
                  <a:srgbClr val="FFC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Arial" pitchFamily="34" charset="-120"/>
              </a:rPr>
              <a:t>(IB, PF, </a:t>
            </a:r>
            <a:r>
              <a:rPr lang="en-US" altLang="ko-KR" sz="1100" b="1" dirty="0" err="1">
                <a:solidFill>
                  <a:srgbClr val="FFC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Arial" pitchFamily="34" charset="-120"/>
              </a:rPr>
              <a:t>운용</a:t>
            </a:r>
            <a:r>
              <a:rPr lang="en-US" altLang="ko-KR" sz="1100" b="1" dirty="0">
                <a:solidFill>
                  <a:srgbClr val="FFC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Arial" pitchFamily="34" charset="-120"/>
              </a:rPr>
              <a:t>)</a:t>
            </a:r>
            <a:r>
              <a:rPr lang="en-US" altLang="ko-KR" sz="1600" b="1" dirty="0">
                <a:solidFill>
                  <a:srgbClr val="FFC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Arial" pitchFamily="34" charset="-120"/>
              </a:rPr>
              <a:t> </a:t>
            </a:r>
            <a:r>
              <a:rPr lang="en-US" altLang="ko-KR" sz="1600" b="1" dirty="0" err="1">
                <a:solidFill>
                  <a:srgbClr val="FFC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Arial" pitchFamily="34" charset="-120"/>
              </a:rPr>
              <a:t>CIR은</a:t>
            </a:r>
            <a:r>
              <a:rPr lang="en-US" altLang="ko-KR" sz="1600" b="1" dirty="0">
                <a:solidFill>
                  <a:srgbClr val="FFC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Arial" pitchFamily="34" charset="-120"/>
              </a:rPr>
              <a:t> 27.3%</a:t>
            </a:r>
            <a:r>
              <a:rPr lang="en-US" altLang="ko-KR" sz="1600" b="1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Arial" pitchFamily="34" charset="-120"/>
              </a:rPr>
              <a:t>로 </a:t>
            </a:r>
            <a:r>
              <a:rPr lang="en-US" altLang="ko-KR" sz="1600" b="1" dirty="0" err="1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Arial" pitchFamily="34" charset="-120"/>
              </a:rPr>
              <a:t>압도적</a:t>
            </a:r>
            <a:r>
              <a:rPr lang="en-US" altLang="ko-KR" sz="1600" b="1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Arial" pitchFamily="34" charset="-120"/>
              </a:rPr>
              <a:t> </a:t>
            </a:r>
            <a:r>
              <a:rPr lang="ko-KR" altLang="en-US" sz="1600" b="1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Arial" pitchFamily="34" charset="-120"/>
              </a:rPr>
              <a:t>우위</a:t>
            </a:r>
            <a:endParaRPr lang="en-US" altLang="ko-KR" sz="1600" b="1" dirty="0"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" name="모서리가 둥근 직사각형 7">
            <a:extLst>
              <a:ext uri="{FF2B5EF4-FFF2-40B4-BE49-F238E27FC236}">
                <a16:creationId xmlns:a16="http://schemas.microsoft.com/office/drawing/2014/main" id="{1CECFC9A-BC95-4C29-8665-CAAE23444B20}"/>
              </a:ext>
            </a:extLst>
          </p:cNvPr>
          <p:cNvSpPr/>
          <p:nvPr/>
        </p:nvSpPr>
        <p:spPr>
          <a:xfrm>
            <a:off x="594172" y="1836415"/>
            <a:ext cx="1620000" cy="252000"/>
          </a:xfrm>
          <a:prstGeom prst="roundRect">
            <a:avLst/>
          </a:prstGeom>
          <a:solidFill>
            <a:srgbClr val="0D4D79"/>
          </a:solidFill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부문별</a:t>
            </a:r>
            <a:r>
              <a:rPr lang="en-US" altLang="ko-KR" sz="1200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CIR</a:t>
            </a:r>
            <a:endParaRPr lang="ko-KR" altLang="en-US" sz="100" baseline="30000" dirty="0"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DAB75935-7C73-456E-8EED-0949345C60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7314470"/>
              </p:ext>
            </p:extLst>
          </p:nvPr>
        </p:nvGraphicFramePr>
        <p:xfrm>
          <a:off x="594172" y="2160452"/>
          <a:ext cx="5862177" cy="2880000"/>
        </p:xfrm>
        <a:graphic>
          <a:graphicData uri="http://schemas.openxmlformats.org/drawingml/2006/table">
            <a:tbl>
              <a:tblPr/>
              <a:tblGrid>
                <a:gridCol w="932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1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41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41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41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41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419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부문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4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당사</a:t>
                      </a:r>
                      <a:endParaRPr lang="en-US" sz="9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19050" cap="flat" cmpd="sng" algn="ctr">
                      <a:solidFill>
                        <a:srgbClr val="0D4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4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D4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미래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19050" cap="flat" cmpd="sng" algn="ctr">
                      <a:solidFill>
                        <a:srgbClr val="0D4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NH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삼성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KB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경쟁사 평균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당사-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경쟁사평균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rgbClr val="3C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리테일</a:t>
                      </a:r>
                      <a:endParaRPr lang="en-US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4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D4D79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49.4</a:t>
                      </a:r>
                      <a:endParaRPr 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19050" cap="flat" cmpd="sng" algn="ctr">
                      <a:solidFill>
                        <a:srgbClr val="0D4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4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rgbClr val="3C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55.6</a:t>
                      </a:r>
                      <a:endParaRPr lang="en-US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19050" cap="flat" cmpd="sng" algn="ctr">
                      <a:solidFill>
                        <a:srgbClr val="0D4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rgbClr val="3C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48.6</a:t>
                      </a:r>
                      <a:endParaRPr lang="en-US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rgbClr val="3C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35.1</a:t>
                      </a:r>
                      <a:endParaRPr lang="en-US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rgbClr val="3C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36.6</a:t>
                      </a:r>
                      <a:endParaRPr lang="en-US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rgbClr val="3C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44.0</a:t>
                      </a:r>
                      <a:endParaRPr lang="en-US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+5.4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rgbClr val="3C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홀세일</a:t>
                      </a:r>
                      <a:endParaRPr lang="en-US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4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D4D79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31.9</a:t>
                      </a:r>
                      <a:endParaRPr 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19050" cap="flat" cmpd="sng" algn="ctr">
                      <a:solidFill>
                        <a:srgbClr val="0D4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4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rgbClr val="3C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41.8</a:t>
                      </a:r>
                      <a:endParaRPr lang="en-US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19050" cap="flat" cmpd="sng" algn="ctr">
                      <a:solidFill>
                        <a:srgbClr val="0D4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rgbClr val="3C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31.2</a:t>
                      </a:r>
                      <a:endParaRPr lang="en-US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rgbClr val="3C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30.4</a:t>
                      </a:r>
                      <a:endParaRPr lang="en-US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rgbClr val="3C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31.9</a:t>
                      </a:r>
                      <a:endParaRPr lang="en-US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rgbClr val="3C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33.8</a:t>
                      </a:r>
                      <a:endParaRPr lang="en-US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-1.9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rgbClr val="3C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IB</a:t>
                      </a:r>
                      <a:endParaRPr lang="en-US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4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D4D79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39.0</a:t>
                      </a:r>
                      <a:endParaRPr 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19050" cap="flat" cmpd="sng" algn="ctr">
                      <a:solidFill>
                        <a:srgbClr val="0D4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4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rgbClr val="3C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77.3</a:t>
                      </a:r>
                      <a:endParaRPr lang="en-US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19050" cap="flat" cmpd="sng" algn="ctr">
                      <a:solidFill>
                        <a:srgbClr val="0D4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rgbClr val="3C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46.7</a:t>
                      </a:r>
                      <a:endParaRPr lang="en-US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rgbClr val="3C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52.3</a:t>
                      </a:r>
                      <a:endParaRPr lang="en-US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rgbClr val="3C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89.6</a:t>
                      </a:r>
                      <a:endParaRPr lang="en-US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rgbClr val="3C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66.5</a:t>
                      </a:r>
                      <a:endParaRPr lang="en-US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-27.5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rgbClr val="3C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PF</a:t>
                      </a:r>
                      <a:endParaRPr lang="en-US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4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D4D79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30.5</a:t>
                      </a:r>
                      <a:endParaRPr 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19050" cap="flat" cmpd="sng" algn="ctr">
                      <a:solidFill>
                        <a:srgbClr val="0D4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4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rgbClr val="3C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61.5</a:t>
                      </a:r>
                      <a:endParaRPr lang="en-US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19050" cap="flat" cmpd="sng" algn="ctr">
                      <a:solidFill>
                        <a:srgbClr val="0D4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rgbClr val="3C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57.9</a:t>
                      </a:r>
                      <a:endParaRPr lang="en-US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rgbClr val="3C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27.1</a:t>
                      </a:r>
                      <a:endParaRPr lang="en-US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rgbClr val="3C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71.2</a:t>
                      </a:r>
                      <a:endParaRPr lang="en-US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rgbClr val="3C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54.4</a:t>
                      </a:r>
                      <a:endParaRPr lang="en-US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-23.9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rgbClr val="3C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운용</a:t>
                      </a:r>
                      <a:endParaRPr lang="en-US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4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D4D79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22.0</a:t>
                      </a:r>
                      <a:endParaRPr 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19050" cap="flat" cmpd="sng" algn="ctr">
                      <a:solidFill>
                        <a:srgbClr val="0D4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4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rgbClr val="3C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55.1</a:t>
                      </a:r>
                      <a:endParaRPr lang="en-US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19050" cap="flat" cmpd="sng" algn="ctr">
                      <a:solidFill>
                        <a:srgbClr val="0D4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rgbClr val="3C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37.0</a:t>
                      </a:r>
                      <a:endParaRPr lang="en-US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rgbClr val="3C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63.4</a:t>
                      </a:r>
                      <a:endParaRPr lang="en-US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rgbClr val="3C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적자*</a:t>
                      </a:r>
                      <a:endParaRPr lang="en-US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rgbClr val="3C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51.8</a:t>
                      </a:r>
                      <a:endParaRPr lang="en-US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-29.8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 err="1">
                          <a:solidFill>
                            <a:srgbClr val="3C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자본활용</a:t>
                      </a:r>
                      <a:r>
                        <a:rPr lang="ko-KR" altLang="en-US" sz="900" b="0" dirty="0">
                          <a:solidFill>
                            <a:srgbClr val="3C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부문 </a:t>
                      </a:r>
                      <a:r>
                        <a:rPr lang="en-US" sz="900" b="0" dirty="0">
                          <a:solidFill>
                            <a:srgbClr val="3C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계</a:t>
                      </a:r>
                      <a:endParaRPr lang="en-US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4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D4D79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27.3</a:t>
                      </a:r>
                      <a:endParaRPr 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19050" cap="flat" cmpd="sng" algn="ctr">
                      <a:solidFill>
                        <a:srgbClr val="0D4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4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rgbClr val="3C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65.2</a:t>
                      </a:r>
                      <a:endParaRPr lang="en-US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19050" cap="flat" cmpd="sng" algn="ctr">
                      <a:solidFill>
                        <a:srgbClr val="0D4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rgbClr val="3C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44.5</a:t>
                      </a:r>
                      <a:endParaRPr lang="en-US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rgbClr val="3C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43.4</a:t>
                      </a:r>
                      <a:endParaRPr lang="en-US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rgbClr val="3C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154.6</a:t>
                      </a:r>
                      <a:endParaRPr lang="en-US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rgbClr val="3C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76.9</a:t>
                      </a:r>
                      <a:endParaRPr lang="en-US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-49.6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C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회사계</a:t>
                      </a:r>
                      <a:endParaRPr 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4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C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36.9</a:t>
                      </a:r>
                      <a:endParaRPr lang="en-US" sz="900" b="1" dirty="0">
                        <a:solidFill>
                          <a:srgbClr val="FFC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19050" cap="flat" cmpd="sng" algn="ctr">
                      <a:solidFill>
                        <a:srgbClr val="0D4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4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4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D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C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54.1</a:t>
                      </a:r>
                      <a:endParaRPr 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19050" cap="flat" cmpd="sng" algn="ctr">
                      <a:solidFill>
                        <a:srgbClr val="0D4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C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45.0</a:t>
                      </a:r>
                      <a:endParaRPr 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C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37.2</a:t>
                      </a:r>
                      <a:endParaRPr 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C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39.8</a:t>
                      </a:r>
                      <a:endParaRPr 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C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44.0</a:t>
                      </a:r>
                      <a:endParaRPr lang="en-US" sz="9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-120"/>
                        </a:rPr>
                        <a:t>-7.1</a:t>
                      </a:r>
                      <a:endParaRPr lang="en-US" sz="9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66930256-3956-4B5B-B150-ACFB3680890C}"/>
              </a:ext>
            </a:extLst>
          </p:cNvPr>
          <p:cNvSpPr/>
          <p:nvPr/>
        </p:nvSpPr>
        <p:spPr>
          <a:xfrm>
            <a:off x="6822864" y="1836415"/>
            <a:ext cx="1620000" cy="252000"/>
          </a:xfrm>
          <a:prstGeom prst="roundRect">
            <a:avLst/>
          </a:prstGeom>
          <a:solidFill>
            <a:srgbClr val="0D4D79"/>
          </a:solidFill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자본활용부문</a:t>
            </a:r>
            <a:r>
              <a:rPr lang="en-US" altLang="ko-KR" sz="1200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비교</a:t>
            </a:r>
            <a:endParaRPr lang="ko-KR" altLang="en-US" sz="100" baseline="30000" dirty="0"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BDA1CCF6-5E75-4FDC-9CCC-09D274F9D089}"/>
              </a:ext>
            </a:extLst>
          </p:cNvPr>
          <p:cNvSpPr/>
          <p:nvPr/>
        </p:nvSpPr>
        <p:spPr>
          <a:xfrm>
            <a:off x="6822864" y="2160451"/>
            <a:ext cx="3456384" cy="288000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1" name="Text 13">
            <a:extLst>
              <a:ext uri="{FF2B5EF4-FFF2-40B4-BE49-F238E27FC236}">
                <a16:creationId xmlns:a16="http://schemas.microsoft.com/office/drawing/2014/main" id="{4893DFEA-A954-4E25-997E-1F7FECCA1CB4}"/>
              </a:ext>
            </a:extLst>
          </p:cNvPr>
          <p:cNvSpPr/>
          <p:nvPr/>
        </p:nvSpPr>
        <p:spPr>
          <a:xfrm>
            <a:off x="7002883" y="2263454"/>
            <a:ext cx="2880000" cy="2011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50" b="1" dirty="0">
                <a:solidFill>
                  <a:srgbClr val="0D4D7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자본활용부문 </a:t>
            </a:r>
            <a:r>
              <a:rPr lang="en-US" altLang="ko-KR" sz="1050" b="1" dirty="0">
                <a:solidFill>
                  <a:srgbClr val="0D4D7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(</a:t>
            </a:r>
            <a:r>
              <a:rPr lang="en-US" sz="1050" b="1" dirty="0">
                <a:solidFill>
                  <a:srgbClr val="0D4D7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IB, PF, </a:t>
            </a:r>
            <a:r>
              <a:rPr lang="en-US" sz="1050" b="1" dirty="0" err="1">
                <a:solidFill>
                  <a:srgbClr val="0D4D7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운용</a:t>
            </a:r>
            <a:r>
              <a:rPr lang="en-US" sz="1050" b="1" dirty="0">
                <a:solidFill>
                  <a:srgbClr val="0D4D7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sz="1050" b="1" dirty="0" err="1">
                <a:solidFill>
                  <a:srgbClr val="0D4D7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합산</a:t>
            </a:r>
            <a:r>
              <a:rPr lang="en-US" sz="1050" b="1" dirty="0">
                <a:solidFill>
                  <a:srgbClr val="0D4D7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) CIR</a:t>
            </a:r>
            <a:endParaRPr lang="en-US" sz="1050" b="1" dirty="0">
              <a:solidFill>
                <a:srgbClr val="0D4D79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 14">
            <a:extLst>
              <a:ext uri="{FF2B5EF4-FFF2-40B4-BE49-F238E27FC236}">
                <a16:creationId xmlns:a16="http://schemas.microsoft.com/office/drawing/2014/main" id="{AD4CF45A-50C7-4620-BFA8-C81B58770093}"/>
              </a:ext>
            </a:extLst>
          </p:cNvPr>
          <p:cNvSpPr/>
          <p:nvPr/>
        </p:nvSpPr>
        <p:spPr>
          <a:xfrm>
            <a:off x="7002883" y="2464652"/>
            <a:ext cx="2880000" cy="384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200" b="1" u="sng" dirty="0">
                <a:solidFill>
                  <a:srgbClr val="0D4D7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당사 </a:t>
            </a:r>
            <a:r>
              <a:rPr lang="en-US" sz="1200" b="1" u="sng" dirty="0">
                <a:solidFill>
                  <a:srgbClr val="0D4D7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27.3%</a:t>
            </a:r>
            <a:r>
              <a:rPr lang="en-US" sz="1200" dirty="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 vs </a:t>
            </a:r>
            <a:r>
              <a:rPr lang="en-US" sz="12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경쟁사 43.4~154.6</a:t>
            </a:r>
            <a:r>
              <a:rPr lang="en-US" sz="105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%</a:t>
            </a:r>
            <a:endParaRPr lang="en-US" sz="2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130EB698-532E-49DA-B7B9-9EB6E1754BB8}"/>
              </a:ext>
            </a:extLst>
          </p:cNvPr>
          <p:cNvSpPr/>
          <p:nvPr/>
        </p:nvSpPr>
        <p:spPr>
          <a:xfrm>
            <a:off x="7002884" y="2948755"/>
            <a:ext cx="2880000" cy="21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0D4D7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▸</a:t>
            </a:r>
            <a:endParaRPr 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 16">
            <a:extLst>
              <a:ext uri="{FF2B5EF4-FFF2-40B4-BE49-F238E27FC236}">
                <a16:creationId xmlns:a16="http://schemas.microsoft.com/office/drawing/2014/main" id="{B45F1DC6-2EA3-4A19-931E-37EEA58C5508}"/>
              </a:ext>
            </a:extLst>
          </p:cNvPr>
          <p:cNvSpPr/>
          <p:nvPr/>
        </p:nvSpPr>
        <p:spPr>
          <a:xfrm>
            <a:off x="7111216" y="2880533"/>
            <a:ext cx="2880000" cy="548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000" b="1" dirty="0">
                <a:solidFill>
                  <a:srgbClr val="0D4D7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KB: </a:t>
            </a:r>
            <a:r>
              <a:rPr lang="en-US" sz="1000" dirty="0" err="1">
                <a:solidFill>
                  <a:srgbClr val="3C435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자본활용</a:t>
            </a:r>
            <a:r>
              <a:rPr lang="ko-KR" altLang="en-US" sz="1000" dirty="0">
                <a:solidFill>
                  <a:srgbClr val="3C435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부문</a:t>
            </a:r>
            <a:r>
              <a:rPr lang="en-US" sz="1000" dirty="0">
                <a:solidFill>
                  <a:srgbClr val="3C435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수익 915억이 판관비 1,415억에 </a:t>
            </a:r>
            <a:r>
              <a:rPr lang="en-US" sz="1000" dirty="0" err="1">
                <a:solidFill>
                  <a:srgbClr val="3C435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미달</a:t>
            </a:r>
            <a:r>
              <a:rPr lang="en-US" sz="1000" dirty="0">
                <a:solidFill>
                  <a:srgbClr val="3C435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(CIR 155%), 운용은 </a:t>
            </a:r>
            <a:r>
              <a:rPr lang="en-US" sz="1000" dirty="0" err="1">
                <a:solidFill>
                  <a:srgbClr val="3C435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수익</a:t>
            </a:r>
            <a:r>
              <a:rPr lang="en-US" sz="1000" dirty="0">
                <a:solidFill>
                  <a:srgbClr val="3C435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-198억 적자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 17">
            <a:extLst>
              <a:ext uri="{FF2B5EF4-FFF2-40B4-BE49-F238E27FC236}">
                <a16:creationId xmlns:a16="http://schemas.microsoft.com/office/drawing/2014/main" id="{FE5F2EF4-1F02-4D09-94A0-4C4E396EB8F3}"/>
              </a:ext>
            </a:extLst>
          </p:cNvPr>
          <p:cNvSpPr/>
          <p:nvPr/>
        </p:nvSpPr>
        <p:spPr>
          <a:xfrm>
            <a:off x="7002884" y="3476120"/>
            <a:ext cx="2880000" cy="21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0D4D7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▸</a:t>
            </a:r>
            <a:endParaRPr 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 18">
            <a:extLst>
              <a:ext uri="{FF2B5EF4-FFF2-40B4-BE49-F238E27FC236}">
                <a16:creationId xmlns:a16="http://schemas.microsoft.com/office/drawing/2014/main" id="{EA8DD236-DE3A-4D10-8CE4-C62B10AF8658}"/>
              </a:ext>
            </a:extLst>
          </p:cNvPr>
          <p:cNvSpPr/>
          <p:nvPr/>
        </p:nvSpPr>
        <p:spPr>
          <a:xfrm>
            <a:off x="7111216" y="3428495"/>
            <a:ext cx="2880000" cy="548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000" dirty="0">
                <a:solidFill>
                  <a:srgbClr val="3C435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미래 IB 77% · KB IB 90% 등 </a:t>
            </a:r>
          </a:p>
          <a:p>
            <a:pPr>
              <a:lnSpc>
                <a:spcPct val="118000"/>
              </a:lnSpc>
            </a:pPr>
            <a:r>
              <a:rPr lang="en-US" sz="1000" b="1" dirty="0" err="1">
                <a:solidFill>
                  <a:srgbClr val="0D4D7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규모</a:t>
            </a:r>
            <a:r>
              <a:rPr lang="en-US" sz="1000" b="1" dirty="0">
                <a:solidFill>
                  <a:srgbClr val="0D4D7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미달 부문은 고정비가 수익을 잠식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 19">
            <a:extLst>
              <a:ext uri="{FF2B5EF4-FFF2-40B4-BE49-F238E27FC236}">
                <a16:creationId xmlns:a16="http://schemas.microsoft.com/office/drawing/2014/main" id="{61542F52-098D-45E1-8195-54CA40F8D8C7}"/>
              </a:ext>
            </a:extLst>
          </p:cNvPr>
          <p:cNvSpPr/>
          <p:nvPr/>
        </p:nvSpPr>
        <p:spPr>
          <a:xfrm>
            <a:off x="7002884" y="4022815"/>
            <a:ext cx="2880000" cy="21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0D4D7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▸</a:t>
            </a:r>
            <a:endParaRPr 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Text 20">
            <a:extLst>
              <a:ext uri="{FF2B5EF4-FFF2-40B4-BE49-F238E27FC236}">
                <a16:creationId xmlns:a16="http://schemas.microsoft.com/office/drawing/2014/main" id="{5BBE3E48-2DED-443C-A725-F5869C670050}"/>
              </a:ext>
            </a:extLst>
          </p:cNvPr>
          <p:cNvSpPr/>
          <p:nvPr/>
        </p:nvSpPr>
        <p:spPr>
          <a:xfrm>
            <a:off x="7111216" y="3956140"/>
            <a:ext cx="2880000" cy="548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000" dirty="0">
                <a:solidFill>
                  <a:srgbClr val="3C435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당사는 전 부문에서 수익이 고정판관비를 </a:t>
            </a:r>
            <a:r>
              <a:rPr lang="en-US" sz="1000" dirty="0" err="1">
                <a:solidFill>
                  <a:srgbClr val="3C435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상회</a:t>
            </a:r>
            <a:r>
              <a:rPr lang="en-US" sz="1000" dirty="0">
                <a:solidFill>
                  <a:srgbClr val="3C435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</a:t>
            </a:r>
          </a:p>
          <a:p>
            <a:pPr>
              <a:lnSpc>
                <a:spcPct val="118000"/>
              </a:lnSpc>
            </a:pPr>
            <a:r>
              <a:rPr lang="en-US" sz="1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⇒ 규모의 경제 </a:t>
            </a:r>
            <a:r>
              <a:rPr lang="en-US" sz="1000" b="1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확보의</a:t>
            </a:r>
            <a:r>
              <a:rPr lang="en-US" sz="1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sz="1000" b="1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성과</a:t>
            </a:r>
            <a:endParaRPr lang="en-US" sz="1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-120"/>
            </a:endParaRPr>
          </a:p>
        </p:txBody>
      </p:sp>
      <p:sp>
        <p:nvSpPr>
          <p:cNvPr id="19" name="Shape 21">
            <a:extLst>
              <a:ext uri="{FF2B5EF4-FFF2-40B4-BE49-F238E27FC236}">
                <a16:creationId xmlns:a16="http://schemas.microsoft.com/office/drawing/2014/main" id="{956F7013-3210-431E-A629-8C4E86B5BED9}"/>
              </a:ext>
            </a:extLst>
          </p:cNvPr>
          <p:cNvSpPr/>
          <p:nvPr/>
        </p:nvSpPr>
        <p:spPr>
          <a:xfrm flipV="1">
            <a:off x="6967056" y="4500712"/>
            <a:ext cx="3168000" cy="0"/>
          </a:xfrm>
          <a:prstGeom prst="rect">
            <a:avLst/>
          </a:prstGeom>
          <a:solidFill>
            <a:srgbClr val="DDE1E6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</p:sp>
      <p:sp>
        <p:nvSpPr>
          <p:cNvPr id="20" name="Text 22">
            <a:extLst>
              <a:ext uri="{FF2B5EF4-FFF2-40B4-BE49-F238E27FC236}">
                <a16:creationId xmlns:a16="http://schemas.microsoft.com/office/drawing/2014/main" id="{309C3B95-8CAA-49AD-9E5C-DB359554DA61}"/>
              </a:ext>
            </a:extLst>
          </p:cNvPr>
          <p:cNvSpPr/>
          <p:nvPr/>
        </p:nvSpPr>
        <p:spPr>
          <a:xfrm>
            <a:off x="7002883" y="4603527"/>
            <a:ext cx="2880000" cy="329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000" b="1" dirty="0">
                <a:solidFill>
                  <a:srgbClr val="0D4D7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시사점: </a:t>
            </a:r>
            <a:r>
              <a:rPr lang="en-US" sz="1000" b="1" dirty="0">
                <a:solidFill>
                  <a:srgbClr val="3C435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자본 비즈니스는 규모가 원가 경쟁력을 좌우, 발행어음·IMA 확대는 당사 우위를 강화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모서리가 둥근 직사각형 7">
            <a:extLst>
              <a:ext uri="{FF2B5EF4-FFF2-40B4-BE49-F238E27FC236}">
                <a16:creationId xmlns:a16="http://schemas.microsoft.com/office/drawing/2014/main" id="{C8F42654-DD4B-4833-A1A8-81371E8BEBD1}"/>
              </a:ext>
            </a:extLst>
          </p:cNvPr>
          <p:cNvSpPr/>
          <p:nvPr/>
        </p:nvSpPr>
        <p:spPr>
          <a:xfrm>
            <a:off x="594172" y="5364635"/>
            <a:ext cx="1620000" cy="252000"/>
          </a:xfrm>
          <a:prstGeom prst="roundRect">
            <a:avLst/>
          </a:prstGeom>
          <a:solidFill>
            <a:srgbClr val="0D4D79"/>
          </a:solidFill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성과급 지급률</a:t>
            </a:r>
            <a:endParaRPr lang="ko-KR" altLang="en-US" sz="100" baseline="30000" dirty="0"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graphicFrame>
        <p:nvGraphicFramePr>
          <p:cNvPr id="23" name="Table 1">
            <a:extLst>
              <a:ext uri="{FF2B5EF4-FFF2-40B4-BE49-F238E27FC236}">
                <a16:creationId xmlns:a16="http://schemas.microsoft.com/office/drawing/2014/main" id="{46E3887A-FBDC-4BA3-AE08-2E011F9837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5327911"/>
              </p:ext>
            </p:extLst>
          </p:nvPr>
        </p:nvGraphicFramePr>
        <p:xfrm>
          <a:off x="594172" y="5688843"/>
          <a:ext cx="5862177" cy="1080000"/>
        </p:xfrm>
        <a:graphic>
          <a:graphicData uri="http://schemas.openxmlformats.org/drawingml/2006/table">
            <a:tbl>
              <a:tblPr/>
              <a:tblGrid>
                <a:gridCol w="932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1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41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41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41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41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419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구분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4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당사</a:t>
                      </a:r>
                      <a:endParaRPr lang="en-US" sz="900" b="1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19050" cap="flat" cmpd="sng" algn="ctr">
                      <a:solidFill>
                        <a:srgbClr val="0D4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4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D4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미래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19050" cap="flat" cmpd="sng" algn="ctr">
                      <a:solidFill>
                        <a:srgbClr val="0D4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NH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삼성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KB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경쟁사 평균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당사-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경쟁사평균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6" marR="27436" marT="27436" marB="2743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rgbClr val="3C43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회사계</a:t>
                      </a:r>
                      <a:endParaRPr lang="en-US" sz="9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91" marR="18291" marT="18291" marB="18291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4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D4D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16.9</a:t>
                      </a:r>
                      <a:endParaRPr lang="en-US" sz="9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91" marR="18291" marT="18291" marB="18291" anchor="ctr">
                    <a:lnL w="19050" cap="flat" cmpd="sng" algn="ctr">
                      <a:solidFill>
                        <a:srgbClr val="0D4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4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rgbClr val="3C43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26.3</a:t>
                      </a:r>
                      <a:endParaRPr lang="en-US" sz="9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91" marR="18291" marT="18291" marB="18291" anchor="ctr">
                    <a:lnL w="19050" cap="flat" cmpd="sng" algn="ctr">
                      <a:solidFill>
                        <a:srgbClr val="0D4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rgbClr val="3C43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16.0</a:t>
                      </a:r>
                      <a:endParaRPr lang="en-US" sz="9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91" marR="18291" marT="18291" marB="1829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rgbClr val="3C43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10.9</a:t>
                      </a:r>
                      <a:endParaRPr lang="en-US" sz="9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91" marR="18291" marT="18291" marB="1829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rgbClr val="3C43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17.1</a:t>
                      </a:r>
                      <a:endParaRPr lang="en-US" sz="9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91" marR="18291" marT="18291" marB="1829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rgbClr val="3C43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17.6</a:t>
                      </a:r>
                      <a:endParaRPr lang="en-US" sz="9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91" marR="18291" marT="18291" marB="1829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rgbClr val="3C43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-0.7</a:t>
                      </a:r>
                      <a:endParaRPr lang="en-US" sz="9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91" marR="18291" marT="18291" marB="1829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rgbClr val="3C43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리테일</a:t>
                      </a:r>
                      <a:endParaRPr lang="en-US" sz="9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91" marR="18291" marT="18291" marB="18291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4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D4D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24.7</a:t>
                      </a:r>
                      <a:endParaRPr lang="en-US" sz="9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91" marR="18291" marT="18291" marB="18291" anchor="ctr">
                    <a:lnL w="19050" cap="flat" cmpd="sng" algn="ctr">
                      <a:solidFill>
                        <a:srgbClr val="0D4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4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4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rgbClr val="3C43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30.6</a:t>
                      </a:r>
                      <a:endParaRPr lang="en-US" sz="9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91" marR="18291" marT="18291" marB="18291" anchor="ctr">
                    <a:lnL w="19050" cap="flat" cmpd="sng" algn="ctr">
                      <a:solidFill>
                        <a:srgbClr val="0D4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rgbClr val="3C43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18.7</a:t>
                      </a:r>
                      <a:endParaRPr lang="en-US" sz="9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91" marR="18291" marT="18291" marB="1829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rgbClr val="3C43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</a:t>
                      </a:r>
                      <a:endParaRPr lang="en-US" sz="9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91" marR="18291" marT="18291" marB="1829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rgbClr val="3C43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19.7</a:t>
                      </a:r>
                      <a:endParaRPr lang="en-US" sz="9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91" marR="18291" marT="18291" marB="1829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rgbClr val="3C43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19.6</a:t>
                      </a:r>
                      <a:endParaRPr lang="en-US" sz="9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91" marR="18291" marT="18291" marB="1829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rgbClr val="3C43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+5.1</a:t>
                      </a:r>
                      <a:endParaRPr lang="en-US" sz="9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91" marR="18291" marT="18291" marB="1829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Shape 26">
            <a:extLst>
              <a:ext uri="{FF2B5EF4-FFF2-40B4-BE49-F238E27FC236}">
                <a16:creationId xmlns:a16="http://schemas.microsoft.com/office/drawing/2014/main" id="{269B7211-D955-4A8B-B033-B272D9F2E0BA}"/>
              </a:ext>
            </a:extLst>
          </p:cNvPr>
          <p:cNvSpPr/>
          <p:nvPr/>
        </p:nvSpPr>
        <p:spPr>
          <a:xfrm>
            <a:off x="6822864" y="5688844"/>
            <a:ext cx="3456384" cy="1080000"/>
          </a:xfrm>
          <a:prstGeom prst="rect">
            <a:avLst/>
          </a:prstGeom>
          <a:solidFill>
            <a:srgbClr val="0D4D79"/>
          </a:solidFill>
          <a:ln/>
        </p:spPr>
        <p:txBody>
          <a:bodyPr anchor="ctr" anchorCtr="0"/>
          <a:lstStyle/>
          <a:p>
            <a:pPr latinLnBrk="0">
              <a:lnSpc>
                <a:spcPct val="125000"/>
              </a:lnSpc>
            </a:pPr>
            <a:r>
              <a:rPr lang="en-US" altLang="ko-KR" sz="1200" b="1" dirty="0" err="1">
                <a:solidFill>
                  <a:srgbClr val="FFC000"/>
                </a:solidFill>
                <a:latin typeface="맑은 고딕" panose="020B0503020000020004" pitchFamily="50" charset="-127"/>
                <a:cs typeface="Arial" pitchFamily="34" charset="-120"/>
              </a:rPr>
              <a:t>당사</a:t>
            </a:r>
            <a:r>
              <a:rPr lang="en-US" altLang="ko-KR" sz="1200" b="1" dirty="0">
                <a:solidFill>
                  <a:srgbClr val="FFC000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ko-KR" altLang="en-US" sz="1200" b="1" dirty="0">
                <a:solidFill>
                  <a:srgbClr val="FFC000"/>
                </a:solidFill>
                <a:latin typeface="맑은 고딕" panose="020B0503020000020004" pitchFamily="50" charset="-127"/>
                <a:cs typeface="Arial" pitchFamily="34" charset="-120"/>
              </a:rPr>
              <a:t>순영업수익 대비 </a:t>
            </a:r>
            <a:r>
              <a:rPr lang="en-US" altLang="ko-KR" sz="1200" b="1" dirty="0" err="1">
                <a:solidFill>
                  <a:srgbClr val="FFC000"/>
                </a:solidFill>
                <a:latin typeface="맑은 고딕" panose="020B0503020000020004" pitchFamily="50" charset="-127"/>
                <a:cs typeface="Arial" pitchFamily="34" charset="-120"/>
              </a:rPr>
              <a:t>지급률</a:t>
            </a:r>
            <a:r>
              <a:rPr lang="en-US" altLang="ko-KR" sz="1200" b="1" dirty="0">
                <a:solidFill>
                  <a:srgbClr val="FFC000"/>
                </a:solidFill>
                <a:latin typeface="맑은 고딕" panose="020B0503020000020004" pitchFamily="50" charset="-127"/>
                <a:cs typeface="Arial" pitchFamily="34" charset="-120"/>
              </a:rPr>
              <a:t> 16.9%</a:t>
            </a:r>
            <a:r>
              <a:rPr lang="en-US" altLang="ko-KR" sz="1100" b="1" dirty="0">
                <a:solidFill>
                  <a:srgbClr val="FFC000"/>
                </a:solidFill>
                <a:latin typeface="맑은 고딕" panose="020B0503020000020004" pitchFamily="50" charset="-127"/>
                <a:cs typeface="Arial" pitchFamily="34" charset="-120"/>
              </a:rPr>
              <a:t>
</a:t>
            </a:r>
          </a:p>
          <a:p>
            <a:pPr latinLnBrk="0">
              <a:lnSpc>
                <a:spcPct val="125000"/>
              </a:lnSpc>
            </a:pPr>
            <a:r>
              <a:rPr lang="en-US" altLang="ko-KR" sz="1100" b="1" dirty="0" err="1">
                <a:solidFill>
                  <a:srgbClr val="FFFFFF"/>
                </a:solidFill>
                <a:latin typeface="맑은 고딕" panose="020B0503020000020004" pitchFamily="50" charset="-127"/>
                <a:cs typeface="Arial" pitchFamily="34" charset="-120"/>
              </a:rPr>
              <a:t>경쟁사</a:t>
            </a:r>
            <a:r>
              <a:rPr lang="en-US" altLang="ko-KR" sz="1100" b="1" dirty="0">
                <a:solidFill>
                  <a:srgbClr val="FFFFFF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100" b="1" dirty="0" err="1">
                <a:solidFill>
                  <a:srgbClr val="FFFFFF"/>
                </a:solidFill>
                <a:latin typeface="맑은 고딕" panose="020B0503020000020004" pitchFamily="50" charset="-127"/>
                <a:cs typeface="Arial" pitchFamily="34" charset="-120"/>
              </a:rPr>
              <a:t>평균</a:t>
            </a:r>
            <a:r>
              <a:rPr lang="en-US" altLang="ko-KR" sz="1100" b="1" dirty="0">
                <a:solidFill>
                  <a:srgbClr val="FFFFFF"/>
                </a:solidFill>
                <a:latin typeface="맑은 고딕" panose="020B0503020000020004" pitchFamily="50" charset="-127"/>
                <a:cs typeface="Arial" pitchFamily="34" charset="-120"/>
              </a:rPr>
              <a:t>(17.6%)과 </a:t>
            </a:r>
            <a:r>
              <a:rPr lang="en-US" altLang="ko-KR" sz="1100" b="1" dirty="0" err="1">
                <a:solidFill>
                  <a:srgbClr val="FFFFFF"/>
                </a:solidFill>
                <a:latin typeface="맑은 고딕" panose="020B0503020000020004" pitchFamily="50" charset="-127"/>
                <a:cs typeface="Arial" pitchFamily="34" charset="-120"/>
              </a:rPr>
              <a:t>유사한</a:t>
            </a:r>
            <a:r>
              <a:rPr lang="en-US" altLang="ko-KR" sz="1100" b="1" dirty="0">
                <a:solidFill>
                  <a:srgbClr val="FFFFFF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100" b="1" dirty="0" err="1">
                <a:solidFill>
                  <a:srgbClr val="FFFFFF"/>
                </a:solidFill>
                <a:latin typeface="맑은 고딕" panose="020B0503020000020004" pitchFamily="50" charset="-127"/>
                <a:cs typeface="Arial" pitchFamily="34" charset="-120"/>
              </a:rPr>
              <a:t>수준이며</a:t>
            </a:r>
            <a:r>
              <a:rPr lang="en-US" altLang="ko-KR" sz="1100" b="1" dirty="0">
                <a:solidFill>
                  <a:srgbClr val="FFFFFF"/>
                </a:solidFill>
                <a:latin typeface="맑은 고딕" panose="020B0503020000020004" pitchFamily="50" charset="-127"/>
                <a:cs typeface="Arial" pitchFamily="34" charset="-120"/>
              </a:rPr>
              <a:t>, </a:t>
            </a:r>
            <a:r>
              <a:rPr lang="en-US" altLang="ko-KR" sz="1100" b="1" dirty="0" err="1">
                <a:solidFill>
                  <a:srgbClr val="FFFFFF"/>
                </a:solidFill>
                <a:latin typeface="맑은 고딕" panose="020B0503020000020004" pitchFamily="50" charset="-127"/>
                <a:cs typeface="Arial" pitchFamily="34" charset="-120"/>
              </a:rPr>
              <a:t>IB·운용의</a:t>
            </a:r>
            <a:r>
              <a:rPr lang="en-US" altLang="ko-KR" sz="1100" b="1" dirty="0">
                <a:solidFill>
                  <a:srgbClr val="FFFFFF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100" b="1" dirty="0" err="1">
                <a:solidFill>
                  <a:srgbClr val="FFFFFF"/>
                </a:solidFill>
                <a:latin typeface="맑은 고딕" panose="020B0503020000020004" pitchFamily="50" charset="-127"/>
                <a:cs typeface="Arial" pitchFamily="34" charset="-120"/>
              </a:rPr>
              <a:t>제도</a:t>
            </a:r>
            <a:r>
              <a:rPr lang="en-US" altLang="ko-KR" sz="1100" b="1" dirty="0">
                <a:solidFill>
                  <a:srgbClr val="FFFFFF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100" b="1" dirty="0" err="1">
                <a:solidFill>
                  <a:srgbClr val="FFFFFF"/>
                </a:solidFill>
                <a:latin typeface="맑은 고딕" panose="020B0503020000020004" pitchFamily="50" charset="-127"/>
                <a:cs typeface="Arial" pitchFamily="34" charset="-120"/>
              </a:rPr>
              <a:t>요율은</a:t>
            </a:r>
            <a:r>
              <a:rPr lang="en-US" altLang="ko-KR" sz="1100" b="1" dirty="0">
                <a:solidFill>
                  <a:srgbClr val="FFFFFF"/>
                </a:solidFill>
                <a:latin typeface="맑은 고딕" panose="020B0503020000020004" pitchFamily="50" charset="-127"/>
                <a:cs typeface="Arial" pitchFamily="34" charset="-120"/>
              </a:rPr>
              <a:t> 5사 중 </a:t>
            </a:r>
            <a:r>
              <a:rPr lang="en-US" altLang="ko-KR" sz="1100" b="1" dirty="0" err="1">
                <a:solidFill>
                  <a:srgbClr val="FFFFFF"/>
                </a:solidFill>
                <a:latin typeface="맑은 고딕" panose="020B0503020000020004" pitchFamily="50" charset="-127"/>
                <a:cs typeface="Arial" pitchFamily="34" charset="-120"/>
              </a:rPr>
              <a:t>가장</a:t>
            </a:r>
            <a:r>
              <a:rPr lang="en-US" altLang="ko-KR" sz="1100" b="1" dirty="0">
                <a:solidFill>
                  <a:srgbClr val="FFFFFF"/>
                </a:solidFill>
                <a:latin typeface="맑은 고딕" panose="020B0503020000020004" pitchFamily="50" charset="-127"/>
                <a:cs typeface="Arial" pitchFamily="34" charset="-120"/>
              </a:rPr>
              <a:t> </a:t>
            </a:r>
            <a:r>
              <a:rPr lang="en-US" altLang="ko-KR" sz="1100" b="1" dirty="0" err="1">
                <a:solidFill>
                  <a:srgbClr val="FFFFFF"/>
                </a:solidFill>
                <a:latin typeface="맑은 고딕" panose="020B0503020000020004" pitchFamily="50" charset="-127"/>
                <a:cs typeface="Arial" pitchFamily="34" charset="-120"/>
              </a:rPr>
              <a:t>보수적</a:t>
            </a:r>
            <a:endParaRPr lang="ko-KR" altLang="en-US" sz="11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BEFC7B-6F25-4446-AE72-E4D135790094}"/>
              </a:ext>
            </a:extLst>
          </p:cNvPr>
          <p:cNvSpPr txBox="1"/>
          <p:nvPr/>
        </p:nvSpPr>
        <p:spPr>
          <a:xfrm>
            <a:off x="2286360" y="1885471"/>
            <a:ext cx="2628472" cy="15388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algn="l"/>
            <a:r>
              <a:rPr lang="en-US" altLang="ko-KR" sz="1000" dirty="0">
                <a:latin typeface="+mn-ea"/>
              </a:rPr>
              <a:t>(</a:t>
            </a:r>
            <a:r>
              <a:rPr lang="ko-KR" altLang="en-US" sz="1000" dirty="0">
                <a:latin typeface="+mn-ea"/>
              </a:rPr>
              <a:t>판관비 </a:t>
            </a:r>
            <a:r>
              <a:rPr lang="en-US" altLang="ko-KR" sz="1000" dirty="0">
                <a:latin typeface="+mn-ea"/>
              </a:rPr>
              <a:t>÷</a:t>
            </a:r>
            <a:r>
              <a:rPr lang="ko-KR" altLang="en-US" sz="1000" dirty="0">
                <a:latin typeface="+mn-ea"/>
              </a:rPr>
              <a:t> 순영업수익</a:t>
            </a:r>
            <a:r>
              <a:rPr lang="en-US" altLang="ko-KR" sz="1000" dirty="0">
                <a:latin typeface="+mn-ea"/>
              </a:rPr>
              <a:t>, %)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D961361-1D1A-4844-95B4-E22C343ECFB0}"/>
              </a:ext>
            </a:extLst>
          </p:cNvPr>
          <p:cNvSpPr txBox="1"/>
          <p:nvPr/>
        </p:nvSpPr>
        <p:spPr>
          <a:xfrm>
            <a:off x="2286360" y="5413691"/>
            <a:ext cx="2628472" cy="15388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algn="l"/>
            <a:r>
              <a:rPr lang="en-US" altLang="ko-KR" sz="1000" dirty="0">
                <a:latin typeface="+mn-ea"/>
              </a:rPr>
              <a:t>(</a:t>
            </a:r>
            <a:r>
              <a:rPr lang="ko-KR" altLang="en-US" sz="1000" dirty="0">
                <a:latin typeface="+mn-ea"/>
              </a:rPr>
              <a:t>성과급 </a:t>
            </a:r>
            <a:r>
              <a:rPr lang="en-US" altLang="ko-KR" sz="1000" dirty="0">
                <a:latin typeface="+mn-ea"/>
              </a:rPr>
              <a:t>÷</a:t>
            </a:r>
            <a:r>
              <a:rPr lang="ko-KR" altLang="en-US" sz="1000" dirty="0">
                <a:latin typeface="+mn-ea"/>
              </a:rPr>
              <a:t> 순영업수익</a:t>
            </a:r>
            <a:r>
              <a:rPr lang="en-US" altLang="ko-KR" sz="1000" dirty="0">
                <a:latin typeface="+mn-ea"/>
              </a:rPr>
              <a:t>, %)</a:t>
            </a: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06E13E4F-B5F9-4D88-BEEE-D84EF121B45A}"/>
              </a:ext>
            </a:extLst>
          </p:cNvPr>
          <p:cNvSpPr/>
          <p:nvPr/>
        </p:nvSpPr>
        <p:spPr>
          <a:xfrm>
            <a:off x="594172" y="5031774"/>
            <a:ext cx="5898756" cy="21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* </a:t>
            </a:r>
            <a:r>
              <a:rPr 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당사는</a:t>
            </a:r>
            <a:r>
              <a:rPr lang="en-US" sz="9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리테일을 제외한 전 </a:t>
            </a:r>
            <a:r>
              <a:rPr 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부문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과 </a:t>
            </a:r>
            <a:r>
              <a:rPr 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회사계에서</a:t>
            </a:r>
            <a:r>
              <a:rPr lang="en-US" sz="9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-120"/>
              </a:rPr>
              <a:t> 경쟁사 평균 대비 우위</a:t>
            </a:r>
            <a:endParaRPr 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A023003-BE3C-4304-BBDB-8EBCCDBA853C}"/>
              </a:ext>
            </a:extLst>
          </p:cNvPr>
          <p:cNvSpPr txBox="1"/>
          <p:nvPr/>
        </p:nvSpPr>
        <p:spPr>
          <a:xfrm>
            <a:off x="594172" y="6903454"/>
            <a:ext cx="9074199" cy="2636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12000"/>
              </a:lnSpc>
            </a:pPr>
            <a:r>
              <a:rPr lang="en-US" altLang="ko-KR" sz="800" dirty="0">
                <a:latin typeface="+mn-ea"/>
              </a:rPr>
              <a:t>* </a:t>
            </a:r>
            <a:r>
              <a:rPr lang="en-US" altLang="ko-KR" sz="800" dirty="0" err="1">
                <a:latin typeface="+mn-ea"/>
                <a:cs typeface="Arial" pitchFamily="34" charset="-120"/>
              </a:rPr>
              <a:t>경영전략실</a:t>
            </a:r>
            <a:r>
              <a:rPr lang="en-US" altLang="ko-KR" sz="800" dirty="0">
                <a:latin typeface="+mn-ea"/>
                <a:cs typeface="Arial" pitchFamily="34" charset="-120"/>
              </a:rPr>
              <a:t> </a:t>
            </a:r>
            <a:r>
              <a:rPr lang="en-US" altLang="ko-KR" sz="800" dirty="0" err="1">
                <a:latin typeface="+mn-ea"/>
                <a:cs typeface="Arial" pitchFamily="34" charset="-120"/>
              </a:rPr>
              <a:t>교환</a:t>
            </a:r>
            <a:r>
              <a:rPr lang="en-US" altLang="ko-KR" sz="800" dirty="0">
                <a:latin typeface="+mn-ea"/>
                <a:cs typeface="Arial" pitchFamily="34" charset="-120"/>
              </a:rPr>
              <a:t> </a:t>
            </a:r>
            <a:r>
              <a:rPr lang="en-US" altLang="ko-KR" sz="800" dirty="0" err="1">
                <a:latin typeface="+mn-ea"/>
                <a:cs typeface="Arial" pitchFamily="34" charset="-120"/>
              </a:rPr>
              <a:t>기준</a:t>
            </a:r>
            <a:r>
              <a:rPr lang="en-US" altLang="ko-KR" sz="800" dirty="0">
                <a:latin typeface="+mn-ea"/>
                <a:cs typeface="Arial" pitchFamily="34" charset="-120"/>
              </a:rPr>
              <a:t> (FY26.1H, </a:t>
            </a:r>
            <a:r>
              <a:rPr lang="en-US" altLang="ko-KR" sz="800" dirty="0" err="1">
                <a:latin typeface="+mn-ea"/>
                <a:cs typeface="Arial" pitchFamily="34" charset="-120"/>
              </a:rPr>
              <a:t>관리회계</a:t>
            </a:r>
            <a:r>
              <a:rPr lang="en-US" altLang="ko-KR" sz="800" dirty="0">
                <a:latin typeface="+mn-ea"/>
                <a:cs typeface="Arial" pitchFamily="34" charset="-120"/>
              </a:rPr>
              <a:t> </a:t>
            </a:r>
            <a:r>
              <a:rPr lang="en-US" altLang="ko-KR" sz="800" dirty="0" err="1">
                <a:latin typeface="+mn-ea"/>
                <a:cs typeface="Arial" pitchFamily="34" charset="-120"/>
              </a:rPr>
              <a:t>일부</a:t>
            </a:r>
            <a:r>
              <a:rPr lang="en-US" altLang="ko-KR" sz="800" dirty="0">
                <a:latin typeface="+mn-ea"/>
                <a:cs typeface="Arial" pitchFamily="34" charset="-120"/>
              </a:rPr>
              <a:t> </a:t>
            </a:r>
            <a:r>
              <a:rPr lang="en-US" altLang="ko-KR" sz="800" dirty="0" err="1">
                <a:latin typeface="+mn-ea"/>
                <a:cs typeface="Arial" pitchFamily="34" charset="-120"/>
              </a:rPr>
              <a:t>조정·경쟁사</a:t>
            </a:r>
            <a:r>
              <a:rPr lang="en-US" altLang="ko-KR" sz="800" dirty="0">
                <a:latin typeface="+mn-ea"/>
                <a:cs typeface="Arial" pitchFamily="34" charset="-120"/>
              </a:rPr>
              <a:t> </a:t>
            </a:r>
            <a:r>
              <a:rPr lang="en-US" altLang="ko-KR" sz="800" dirty="0" err="1">
                <a:latin typeface="+mn-ea"/>
                <a:cs typeface="Arial" pitchFamily="34" charset="-120"/>
              </a:rPr>
              <a:t>주식</a:t>
            </a:r>
            <a:r>
              <a:rPr lang="en-US" altLang="ko-KR" sz="800" dirty="0">
                <a:latin typeface="+mn-ea"/>
                <a:cs typeface="Arial" pitchFamily="34" charset="-120"/>
              </a:rPr>
              <a:t>/PI </a:t>
            </a:r>
            <a:r>
              <a:rPr lang="en-US" altLang="ko-KR" sz="800" dirty="0" err="1">
                <a:latin typeface="+mn-ea"/>
                <a:cs typeface="Arial" pitchFamily="34" charset="-120"/>
              </a:rPr>
              <a:t>손익</a:t>
            </a:r>
            <a:r>
              <a:rPr lang="en-US" altLang="ko-KR" sz="800" dirty="0">
                <a:latin typeface="+mn-ea"/>
                <a:cs typeface="Arial" pitchFamily="34" charset="-120"/>
              </a:rPr>
              <a:t> </a:t>
            </a:r>
            <a:r>
              <a:rPr lang="en-US" altLang="ko-KR" sz="800" dirty="0" err="1">
                <a:latin typeface="+mn-ea"/>
                <a:cs typeface="Arial" pitchFamily="34" charset="-120"/>
              </a:rPr>
              <a:t>제외·기타</a:t>
            </a:r>
            <a:r>
              <a:rPr lang="en-US" altLang="ko-KR" sz="800" dirty="0">
                <a:latin typeface="+mn-ea"/>
                <a:cs typeface="Arial" pitchFamily="34" charset="-120"/>
              </a:rPr>
              <a:t> </a:t>
            </a:r>
            <a:r>
              <a:rPr lang="en-US" altLang="ko-KR" sz="800" dirty="0" err="1">
                <a:latin typeface="+mn-ea"/>
                <a:cs typeface="Arial" pitchFamily="34" charset="-120"/>
              </a:rPr>
              <a:t>판관비</a:t>
            </a:r>
            <a:r>
              <a:rPr lang="en-US" altLang="ko-KR" sz="800" dirty="0">
                <a:latin typeface="+mn-ea"/>
                <a:cs typeface="Arial" pitchFamily="34" charset="-120"/>
              </a:rPr>
              <a:t> </a:t>
            </a:r>
            <a:r>
              <a:rPr lang="en-US" altLang="ko-KR" sz="800" dirty="0" err="1">
                <a:latin typeface="+mn-ea"/>
                <a:cs typeface="Arial" pitchFamily="34" charset="-120"/>
              </a:rPr>
              <a:t>영업부문</a:t>
            </a:r>
            <a:r>
              <a:rPr lang="en-US" altLang="ko-KR" sz="800" dirty="0">
                <a:latin typeface="+mn-ea"/>
                <a:cs typeface="Arial" pitchFamily="34" charset="-120"/>
              </a:rPr>
              <a:t> </a:t>
            </a:r>
            <a:r>
              <a:rPr lang="en-US" altLang="ko-KR" sz="800" dirty="0" err="1">
                <a:latin typeface="+mn-ea"/>
                <a:cs typeface="Arial" pitchFamily="34" charset="-120"/>
              </a:rPr>
              <a:t>배분</a:t>
            </a:r>
            <a:r>
              <a:rPr lang="en-US" altLang="ko-KR" sz="800" dirty="0">
                <a:latin typeface="+mn-ea"/>
                <a:cs typeface="Arial" pitchFamily="34" charset="-120"/>
              </a:rPr>
              <a:t>). </a:t>
            </a:r>
            <a:r>
              <a:rPr lang="en-US" altLang="ko-KR" sz="800" dirty="0" err="1">
                <a:latin typeface="+mn-ea"/>
                <a:cs typeface="Arial" pitchFamily="34" charset="-120"/>
              </a:rPr>
              <a:t>경쟁사</a:t>
            </a:r>
            <a:r>
              <a:rPr lang="en-US" altLang="ko-KR" sz="800" dirty="0">
                <a:latin typeface="+mn-ea"/>
                <a:cs typeface="Arial" pitchFamily="34" charset="-120"/>
              </a:rPr>
              <a:t> </a:t>
            </a:r>
            <a:r>
              <a:rPr lang="en-US" altLang="ko-KR" sz="800" dirty="0" err="1">
                <a:latin typeface="+mn-ea"/>
                <a:cs typeface="Arial" pitchFamily="34" charset="-120"/>
              </a:rPr>
              <a:t>평균은</a:t>
            </a:r>
            <a:r>
              <a:rPr lang="en-US" altLang="ko-KR" sz="800" dirty="0">
                <a:latin typeface="+mn-ea"/>
                <a:cs typeface="Arial" pitchFamily="34" charset="-120"/>
              </a:rPr>
              <a:t> 4사 </a:t>
            </a:r>
            <a:r>
              <a:rPr lang="en-US" altLang="ko-KR" sz="800" dirty="0" err="1">
                <a:latin typeface="+mn-ea"/>
                <a:cs typeface="Arial" pitchFamily="34" charset="-120"/>
              </a:rPr>
              <a:t>단순평균</a:t>
            </a:r>
            <a:r>
              <a:rPr lang="en-US" altLang="ko-KR" sz="800" dirty="0">
                <a:latin typeface="+mn-ea"/>
                <a:cs typeface="Arial" pitchFamily="34" charset="-120"/>
              </a:rPr>
              <a:t>, </a:t>
            </a:r>
            <a:r>
              <a:rPr lang="en-US" altLang="ko-KR" sz="800" dirty="0" err="1">
                <a:latin typeface="+mn-ea"/>
                <a:cs typeface="Arial" pitchFamily="34" charset="-120"/>
              </a:rPr>
              <a:t>자본활용형</a:t>
            </a:r>
            <a:r>
              <a:rPr lang="en-US" altLang="ko-KR" sz="800" dirty="0">
                <a:latin typeface="+mn-ea"/>
                <a:cs typeface="Arial" pitchFamily="34" charset="-120"/>
              </a:rPr>
              <a:t> </a:t>
            </a:r>
            <a:r>
              <a:rPr lang="en-US" altLang="ko-KR" sz="800" dirty="0" err="1">
                <a:latin typeface="+mn-ea"/>
                <a:cs typeface="Arial" pitchFamily="34" charset="-120"/>
              </a:rPr>
              <a:t>소계는</a:t>
            </a:r>
            <a:r>
              <a:rPr lang="en-US" altLang="ko-KR" sz="800" dirty="0">
                <a:latin typeface="+mn-ea"/>
                <a:cs typeface="Arial" pitchFamily="34" charset="-120"/>
              </a:rPr>
              <a:t> </a:t>
            </a:r>
            <a:r>
              <a:rPr lang="en-US" altLang="ko-KR" sz="800" dirty="0" err="1">
                <a:latin typeface="+mn-ea"/>
                <a:cs typeface="Arial" pitchFamily="34" charset="-120"/>
              </a:rPr>
              <a:t>IB·PF·운용</a:t>
            </a:r>
            <a:r>
              <a:rPr lang="en-US" altLang="ko-KR" sz="800" dirty="0">
                <a:latin typeface="+mn-ea"/>
                <a:cs typeface="Arial" pitchFamily="34" charset="-120"/>
              </a:rPr>
              <a:t> </a:t>
            </a:r>
            <a:r>
              <a:rPr lang="en-US" altLang="ko-KR" sz="800" dirty="0" err="1">
                <a:latin typeface="+mn-ea"/>
                <a:cs typeface="Arial" pitchFamily="34" charset="-120"/>
              </a:rPr>
              <a:t>합산</a:t>
            </a:r>
            <a:endParaRPr lang="en-US" altLang="ko-KR" sz="800" dirty="0">
              <a:latin typeface="+mn-ea"/>
            </a:endParaRPr>
          </a:p>
          <a:p>
            <a:pPr>
              <a:lnSpc>
                <a:spcPct val="112000"/>
              </a:lnSpc>
            </a:pPr>
            <a:r>
              <a:rPr lang="en-US" altLang="ko-KR" sz="800" dirty="0">
                <a:latin typeface="+mn-ea"/>
                <a:cs typeface="Arial" pitchFamily="34" charset="-120"/>
              </a:rPr>
              <a:t>** KB </a:t>
            </a:r>
            <a:r>
              <a:rPr lang="en-US" altLang="ko-KR" sz="800" dirty="0" err="1">
                <a:latin typeface="+mn-ea"/>
                <a:cs typeface="Arial" pitchFamily="34" charset="-120"/>
              </a:rPr>
              <a:t>운용은</a:t>
            </a:r>
            <a:r>
              <a:rPr lang="en-US" altLang="ko-KR" sz="800" dirty="0">
                <a:latin typeface="+mn-ea"/>
                <a:cs typeface="Arial" pitchFamily="34" charset="-120"/>
              </a:rPr>
              <a:t> </a:t>
            </a:r>
            <a:r>
              <a:rPr lang="en-US" altLang="ko-KR" sz="800" dirty="0" err="1">
                <a:latin typeface="+mn-ea"/>
                <a:cs typeface="Arial" pitchFamily="34" charset="-120"/>
              </a:rPr>
              <a:t>순영업수익</a:t>
            </a:r>
            <a:r>
              <a:rPr lang="en-US" altLang="ko-KR" sz="800" dirty="0">
                <a:latin typeface="+mn-ea"/>
                <a:cs typeface="Arial" pitchFamily="34" charset="-120"/>
              </a:rPr>
              <a:t> △198억 (</a:t>
            </a:r>
            <a:r>
              <a:rPr lang="en-US" altLang="ko-KR" sz="800" dirty="0" err="1">
                <a:latin typeface="+mn-ea"/>
                <a:cs typeface="Arial" pitchFamily="34" charset="-120"/>
              </a:rPr>
              <a:t>적자</a:t>
            </a:r>
            <a:r>
              <a:rPr lang="en-US" altLang="ko-KR" sz="800" dirty="0">
                <a:latin typeface="+mn-ea"/>
                <a:cs typeface="Arial" pitchFamily="34" charset="-120"/>
              </a:rPr>
              <a:t>)</a:t>
            </a:r>
            <a:r>
              <a:rPr lang="en-US" altLang="ko-KR" sz="800" dirty="0" err="1">
                <a:latin typeface="+mn-ea"/>
                <a:cs typeface="Arial" pitchFamily="34" charset="-120"/>
              </a:rPr>
              <a:t>으로</a:t>
            </a:r>
            <a:r>
              <a:rPr lang="en-US" altLang="ko-KR" sz="800" dirty="0">
                <a:latin typeface="+mn-ea"/>
                <a:cs typeface="Arial" pitchFamily="34" charset="-120"/>
              </a:rPr>
              <a:t> CIR </a:t>
            </a:r>
            <a:r>
              <a:rPr lang="en-US" altLang="ko-KR" sz="800" dirty="0" err="1">
                <a:latin typeface="+mn-ea"/>
                <a:cs typeface="Arial" pitchFamily="34" charset="-120"/>
              </a:rPr>
              <a:t>산출</a:t>
            </a:r>
            <a:r>
              <a:rPr lang="en-US" altLang="ko-KR" sz="800" dirty="0">
                <a:latin typeface="+mn-ea"/>
                <a:cs typeface="Arial" pitchFamily="34" charset="-120"/>
              </a:rPr>
              <a:t> </a:t>
            </a:r>
            <a:r>
              <a:rPr lang="en-US" altLang="ko-KR" sz="800" dirty="0" err="1">
                <a:latin typeface="+mn-ea"/>
                <a:cs typeface="Arial" pitchFamily="34" charset="-120"/>
              </a:rPr>
              <a:t>제외</a:t>
            </a:r>
            <a:r>
              <a:rPr lang="en-US" altLang="ko-KR" sz="800" dirty="0">
                <a:latin typeface="+mn-ea"/>
                <a:cs typeface="Arial" pitchFamily="34" charset="-120"/>
              </a:rPr>
              <a:t> (</a:t>
            </a:r>
            <a:r>
              <a:rPr lang="en-US" altLang="ko-KR" sz="800" dirty="0" err="1">
                <a:latin typeface="+mn-ea"/>
                <a:cs typeface="Arial" pitchFamily="34" charset="-120"/>
              </a:rPr>
              <a:t>자본활용형</a:t>
            </a:r>
            <a:r>
              <a:rPr lang="en-US" altLang="ko-KR" sz="800" dirty="0">
                <a:latin typeface="+mn-ea"/>
                <a:cs typeface="Arial" pitchFamily="34" charset="-120"/>
              </a:rPr>
              <a:t> </a:t>
            </a:r>
            <a:r>
              <a:rPr lang="en-US" altLang="ko-KR" sz="800" dirty="0" err="1">
                <a:latin typeface="+mn-ea"/>
                <a:cs typeface="Arial" pitchFamily="34" charset="-120"/>
              </a:rPr>
              <a:t>소계에는</a:t>
            </a:r>
            <a:r>
              <a:rPr lang="en-US" altLang="ko-KR" sz="800" dirty="0">
                <a:latin typeface="+mn-ea"/>
                <a:cs typeface="Arial" pitchFamily="34" charset="-120"/>
              </a:rPr>
              <a:t> </a:t>
            </a:r>
            <a:r>
              <a:rPr lang="en-US" altLang="ko-KR" sz="800" dirty="0" err="1">
                <a:latin typeface="+mn-ea"/>
                <a:cs typeface="Arial" pitchFamily="34" charset="-120"/>
              </a:rPr>
              <a:t>반영</a:t>
            </a:r>
            <a:r>
              <a:rPr lang="en-US" altLang="ko-KR" sz="800" dirty="0">
                <a:latin typeface="+mn-ea"/>
                <a:cs typeface="Arial" pitchFamily="34" charset="-120"/>
              </a:rPr>
              <a:t>). </a:t>
            </a:r>
            <a:r>
              <a:rPr lang="en-US" altLang="ko-KR" sz="800" dirty="0" err="1">
                <a:latin typeface="+mn-ea"/>
                <a:cs typeface="Arial" pitchFamily="34" charset="-120"/>
              </a:rPr>
              <a:t>지급률은</a:t>
            </a:r>
            <a:r>
              <a:rPr lang="en-US" altLang="ko-KR" sz="800" dirty="0">
                <a:latin typeface="+mn-ea"/>
                <a:cs typeface="Arial" pitchFamily="34" charset="-120"/>
              </a:rPr>
              <a:t> </a:t>
            </a:r>
            <a:r>
              <a:rPr lang="en-US" altLang="ko-KR" sz="800" dirty="0" err="1">
                <a:latin typeface="+mn-ea"/>
                <a:cs typeface="Arial" pitchFamily="34" charset="-120"/>
              </a:rPr>
              <a:t>역산</a:t>
            </a:r>
            <a:r>
              <a:rPr lang="en-US" altLang="ko-KR" sz="800" dirty="0">
                <a:latin typeface="+mn-ea"/>
                <a:cs typeface="Arial" pitchFamily="34" charset="-120"/>
              </a:rPr>
              <a:t> </a:t>
            </a:r>
            <a:r>
              <a:rPr lang="en-US" altLang="ko-KR" sz="800" dirty="0" err="1">
                <a:latin typeface="+mn-ea"/>
                <a:cs typeface="Arial" pitchFamily="34" charset="-120"/>
              </a:rPr>
              <a:t>기준이며</a:t>
            </a:r>
            <a:r>
              <a:rPr lang="en-US" altLang="ko-KR" sz="800" dirty="0">
                <a:latin typeface="+mn-ea"/>
                <a:cs typeface="Arial" pitchFamily="34" charset="-120"/>
              </a:rPr>
              <a:t> </a:t>
            </a:r>
            <a:r>
              <a:rPr lang="en-US" altLang="ko-KR" sz="800" dirty="0" err="1">
                <a:latin typeface="+mn-ea"/>
                <a:cs typeface="Arial" pitchFamily="34" charset="-120"/>
              </a:rPr>
              <a:t>리테일·회사계는</a:t>
            </a:r>
            <a:r>
              <a:rPr lang="en-US" altLang="ko-KR" sz="800" dirty="0">
                <a:latin typeface="+mn-ea"/>
                <a:cs typeface="Arial" pitchFamily="34" charset="-120"/>
              </a:rPr>
              <a:t> </a:t>
            </a:r>
            <a:r>
              <a:rPr lang="en-US" altLang="ko-KR" sz="800" dirty="0" err="1">
                <a:latin typeface="+mn-ea"/>
                <a:cs typeface="Arial" pitchFamily="34" charset="-120"/>
              </a:rPr>
              <a:t>교환</a:t>
            </a:r>
            <a:r>
              <a:rPr lang="en-US" altLang="ko-KR" sz="800" dirty="0">
                <a:latin typeface="+mn-ea"/>
                <a:cs typeface="Arial" pitchFamily="34" charset="-120"/>
              </a:rPr>
              <a:t> </a:t>
            </a:r>
            <a:r>
              <a:rPr lang="en-US" altLang="ko-KR" sz="800" dirty="0" err="1">
                <a:latin typeface="+mn-ea"/>
                <a:cs typeface="Arial" pitchFamily="34" charset="-120"/>
              </a:rPr>
              <a:t>실적</a:t>
            </a:r>
            <a:r>
              <a:rPr lang="en-US" altLang="ko-KR" sz="800" dirty="0">
                <a:latin typeface="+mn-ea"/>
                <a:cs typeface="Arial" pitchFamily="34" charset="-120"/>
              </a:rPr>
              <a:t>, </a:t>
            </a:r>
            <a:r>
              <a:rPr lang="en-US" altLang="ko-KR" sz="800" dirty="0" err="1">
                <a:latin typeface="+mn-ea"/>
                <a:cs typeface="Arial" pitchFamily="34" charset="-120"/>
              </a:rPr>
              <a:t>리테일</a:t>
            </a:r>
            <a:r>
              <a:rPr lang="en-US" altLang="ko-KR" sz="800" dirty="0">
                <a:latin typeface="+mn-ea"/>
                <a:cs typeface="Arial" pitchFamily="34" charset="-120"/>
              </a:rPr>
              <a:t> </a:t>
            </a:r>
            <a:r>
              <a:rPr lang="ko-KR" altLang="en-US" sz="800" dirty="0">
                <a:latin typeface="+mn-ea"/>
                <a:cs typeface="Arial" pitchFamily="34" charset="-120"/>
              </a:rPr>
              <a:t>외</a:t>
            </a:r>
            <a:r>
              <a:rPr lang="en-US" altLang="ko-KR" sz="800" dirty="0">
                <a:latin typeface="+mn-ea"/>
                <a:cs typeface="Arial" pitchFamily="34" charset="-120"/>
              </a:rPr>
              <a:t> </a:t>
            </a:r>
            <a:r>
              <a:rPr lang="en-US" altLang="ko-KR" sz="800" dirty="0" err="1">
                <a:latin typeface="+mn-ea"/>
                <a:cs typeface="Arial" pitchFamily="34" charset="-120"/>
              </a:rPr>
              <a:t>부문은</a:t>
            </a:r>
            <a:r>
              <a:rPr lang="en-US" altLang="ko-KR" sz="800" dirty="0">
                <a:latin typeface="+mn-ea"/>
                <a:cs typeface="Arial" pitchFamily="34" charset="-120"/>
              </a:rPr>
              <a:t> </a:t>
            </a:r>
            <a:r>
              <a:rPr lang="en-US" altLang="ko-KR" sz="800" dirty="0" err="1">
                <a:latin typeface="+mn-ea"/>
                <a:cs typeface="Arial" pitchFamily="34" charset="-120"/>
              </a:rPr>
              <a:t>당사</a:t>
            </a:r>
            <a:r>
              <a:rPr lang="en-US" altLang="ko-KR" sz="800" dirty="0">
                <a:latin typeface="+mn-ea"/>
                <a:cs typeface="Arial" pitchFamily="34" charset="-120"/>
              </a:rPr>
              <a:t> </a:t>
            </a:r>
            <a:r>
              <a:rPr lang="en-US" altLang="ko-KR" sz="800" dirty="0" err="1">
                <a:latin typeface="+mn-ea"/>
                <a:cs typeface="Arial" pitchFamily="34" charset="-120"/>
              </a:rPr>
              <a:t>요율</a:t>
            </a:r>
            <a:r>
              <a:rPr lang="en-US" altLang="ko-KR" sz="800" dirty="0">
                <a:latin typeface="+mn-ea"/>
                <a:cs typeface="Arial" pitchFamily="34" charset="-120"/>
              </a:rPr>
              <a:t> </a:t>
            </a:r>
            <a:r>
              <a:rPr lang="en-US" altLang="ko-KR" sz="800" dirty="0" err="1">
                <a:latin typeface="+mn-ea"/>
                <a:cs typeface="Arial" pitchFamily="34" charset="-120"/>
              </a:rPr>
              <a:t>적용</a:t>
            </a:r>
            <a:r>
              <a:rPr lang="en-US" altLang="ko-KR" sz="800" dirty="0">
                <a:latin typeface="+mn-ea"/>
                <a:cs typeface="Arial" pitchFamily="34" charset="-120"/>
              </a:rPr>
              <a:t> </a:t>
            </a:r>
            <a:endParaRPr lang="en-US" altLang="ko-KR" sz="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904169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TOP" val=" 561.25"/>
  <p:tag name="LLEFT" val=" 618.62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TOP" val=" 561.25"/>
  <p:tag name="LLEFT" val=" 618.625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 w="9525">
          <a:solidFill>
            <a:schemeClr val="bg1">
              <a:lumMod val="65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cmpd="sng">
          <a:solidFill>
            <a:schemeClr val="bg1">
              <a:lumMod val="50000"/>
            </a:schemeClr>
          </a:solidFill>
          <a:prstDash val="solid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 anchor="t" anchorCtr="0">
        <a:spAutoFit/>
      </a:bodyPr>
      <a:lstStyle>
        <a:defPPr algn="l">
          <a:defRPr sz="1200"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138121</TotalTime>
  <Words>539</Words>
  <Application>Microsoft Office PowerPoint</Application>
  <PresentationFormat>사용자 지정</PresentationFormat>
  <Paragraphs>135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9" baseType="lpstr">
      <vt:lpstr>HY헤드라인M</vt:lpstr>
      <vt:lpstr>굴림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help</dc:creator>
  <cp:lastModifiedBy>정양균</cp:lastModifiedBy>
  <cp:revision>12358</cp:revision>
  <cp:lastPrinted>2026-03-03T03:21:04Z</cp:lastPrinted>
  <dcterms:created xsi:type="dcterms:W3CDTF">2014-04-15T23:43:29Z</dcterms:created>
  <dcterms:modified xsi:type="dcterms:W3CDTF">2026-07-27T03:45:14Z</dcterms:modified>
</cp:coreProperties>
</file>