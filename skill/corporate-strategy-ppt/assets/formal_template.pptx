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802" r:id="rId2"/>
    <p:sldId id="832" r:id="rId3"/>
  </p:sldIdLst>
  <p:sldSz cx="10693400" cy="7561263"/>
  <p:notesSz cx="9928225" cy="6797675"/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9" userDrawn="1">
          <p15:clr>
            <a:srgbClr val="A4A3A4"/>
          </p15:clr>
        </p15:guide>
        <p15:guide id="2" pos="3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1" name="Administrator" initials="A" lastIdx="2" clrIdx="1">
    <p:extLst>
      <p:ext uri="{19B8F6BF-5375-455C-9EA6-DF929625EA0E}">
        <p15:presenceInfo xmlns:p15="http://schemas.microsoft.com/office/powerpoint/2012/main" userId="Administrator" providerId="None"/>
      </p:ext>
    </p:extLst>
  </p:cmAuthor>
  <p:cmAuthor id="2" name="정양균" initials="정" lastIdx="1" clrIdx="2">
    <p:extLst>
      <p:ext uri="{19B8F6BF-5375-455C-9EA6-DF929625EA0E}">
        <p15:presenceInfo xmlns:p15="http://schemas.microsoft.com/office/powerpoint/2012/main" userId="S-1-5-21-1723870191-668786075-2236793228-35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D79"/>
    <a:srgbClr val="FF9900"/>
    <a:srgbClr val="602800"/>
    <a:srgbClr val="FFDC6D"/>
    <a:srgbClr val="FFF2CC"/>
    <a:srgbClr val="FFC000"/>
    <a:srgbClr val="632D00"/>
    <a:srgbClr val="D9D9D9"/>
    <a:srgbClr val="7793C0"/>
    <a:srgbClr val="005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15099" autoAdjust="0"/>
    <p:restoredTop sz="96210" autoAdjust="0"/>
  </p:normalViewPr>
  <p:slideViewPr>
    <p:cSldViewPr>
      <p:cViewPr varScale="1">
        <p:scale>
          <a:sx n="92" d="100"/>
          <a:sy n="92" d="100"/>
        </p:scale>
        <p:origin x="1656" y="96"/>
      </p:cViewPr>
      <p:guideLst>
        <p:guide orient="horz" pos="749"/>
        <p:guide pos="3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16" d="100"/>
          <a:sy n="116" d="100"/>
        </p:scale>
        <p:origin x="1020" y="108"/>
      </p:cViewPr>
      <p:guideLst>
        <p:guide orient="horz" pos="2141"/>
        <p:guide pos="312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826" y="2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F4F578AC-469C-4214-9559-99FEC9DC35D0}" type="datetimeFigureOut">
              <a:rPr lang="ko-KR" altLang="en-US" smtClean="0"/>
              <a:pPr/>
              <a:t>2026-07-24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56365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826" y="6456365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09F34F4F-CE07-45C3-B7D9-64B293C6EF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9587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827" y="3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FA5623CB-335E-432F-9DB8-7541A5CDFABD}" type="datetimeFigureOut">
              <a:rPr lang="ko-KR" altLang="en-US" smtClean="0"/>
              <a:pPr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463" y="793750"/>
            <a:ext cx="7086600" cy="5011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96720" y="794768"/>
            <a:ext cx="2731508" cy="5011481"/>
          </a:xfrm>
          <a:prstGeom prst="rect">
            <a:avLst/>
          </a:prstGeom>
          <a:solidFill>
            <a:srgbClr val="FFF2CC"/>
          </a:solidFill>
        </p:spPr>
        <p:txBody>
          <a:bodyPr vert="horz" lIns="91432" tIns="45715" rIns="91432" bIns="4571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6456366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827" y="6456366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BAF4C2AF-E4A5-4E75-94FA-C867B35FD3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1268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511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131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670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7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4972" y="468263"/>
            <a:ext cx="2408941" cy="360040"/>
          </a:xfrm>
          <a:prstGeom prst="rect">
            <a:avLst/>
          </a:prstGeom>
        </p:spPr>
      </p:pic>
      <p:sp>
        <p:nvSpPr>
          <p:cNvPr id="12" name="Rectangle 3"/>
          <p:cNvSpPr>
            <a:spLocks noChangeArrowheads="1"/>
          </p:cNvSpPr>
          <p:nvPr userDrawn="1"/>
        </p:nvSpPr>
        <p:spPr bwMode="auto">
          <a:xfrm>
            <a:off x="1602284" y="2413379"/>
            <a:ext cx="8712968" cy="1943100"/>
          </a:xfrm>
          <a:prstGeom prst="rect">
            <a:avLst/>
          </a:prstGeom>
          <a:solidFill>
            <a:srgbClr val="0D4D79"/>
          </a:solidFill>
          <a:ln>
            <a:noFill/>
          </a:ln>
          <a:effectLst/>
          <a:ex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-1317640" y="2160703"/>
            <a:ext cx="871297" cy="287528"/>
          </a:xfrm>
          <a:prstGeom prst="rect">
            <a:avLst/>
          </a:prstGeom>
          <a:solidFill>
            <a:srgbClr val="0D4D7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13.77.121</a:t>
            </a:r>
            <a:endParaRPr lang="ko-KR" altLang="en-US" sz="100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-1317640" y="2556495"/>
            <a:ext cx="871297" cy="287528"/>
          </a:xfrm>
          <a:prstGeom prst="rect">
            <a:avLst/>
          </a:prstGeom>
          <a:solidFill>
            <a:srgbClr val="6028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96.40.0</a:t>
            </a:r>
            <a:endParaRPr lang="ko-KR" altLang="en-US" sz="100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-1317640" y="2952287"/>
            <a:ext cx="871297" cy="28752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255.192.0</a:t>
            </a:r>
            <a:endParaRPr lang="ko-KR" altLang="en-US" sz="1000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317640" y="3348079"/>
            <a:ext cx="871297" cy="287528"/>
          </a:xfrm>
          <a:prstGeom prst="rect">
            <a:avLst/>
          </a:prstGeom>
          <a:solidFill>
            <a:srgbClr val="FFDC6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255.220.109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-1317640" y="3743871"/>
            <a:ext cx="871297" cy="287528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255.242.204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FC96C8-4A21-4516-9F47-CE38AA548B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8" r="23165"/>
          <a:stretch/>
        </p:blipFill>
        <p:spPr>
          <a:xfrm>
            <a:off x="1" y="2413378"/>
            <a:ext cx="1602283" cy="1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1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164"/>
          <p:cNvSpPr>
            <a:spLocks noChangeShapeType="1"/>
          </p:cNvSpPr>
          <p:nvPr userDrawn="1"/>
        </p:nvSpPr>
        <p:spPr bwMode="auto">
          <a:xfrm>
            <a:off x="594172" y="1584387"/>
            <a:ext cx="5976664" cy="0"/>
          </a:xfrm>
          <a:prstGeom prst="line">
            <a:avLst/>
          </a:prstGeom>
          <a:noFill/>
          <a:ln w="114300">
            <a:solidFill>
              <a:srgbClr val="0D4D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8" name="Line 164"/>
          <p:cNvSpPr>
            <a:spLocks noChangeShapeType="1"/>
          </p:cNvSpPr>
          <p:nvPr userDrawn="1"/>
        </p:nvSpPr>
        <p:spPr bwMode="auto">
          <a:xfrm>
            <a:off x="6642844" y="1584387"/>
            <a:ext cx="612000" cy="0"/>
          </a:xfrm>
          <a:prstGeom prst="line">
            <a:avLst/>
          </a:prstGeom>
          <a:noFill/>
          <a:ln w="114300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9" name="Line 164"/>
          <p:cNvSpPr>
            <a:spLocks noChangeShapeType="1"/>
          </p:cNvSpPr>
          <p:nvPr userDrawn="1"/>
        </p:nvSpPr>
        <p:spPr bwMode="auto">
          <a:xfrm>
            <a:off x="7326920" y="1584387"/>
            <a:ext cx="1728000" cy="0"/>
          </a:xfrm>
          <a:prstGeom prst="line">
            <a:avLst/>
          </a:prstGeom>
          <a:noFill/>
          <a:ln w="1143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-1317640" y="2160703"/>
            <a:ext cx="871297" cy="287528"/>
          </a:xfrm>
          <a:prstGeom prst="rect">
            <a:avLst/>
          </a:prstGeom>
          <a:solidFill>
            <a:srgbClr val="0D4D7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13.77.121</a:t>
            </a:r>
            <a:endParaRPr lang="ko-KR" altLang="en-US" sz="100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-1317640" y="2556495"/>
            <a:ext cx="871297" cy="287528"/>
          </a:xfrm>
          <a:prstGeom prst="rect">
            <a:avLst/>
          </a:prstGeom>
          <a:solidFill>
            <a:srgbClr val="6028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96.40.0</a:t>
            </a:r>
            <a:endParaRPr lang="ko-KR" altLang="en-US" sz="100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-1317640" y="2952287"/>
            <a:ext cx="871297" cy="28752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255.192.0</a:t>
            </a:r>
            <a:endParaRPr lang="ko-KR" altLang="en-US" sz="1000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317640" y="3348079"/>
            <a:ext cx="871297" cy="287528"/>
          </a:xfrm>
          <a:prstGeom prst="rect">
            <a:avLst/>
          </a:prstGeom>
          <a:solidFill>
            <a:srgbClr val="FFDC6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255.220.109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-1317640" y="3743871"/>
            <a:ext cx="871297" cy="287528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255.242.204</a:t>
            </a:r>
          </a:p>
        </p:txBody>
      </p:sp>
    </p:spTree>
    <p:extLst>
      <p:ext uri="{BB962C8B-B14F-4D97-AF65-F5344CB8AC3E}">
        <p14:creationId xmlns:p14="http://schemas.microsoft.com/office/powerpoint/2010/main" val="363091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928" y="1116335"/>
            <a:ext cx="4091949" cy="615553"/>
          </a:xfrm>
        </p:spPr>
        <p:txBody>
          <a:bodyPr lIns="0" tIns="0" rIns="0" bIns="0" anchor="ctr" anchorCtr="0">
            <a:spAutoFit/>
          </a:bodyPr>
          <a:lstStyle>
            <a:lvl1pPr marL="85725" indent="-85725">
              <a:lnSpc>
                <a:spcPct val="100000"/>
              </a:lnSpc>
              <a:spcBef>
                <a:spcPts val="600"/>
              </a:spcBef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266700" indent="-107950">
              <a:lnSpc>
                <a:spcPct val="100000"/>
              </a:lnSpc>
              <a:spcBef>
                <a:spcPts val="600"/>
              </a:spcBef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47675" indent="-119063">
              <a:lnSpc>
                <a:spcPct val="100000"/>
              </a:lnSpc>
              <a:spcBef>
                <a:spcPts val="600"/>
              </a:spcBef>
              <a:buFont typeface="굴림" panose="020B0600000101010101" pitchFamily="50" charset="-127"/>
              <a:buChar char="·"/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 sz="1000"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000"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Line 164"/>
          <p:cNvSpPr>
            <a:spLocks noChangeShapeType="1"/>
          </p:cNvSpPr>
          <p:nvPr userDrawn="1"/>
        </p:nvSpPr>
        <p:spPr bwMode="auto">
          <a:xfrm>
            <a:off x="590812" y="828303"/>
            <a:ext cx="7200000" cy="0"/>
          </a:xfrm>
          <a:prstGeom prst="line">
            <a:avLst/>
          </a:prstGeom>
          <a:noFill/>
          <a:ln w="47625">
            <a:solidFill>
              <a:srgbClr val="0D4D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5" name="Rectangle 5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5051848" y="7318954"/>
            <a:ext cx="58620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1043056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793F8072-BA9F-42A0-B914-75540BCA7C2F}" type="slidenum"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굴림" pitchFamily="50" charset="-127"/>
                <a:cs typeface="Arial" panose="020B0604020202020204" pitchFamily="34" charset="0"/>
              </a:rPr>
              <a:pPr marL="0" marR="0" lvl="0" indent="0" algn="ctr" defTabSz="1043056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굴림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164"/>
          <p:cNvSpPr>
            <a:spLocks noChangeShapeType="1"/>
          </p:cNvSpPr>
          <p:nvPr userDrawn="1"/>
        </p:nvSpPr>
        <p:spPr bwMode="auto">
          <a:xfrm>
            <a:off x="7832144" y="828303"/>
            <a:ext cx="720000" cy="0"/>
          </a:xfrm>
          <a:prstGeom prst="line">
            <a:avLst/>
          </a:prstGeom>
          <a:noFill/>
          <a:ln w="47625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1" name="Line 164"/>
          <p:cNvSpPr>
            <a:spLocks noChangeShapeType="1"/>
          </p:cNvSpPr>
          <p:nvPr userDrawn="1"/>
        </p:nvSpPr>
        <p:spPr bwMode="auto">
          <a:xfrm>
            <a:off x="8582812" y="828303"/>
            <a:ext cx="1728000" cy="0"/>
          </a:xfrm>
          <a:prstGeom prst="line">
            <a:avLst/>
          </a:prstGeom>
          <a:noFill/>
          <a:ln w="476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pic>
        <p:nvPicPr>
          <p:cNvPr id="17" name="Picture 2" descr="C:\Users\Administrator\Downloads\한국투자증권 영문_all whit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77795" y="7293437"/>
            <a:ext cx="1108941" cy="17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6"/>
          <p:cNvSpPr>
            <a:spLocks noChangeArrowheads="1"/>
          </p:cNvSpPr>
          <p:nvPr userDrawn="1"/>
        </p:nvSpPr>
        <p:spPr bwMode="auto">
          <a:xfrm>
            <a:off x="1303919" y="7329812"/>
            <a:ext cx="65" cy="1692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ko-KR" altLang="en-US" sz="1100" b="0"/>
          </a:p>
        </p:txBody>
      </p:sp>
      <p:sp>
        <p:nvSpPr>
          <p:cNvPr id="13" name="Line 98"/>
          <p:cNvSpPr>
            <a:spLocks noChangeShapeType="1"/>
          </p:cNvSpPr>
          <p:nvPr userDrawn="1"/>
        </p:nvSpPr>
        <p:spPr bwMode="auto">
          <a:xfrm>
            <a:off x="590812" y="7164471"/>
            <a:ext cx="9720000" cy="0"/>
          </a:xfrm>
          <a:prstGeom prst="line">
            <a:avLst/>
          </a:prstGeom>
          <a:noFill/>
          <a:ln w="12700">
            <a:solidFill>
              <a:srgbClr val="0D4D79"/>
            </a:solidFill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endParaRPr lang="ko-KR" altLang="en-US" sz="1100" b="0"/>
          </a:p>
        </p:txBody>
      </p:sp>
      <p:sp>
        <p:nvSpPr>
          <p:cNvPr id="16" name="Rectangle 5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4300537" y="7237015"/>
            <a:ext cx="20923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defTabSz="1019175" eaLnBrk="0" latinLnBrk="0" hangingPunct="0">
              <a:lnSpc>
                <a:spcPct val="100000"/>
              </a:lnSpc>
              <a:defRPr/>
            </a:pPr>
            <a:fld id="{E29DEEF9-95E9-4D98-9ACC-8D6003A6E101}" type="slidenum">
              <a:rPr kumimoji="0" lang="en-US" altLang="ko-KR" sz="1000" b="0">
                <a:latin typeface="+mn-ea"/>
                <a:ea typeface="+mn-ea"/>
                <a:cs typeface="Arial" panose="020B0604020202020204" pitchFamily="34" charset="0"/>
              </a:rPr>
              <a:pPr algn="ctr" defTabSz="1019175" eaLnBrk="0" latinLnBrk="0" hangingPunct="0">
                <a:lnSpc>
                  <a:spcPct val="100000"/>
                </a:lnSpc>
                <a:defRPr/>
              </a:pPr>
              <a:t>‹#›</a:t>
            </a:fld>
            <a:endParaRPr kumimoji="0" lang="en-US" altLang="ko-KR" sz="1000" b="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3084" y="7237016"/>
            <a:ext cx="1455389" cy="217522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-1317640" y="2160703"/>
            <a:ext cx="871297" cy="287528"/>
          </a:xfrm>
          <a:prstGeom prst="rect">
            <a:avLst/>
          </a:prstGeom>
          <a:solidFill>
            <a:srgbClr val="0D4D7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13.77.121</a:t>
            </a:r>
            <a:endParaRPr lang="ko-KR" altLang="en-US" sz="1000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-1317640" y="2556495"/>
            <a:ext cx="871297" cy="287528"/>
          </a:xfrm>
          <a:prstGeom prst="rect">
            <a:avLst/>
          </a:prstGeom>
          <a:solidFill>
            <a:srgbClr val="6028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96.40.0</a:t>
            </a:r>
            <a:endParaRPr lang="ko-KR" altLang="en-US" sz="100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-1317640" y="2952287"/>
            <a:ext cx="871297" cy="28752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255.192.0</a:t>
            </a:r>
            <a:endParaRPr lang="ko-KR" altLang="en-US" sz="10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-1317640" y="3348079"/>
            <a:ext cx="871297" cy="287528"/>
          </a:xfrm>
          <a:prstGeom prst="rect">
            <a:avLst/>
          </a:prstGeom>
          <a:solidFill>
            <a:srgbClr val="FFDC6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255.220.109</a:t>
            </a:r>
          </a:p>
        </p:txBody>
      </p:sp>
      <p:sp>
        <p:nvSpPr>
          <p:cNvPr id="21" name="직사각형 20"/>
          <p:cNvSpPr/>
          <p:nvPr userDrawn="1"/>
        </p:nvSpPr>
        <p:spPr>
          <a:xfrm>
            <a:off x="-1317640" y="3743871"/>
            <a:ext cx="871297" cy="287528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255.242.204</a:t>
            </a:r>
          </a:p>
        </p:txBody>
      </p:sp>
    </p:spTree>
    <p:extLst>
      <p:ext uri="{BB962C8B-B14F-4D97-AF65-F5344CB8AC3E}">
        <p14:creationId xmlns:p14="http://schemas.microsoft.com/office/powerpoint/2010/main" val="58635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34671" y="302801"/>
            <a:ext cx="9624060" cy="1260211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1" y="1764295"/>
            <a:ext cx="9624060" cy="499008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1" y="7008172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82AE1-8893-4322-A050-DA3A2E39FF9C}" type="datetimeFigureOut">
              <a:rPr lang="ko-KR" altLang="en-US" smtClean="0"/>
              <a:pPr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4" y="7008172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0659E-5881-4452-8922-0FC4118DA9F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60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286360" y="3144172"/>
            <a:ext cx="70567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ctr" defTabSz="1043056" rtl="0" eaLnBrk="1" latinLnBrk="1" hangingPunct="1"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042988">
              <a:lnSpc>
                <a:spcPct val="10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경쟁사 </a:t>
            </a:r>
            <a:r>
              <a:rPr lang="en-US" altLang="ko-KR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CIR </a:t>
            </a: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분석</a:t>
            </a:r>
          </a:p>
        </p:txBody>
      </p:sp>
      <p:graphicFrame>
        <p:nvGraphicFramePr>
          <p:cNvPr id="3" name="Group 23">
            <a:extLst>
              <a:ext uri="{FF2B5EF4-FFF2-40B4-BE49-F238E27FC236}">
                <a16:creationId xmlns:a16="http://schemas.microsoft.com/office/drawing/2014/main" id="{37F22763-61CC-4022-BA4B-18A03B2EA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17397"/>
              </p:ext>
            </p:extLst>
          </p:nvPr>
        </p:nvGraphicFramePr>
        <p:xfrm>
          <a:off x="6966880" y="5422507"/>
          <a:ext cx="3325635" cy="1263600"/>
        </p:xfrm>
        <a:graphic>
          <a:graphicData uri="http://schemas.openxmlformats.org/drawingml/2006/table">
            <a:tbl>
              <a:tblPr/>
              <a:tblGrid>
                <a:gridCol w="100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200">
                <a:tc>
                  <a:txBody>
                    <a:bodyPr/>
                    <a:lstStyle/>
                    <a:p>
                      <a:pPr marL="0" marR="0" lvl="0" indent="0" algn="ctr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일자</a:t>
                      </a: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2026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7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24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0" marR="0" lvl="0" indent="0" algn="ctr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보고</a:t>
                      </a: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경영기획본부장 전응석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801478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0" marR="0" lvl="0" indent="0" algn="ctr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작성</a:t>
                      </a: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경영전략실장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정양균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6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60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03"/>
          <p:cNvSpPr>
            <a:spLocks noChangeArrowheads="1"/>
          </p:cNvSpPr>
          <p:nvPr/>
        </p:nvSpPr>
        <p:spPr bwMode="auto">
          <a:xfrm>
            <a:off x="594172" y="504267"/>
            <a:ext cx="7452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prstClr val="black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94172" y="1152339"/>
            <a:ext cx="9685076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632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latinLnBrk="0">
              <a:lnSpc>
                <a:spcPct val="17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[2030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한국투자증권 중장기 계획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 marL="285750" indent="-285750" latinLnBrk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현재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CAGR 34%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로 성장 중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(FY24 1.29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조 →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FY25 1.87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조 →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FY26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목표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2.30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지속 성장 위해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Value-Chain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확대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강화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필요</a:t>
            </a:r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한국투자증권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Value-Chain]</a:t>
            </a:r>
          </a:p>
          <a:p>
            <a:pPr marL="285750" indent="-285750" latinLnBrk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altLang="ko-KR" sz="1400" b="1">
                <a:solidFill>
                  <a:schemeClr val="tx1"/>
                </a:solidFill>
                <a:latin typeface="+mn-ea"/>
              </a:rPr>
              <a:t>(History) 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당사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Buy Side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강화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및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발행어음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/IMA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장착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통한 강력한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Value-Chain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구축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(Buy Side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↔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Sell Side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선순환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체계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285750" indent="-285750" latinLnBrk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로드맵</a:t>
            </a:r>
            <a:r>
              <a:rPr lang="en-US" altLang="ko-KR" sz="1400" b="1">
                <a:solidFill>
                  <a:schemeClr val="tx1"/>
                </a:solidFill>
                <a:latin typeface="+mn-ea"/>
              </a:rPr>
              <a:t>) Value-Chain 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통한 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IB-AM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모델 완성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 및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AUM 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증대를 넘어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Origination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엔진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대체불가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Deal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소싱</a:t>
            </a:r>
            <a:r>
              <a:rPr lang="en-US" altLang="ko-KR" sz="1100" b="1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 장착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marL="285750" indent="-285750" latinLnBrk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부문별 현황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리테일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AM, IB,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운용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-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‘Strengths’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/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연금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BK,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홀세일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PF -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‘Weaknesses’</a:t>
            </a:r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부문별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Value-Chain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강화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보완 방안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 latinLnBrk="0">
              <a:lnSpc>
                <a:spcPct val="170000"/>
              </a:lnSpc>
            </a:pP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latinLnBrk="0">
              <a:lnSpc>
                <a:spcPct val="17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한국투자증권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Value-Chain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추진방향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 marL="285750" indent="-285750" latinLnBrk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Value-Chain Platform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化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내부 순환 통한 반복적 수익구조 구축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그룹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차원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금융생태계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(Value-Chain)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확장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및 내재화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 marL="285750" indent="-285750" latinLnBrk="0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제언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) Value-Chain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활성화 위해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Value-Chain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협의체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운영 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등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77026B4-19BF-40F1-BC7C-0553E9BCD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662480"/>
              </p:ext>
            </p:extLst>
          </p:nvPr>
        </p:nvGraphicFramePr>
        <p:xfrm>
          <a:off x="954212" y="3888823"/>
          <a:ext cx="3996444" cy="16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141585123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강화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7003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AM: </a:t>
                      </a:r>
                      <a:r>
                        <a:rPr lang="ko-KR" altLang="en-US" sz="1200" b="1" dirty="0"/>
                        <a:t>그룹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자금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자산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유입 창구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’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540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8800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IB</a:t>
                      </a:r>
                      <a:r>
                        <a:rPr lang="ko-KR" altLang="en-US" sz="1200" b="1" dirty="0"/>
                        <a:t>그룹</a:t>
                      </a:r>
                      <a:r>
                        <a:rPr lang="en-US" altLang="ko-KR" sz="1200" b="1" dirty="0"/>
                        <a:t>: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‘Deal Maker’</a:t>
                      </a:r>
                      <a:r>
                        <a:rPr lang="ko-KR" altLang="en-US" sz="1200" b="1" dirty="0"/>
                        <a:t>로 그룹 </a:t>
                      </a:r>
                      <a:r>
                        <a:rPr lang="ko-KR" altLang="en-US" sz="1200" b="1" dirty="0" err="1"/>
                        <a:t>딜소싱</a:t>
                      </a:r>
                      <a:r>
                        <a:rPr lang="ko-KR" altLang="en-US" sz="1200" b="1" dirty="0"/>
                        <a:t> 플랫폼</a:t>
                      </a:r>
                    </a:p>
                  </a:txBody>
                  <a:tcPr marL="540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1231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운용부문</a:t>
                      </a:r>
                      <a:r>
                        <a:rPr lang="en-US" altLang="ko-KR" sz="1200" b="1" dirty="0"/>
                        <a:t>: </a:t>
                      </a:r>
                      <a:r>
                        <a:rPr lang="ko-KR" altLang="en-US" sz="1200" b="1" dirty="0"/>
                        <a:t>그룹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투자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운용 허브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’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540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2393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4B30D13-19CF-43AE-AD98-6F3AA57B0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534630"/>
              </p:ext>
            </p:extLst>
          </p:nvPr>
        </p:nvGraphicFramePr>
        <p:xfrm>
          <a:off x="4950656" y="3888823"/>
          <a:ext cx="3996444" cy="16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319974789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보완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7003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연금</a:t>
                      </a:r>
                      <a:r>
                        <a:rPr lang="en-US" altLang="ko-KR" sz="1200" b="1" dirty="0"/>
                        <a:t>: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리테일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-IB-PM’ Value-Chain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강화</a:t>
                      </a:r>
                    </a:p>
                  </a:txBody>
                  <a:tcPr marL="6840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8800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BK: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신규 제휴채널 </a:t>
                      </a:r>
                      <a:r>
                        <a:rPr lang="ko-KR" altLang="en-US" sz="1200" b="1" dirty="0"/>
                        <a:t>확대</a:t>
                      </a:r>
                      <a:r>
                        <a:rPr lang="en-US" altLang="ko-KR" sz="1200" b="1" dirty="0"/>
                        <a:t> </a:t>
                      </a:r>
                      <a:endParaRPr lang="ko-KR" altLang="en-US" sz="1200" b="1" dirty="0"/>
                    </a:p>
                  </a:txBody>
                  <a:tcPr marL="6840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1231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 err="1"/>
                        <a:t>홀세일</a:t>
                      </a:r>
                      <a:r>
                        <a:rPr lang="en-US" altLang="ko-KR" sz="1200" b="1" dirty="0"/>
                        <a:t>: </a:t>
                      </a:r>
                      <a:r>
                        <a:rPr lang="ko-KR" altLang="en-US" sz="1200" b="1" dirty="0"/>
                        <a:t>외부의존 →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내부수익 전환</a:t>
                      </a:r>
                    </a:p>
                  </a:txBody>
                  <a:tcPr marL="6840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239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PF</a:t>
                      </a:r>
                      <a:r>
                        <a:rPr lang="ko-KR" altLang="en-US" sz="1200" b="1" dirty="0"/>
                        <a:t>그룹</a:t>
                      </a:r>
                      <a:r>
                        <a:rPr lang="en-US" altLang="ko-KR" sz="1200" b="1" dirty="0"/>
                        <a:t>: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그룹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차원 대응 </a:t>
                      </a:r>
                      <a:r>
                        <a:rPr lang="ko-KR" altLang="en-US" sz="1200" b="1" dirty="0"/>
                        <a:t>강화</a:t>
                      </a:r>
                    </a:p>
                  </a:txBody>
                  <a:tcPr marL="6840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32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6805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561.25"/>
  <p:tag name="LLEFT" val=" 618.6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561.25"/>
  <p:tag name="LLEFT" val=" 618.6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spAutoFit/>
      </a:bodyPr>
      <a:lstStyle>
        <a:defPPr algn="l"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138053</TotalTime>
  <Words>232</Words>
  <Application>Microsoft Office PowerPoint</Application>
  <PresentationFormat>사용자 지정</PresentationFormat>
  <Paragraphs>34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HY헤드라인M</vt:lpstr>
      <vt:lpstr>굴림</vt:lpstr>
      <vt:lpstr>맑은 고딕</vt:lpstr>
      <vt:lpstr>Arial</vt:lpstr>
      <vt:lpstr>Wingdings</vt:lpstr>
      <vt:lpstr>Office 테마</vt:lpstr>
      <vt:lpstr>Worksheet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help</dc:creator>
  <cp:lastModifiedBy>신환욱</cp:lastModifiedBy>
  <cp:revision>12341</cp:revision>
  <cp:lastPrinted>2026-03-03T03:21:04Z</cp:lastPrinted>
  <dcterms:created xsi:type="dcterms:W3CDTF">2014-04-15T23:43:29Z</dcterms:created>
  <dcterms:modified xsi:type="dcterms:W3CDTF">2026-07-24T01:09:21Z</dcterms:modified>
</cp:coreProperties>
</file>