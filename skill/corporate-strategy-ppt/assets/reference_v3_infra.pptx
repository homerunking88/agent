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802" r:id="rId2"/>
    <p:sldId id="832" r:id="rId3"/>
    <p:sldId id="833" r:id="rId4"/>
    <p:sldId id="834" r:id="rId5"/>
    <p:sldId id="835" r:id="rId6"/>
    <p:sldId id="836" r:id="rId7"/>
    <p:sldId id="837" r:id="rId8"/>
  </p:sldIdLst>
  <p:sldSz cx="10693400" cy="7561263"/>
  <p:notesSz cx="9928225" cy="6797675"/>
  <p:defaultTextStyle>
    <a:defPPr>
      <a:defRPr lang="ko-KR"/>
    </a:defPPr>
    <a:lvl1pPr marL="0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9" userDrawn="1">
          <p15:clr>
            <a:srgbClr val="A4A3A4"/>
          </p15:clr>
        </p15:guide>
        <p15:guide id="2" pos="3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u" lastIdx="1" clrIdx="0"/>
  <p:cmAuthor id="1" name="Administrator" initials="A" lastIdx="2" clrIdx="1">
    <p:extLst>
      <p:ext uri="{19B8F6BF-5375-455C-9EA6-DF929625EA0E}">
        <p15:presenceInfo xmlns:p15="http://schemas.microsoft.com/office/powerpoint/2012/main" userId="Administrator" providerId="None"/>
      </p:ext>
    </p:extLst>
  </p:cmAuthor>
  <p:cmAuthor id="2" name="정양균" initials="정" lastIdx="1" clrIdx="2">
    <p:extLst>
      <p:ext uri="{19B8F6BF-5375-455C-9EA6-DF929625EA0E}">
        <p15:presenceInfo xmlns:p15="http://schemas.microsoft.com/office/powerpoint/2012/main" userId="S-1-5-21-1723870191-668786075-2236793228-350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4D79"/>
    <a:srgbClr val="FF9900"/>
    <a:srgbClr val="602800"/>
    <a:srgbClr val="FFDC6D"/>
    <a:srgbClr val="FFF2CC"/>
    <a:srgbClr val="FFC000"/>
    <a:srgbClr val="632D00"/>
    <a:srgbClr val="D9D9D9"/>
    <a:srgbClr val="7793C0"/>
    <a:srgbClr val="005A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5099" autoAdjust="0"/>
    <p:restoredTop sz="96210" autoAdjust="0"/>
  </p:normalViewPr>
  <p:slideViewPr>
    <p:cSldViewPr>
      <p:cViewPr varScale="1">
        <p:scale>
          <a:sx n="97" d="100"/>
          <a:sy n="97" d="100"/>
        </p:scale>
        <p:origin x="2364" y="84"/>
      </p:cViewPr>
      <p:guideLst>
        <p:guide orient="horz" pos="749"/>
        <p:guide pos="3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116" d="100"/>
          <a:sy n="116" d="100"/>
        </p:scale>
        <p:origin x="1020" y="108"/>
      </p:cViewPr>
      <p:guideLst>
        <p:guide orient="horz" pos="2141"/>
        <p:guide pos="3127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3826" y="2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F4F578AC-469C-4214-9559-99FEC9DC35D0}" type="datetimeFigureOut">
              <a:rPr lang="ko-KR" altLang="en-US" smtClean="0"/>
              <a:pPr/>
              <a:t>2026-08-20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6456365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3826" y="6456365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09F34F4F-CE07-45C3-B7D9-64B293C6EF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59587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827" y="3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FA5623CB-335E-432F-9DB8-7541A5CDFABD}" type="datetimeFigureOut">
              <a:rPr lang="ko-KR" altLang="en-US" smtClean="0"/>
              <a:pPr/>
              <a:t>2026-08-20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7463" y="793750"/>
            <a:ext cx="7086600" cy="50117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5" rIns="91432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96720" y="794768"/>
            <a:ext cx="2731508" cy="5011481"/>
          </a:xfrm>
          <a:prstGeom prst="rect">
            <a:avLst/>
          </a:prstGeom>
          <a:solidFill>
            <a:srgbClr val="FFF2CC"/>
          </a:solidFill>
        </p:spPr>
        <p:txBody>
          <a:bodyPr vert="horz" lIns="91432" tIns="45715" rIns="91432" bIns="4571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4" y="6456366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827" y="6456366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BAF4C2AF-E4A5-4E75-94FA-C867B35FD3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1268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7559675" cy="5345113"/>
          </a:xfrm>
        </p:spPr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4C2AF-E4A5-4E75-94FA-C867B35FD3B0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131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7559675" cy="5346700"/>
          </a:xfrm>
        </p:spPr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4C2AF-E4A5-4E75-94FA-C867B35FD3B0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07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94972" y="468263"/>
            <a:ext cx="2408941" cy="360040"/>
          </a:xfrm>
          <a:prstGeom prst="rect">
            <a:avLst/>
          </a:prstGeom>
        </p:spPr>
      </p:pic>
      <p:sp>
        <p:nvSpPr>
          <p:cNvPr id="12" name="Rectangle 3"/>
          <p:cNvSpPr>
            <a:spLocks noChangeArrowheads="1"/>
          </p:cNvSpPr>
          <p:nvPr userDrawn="1"/>
        </p:nvSpPr>
        <p:spPr bwMode="auto">
          <a:xfrm>
            <a:off x="1602284" y="2413379"/>
            <a:ext cx="8712968" cy="1943100"/>
          </a:xfrm>
          <a:prstGeom prst="rect">
            <a:avLst/>
          </a:prstGeom>
          <a:solidFill>
            <a:srgbClr val="0D4D79"/>
          </a:solidFill>
          <a:ln>
            <a:noFill/>
          </a:ln>
          <a:effectLst/>
          <a:ex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-1317640" y="2160703"/>
            <a:ext cx="871297" cy="287528"/>
          </a:xfrm>
          <a:prstGeom prst="rect">
            <a:avLst/>
          </a:prstGeom>
          <a:solidFill>
            <a:srgbClr val="0D4D79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13.77.121</a:t>
            </a:r>
            <a:endParaRPr lang="ko-KR" altLang="en-US" sz="1000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-1317640" y="2556495"/>
            <a:ext cx="871297" cy="287528"/>
          </a:xfrm>
          <a:prstGeom prst="rect">
            <a:avLst/>
          </a:prstGeom>
          <a:solidFill>
            <a:srgbClr val="6028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96.40.0</a:t>
            </a:r>
            <a:endParaRPr lang="ko-KR" altLang="en-US" sz="100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-1317640" y="2952287"/>
            <a:ext cx="871297" cy="287528"/>
          </a:xfrm>
          <a:prstGeom prst="rect">
            <a:avLst/>
          </a:prstGeom>
          <a:solidFill>
            <a:srgbClr val="FFC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255.192.0</a:t>
            </a:r>
            <a:endParaRPr lang="ko-KR" altLang="en-US" sz="1000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-1317640" y="3348079"/>
            <a:ext cx="871297" cy="287528"/>
          </a:xfrm>
          <a:prstGeom prst="rect">
            <a:avLst/>
          </a:prstGeom>
          <a:solidFill>
            <a:srgbClr val="FFDC6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255.220.109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-1317640" y="3743871"/>
            <a:ext cx="871297" cy="287528"/>
          </a:xfrm>
          <a:prstGeom prst="rect">
            <a:avLst/>
          </a:prstGeom>
          <a:solidFill>
            <a:srgbClr val="FFF2C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255.242.204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7FC96C8-4A21-4516-9F47-CE38AA548B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8" r="23165"/>
          <a:stretch/>
        </p:blipFill>
        <p:spPr>
          <a:xfrm>
            <a:off x="1" y="2413378"/>
            <a:ext cx="1602283" cy="194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15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Line 164"/>
          <p:cNvSpPr>
            <a:spLocks noChangeShapeType="1"/>
          </p:cNvSpPr>
          <p:nvPr userDrawn="1"/>
        </p:nvSpPr>
        <p:spPr bwMode="auto">
          <a:xfrm>
            <a:off x="594172" y="1584387"/>
            <a:ext cx="5976664" cy="0"/>
          </a:xfrm>
          <a:prstGeom prst="line">
            <a:avLst/>
          </a:prstGeom>
          <a:noFill/>
          <a:ln w="114300">
            <a:solidFill>
              <a:srgbClr val="0D4D7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endParaRPr lang="ko-KR" altLang="en-US" dirty="0"/>
          </a:p>
        </p:txBody>
      </p:sp>
      <p:sp>
        <p:nvSpPr>
          <p:cNvPr id="18" name="Line 164"/>
          <p:cNvSpPr>
            <a:spLocks noChangeShapeType="1"/>
          </p:cNvSpPr>
          <p:nvPr userDrawn="1"/>
        </p:nvSpPr>
        <p:spPr bwMode="auto">
          <a:xfrm>
            <a:off x="6642844" y="1584387"/>
            <a:ext cx="612000" cy="0"/>
          </a:xfrm>
          <a:prstGeom prst="line">
            <a:avLst/>
          </a:prstGeom>
          <a:noFill/>
          <a:ln w="114300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ko-KR" altLang="en-US" dirty="0"/>
          </a:p>
        </p:txBody>
      </p:sp>
      <p:sp>
        <p:nvSpPr>
          <p:cNvPr id="19" name="Line 164"/>
          <p:cNvSpPr>
            <a:spLocks noChangeShapeType="1"/>
          </p:cNvSpPr>
          <p:nvPr userDrawn="1"/>
        </p:nvSpPr>
        <p:spPr bwMode="auto">
          <a:xfrm>
            <a:off x="7326920" y="1584387"/>
            <a:ext cx="1728000" cy="0"/>
          </a:xfrm>
          <a:prstGeom prst="line">
            <a:avLst/>
          </a:prstGeom>
          <a:noFill/>
          <a:ln w="114300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-1317640" y="2160703"/>
            <a:ext cx="871297" cy="287528"/>
          </a:xfrm>
          <a:prstGeom prst="rect">
            <a:avLst/>
          </a:prstGeom>
          <a:solidFill>
            <a:srgbClr val="0D4D79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13.77.121</a:t>
            </a:r>
            <a:endParaRPr lang="ko-KR" altLang="en-US" sz="1000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-1317640" y="2556495"/>
            <a:ext cx="871297" cy="287528"/>
          </a:xfrm>
          <a:prstGeom prst="rect">
            <a:avLst/>
          </a:prstGeom>
          <a:solidFill>
            <a:srgbClr val="6028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96.40.0</a:t>
            </a:r>
            <a:endParaRPr lang="ko-KR" altLang="en-US" sz="100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-1317640" y="2952287"/>
            <a:ext cx="871297" cy="287528"/>
          </a:xfrm>
          <a:prstGeom prst="rect">
            <a:avLst/>
          </a:prstGeom>
          <a:solidFill>
            <a:srgbClr val="FFC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255.192.0</a:t>
            </a:r>
            <a:endParaRPr lang="ko-KR" altLang="en-US" sz="1000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-1317640" y="3348079"/>
            <a:ext cx="871297" cy="287528"/>
          </a:xfrm>
          <a:prstGeom prst="rect">
            <a:avLst/>
          </a:prstGeom>
          <a:solidFill>
            <a:srgbClr val="FFDC6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255.220.109</a:t>
            </a:r>
          </a:p>
        </p:txBody>
      </p:sp>
      <p:sp>
        <p:nvSpPr>
          <p:cNvPr id="9" name="직사각형 8"/>
          <p:cNvSpPr/>
          <p:nvPr userDrawn="1"/>
        </p:nvSpPr>
        <p:spPr>
          <a:xfrm>
            <a:off x="-1317640" y="3743871"/>
            <a:ext cx="871297" cy="287528"/>
          </a:xfrm>
          <a:prstGeom prst="rect">
            <a:avLst/>
          </a:prstGeom>
          <a:solidFill>
            <a:srgbClr val="FFF2C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255.242.204</a:t>
            </a:r>
          </a:p>
        </p:txBody>
      </p:sp>
    </p:spTree>
    <p:extLst>
      <p:ext uri="{BB962C8B-B14F-4D97-AF65-F5344CB8AC3E}">
        <p14:creationId xmlns:p14="http://schemas.microsoft.com/office/powerpoint/2010/main" val="3630913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609928" y="1116335"/>
            <a:ext cx="4091949" cy="615553"/>
          </a:xfrm>
        </p:spPr>
        <p:txBody>
          <a:bodyPr lIns="0" tIns="0" rIns="0" bIns="0" anchor="ctr" anchorCtr="0">
            <a:spAutoFit/>
          </a:bodyPr>
          <a:lstStyle>
            <a:lvl1pPr marL="85725" indent="-85725">
              <a:lnSpc>
                <a:spcPct val="100000"/>
              </a:lnSpc>
              <a:spcBef>
                <a:spcPts val="600"/>
              </a:spcBef>
              <a:defRPr sz="100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266700" indent="-107950">
              <a:lnSpc>
                <a:spcPct val="100000"/>
              </a:lnSpc>
              <a:spcBef>
                <a:spcPts val="600"/>
              </a:spcBef>
              <a:defRPr sz="100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47675" indent="-119063">
              <a:lnSpc>
                <a:spcPct val="100000"/>
              </a:lnSpc>
              <a:spcBef>
                <a:spcPts val="600"/>
              </a:spcBef>
              <a:buFont typeface="굴림" panose="020B0600000101010101" pitchFamily="50" charset="-127"/>
              <a:buChar char="·"/>
              <a:defRPr sz="100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 sz="1000"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>
              <a:defRPr sz="1000"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2" name="Line 164"/>
          <p:cNvSpPr>
            <a:spLocks noChangeShapeType="1"/>
          </p:cNvSpPr>
          <p:nvPr userDrawn="1"/>
        </p:nvSpPr>
        <p:spPr bwMode="auto">
          <a:xfrm>
            <a:off x="590812" y="828303"/>
            <a:ext cx="7200000" cy="0"/>
          </a:xfrm>
          <a:prstGeom prst="line">
            <a:avLst/>
          </a:prstGeom>
          <a:noFill/>
          <a:ln w="47625">
            <a:solidFill>
              <a:srgbClr val="0D4D7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ko-KR" altLang="en-US" dirty="0"/>
          </a:p>
        </p:txBody>
      </p:sp>
      <p:sp>
        <p:nvSpPr>
          <p:cNvPr id="15" name="Rectangle 5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5051848" y="7318954"/>
            <a:ext cx="586203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1043056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793F8072-BA9F-42A0-B914-75540BCA7C2F}" type="slidenum">
              <a:rPr kumimoji="1" lang="ko-KR" altLang="ko-KR" sz="9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굴림" pitchFamily="50" charset="-127"/>
                <a:cs typeface="Arial" panose="020B0604020202020204" pitchFamily="34" charset="0"/>
              </a:rPr>
              <a:pPr marL="0" marR="0" lvl="0" indent="0" algn="ctr" defTabSz="1043056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1" lang="ko-KR" altLang="ko-K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굴림" pitchFamily="50" charset="-127"/>
              <a:cs typeface="Arial" panose="020B0604020202020204" pitchFamily="34" charset="0"/>
            </a:endParaRPr>
          </a:p>
        </p:txBody>
      </p:sp>
      <p:sp>
        <p:nvSpPr>
          <p:cNvPr id="8" name="Line 164"/>
          <p:cNvSpPr>
            <a:spLocks noChangeShapeType="1"/>
          </p:cNvSpPr>
          <p:nvPr userDrawn="1"/>
        </p:nvSpPr>
        <p:spPr bwMode="auto">
          <a:xfrm>
            <a:off x="7832144" y="828303"/>
            <a:ext cx="720000" cy="0"/>
          </a:xfrm>
          <a:prstGeom prst="line">
            <a:avLst/>
          </a:prstGeom>
          <a:noFill/>
          <a:ln w="47625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endParaRPr lang="ko-KR" altLang="en-US" dirty="0"/>
          </a:p>
        </p:txBody>
      </p:sp>
      <p:sp>
        <p:nvSpPr>
          <p:cNvPr id="11" name="Line 164"/>
          <p:cNvSpPr>
            <a:spLocks noChangeShapeType="1"/>
          </p:cNvSpPr>
          <p:nvPr userDrawn="1"/>
        </p:nvSpPr>
        <p:spPr bwMode="auto">
          <a:xfrm>
            <a:off x="8582812" y="828303"/>
            <a:ext cx="1728000" cy="0"/>
          </a:xfrm>
          <a:prstGeom prst="line">
            <a:avLst/>
          </a:prstGeom>
          <a:noFill/>
          <a:ln w="47625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ko-KR" altLang="en-US" dirty="0"/>
          </a:p>
        </p:txBody>
      </p:sp>
      <p:pic>
        <p:nvPicPr>
          <p:cNvPr id="17" name="Picture 2" descr="C:\Users\Administrator\Downloads\한국투자증권 영문_all whit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77795" y="7293437"/>
            <a:ext cx="1108941" cy="177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6"/>
          <p:cNvSpPr>
            <a:spLocks noChangeArrowheads="1"/>
          </p:cNvSpPr>
          <p:nvPr userDrawn="1"/>
        </p:nvSpPr>
        <p:spPr bwMode="auto">
          <a:xfrm>
            <a:off x="1303919" y="7329812"/>
            <a:ext cx="65" cy="16927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ko-KR" altLang="en-US" sz="1100" b="0"/>
          </a:p>
        </p:txBody>
      </p:sp>
      <p:sp>
        <p:nvSpPr>
          <p:cNvPr id="13" name="Line 98"/>
          <p:cNvSpPr>
            <a:spLocks noChangeShapeType="1"/>
          </p:cNvSpPr>
          <p:nvPr userDrawn="1"/>
        </p:nvSpPr>
        <p:spPr bwMode="auto">
          <a:xfrm>
            <a:off x="590812" y="7164471"/>
            <a:ext cx="9720000" cy="0"/>
          </a:xfrm>
          <a:prstGeom prst="line">
            <a:avLst/>
          </a:prstGeom>
          <a:noFill/>
          <a:ln w="12700">
            <a:solidFill>
              <a:srgbClr val="0D4D79"/>
            </a:solidFill>
            <a:round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endParaRPr lang="ko-KR" altLang="en-US" sz="1100" b="0"/>
          </a:p>
        </p:txBody>
      </p:sp>
      <p:sp>
        <p:nvSpPr>
          <p:cNvPr id="16" name="Rectangle 5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4300537" y="7237015"/>
            <a:ext cx="2092325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defTabSz="1019175" eaLnBrk="0" latinLnBrk="0" hangingPunct="0">
              <a:lnSpc>
                <a:spcPct val="100000"/>
              </a:lnSpc>
              <a:defRPr/>
            </a:pPr>
            <a:fld id="{E29DEEF9-95E9-4D98-9ACC-8D6003A6E101}" type="slidenum">
              <a:rPr kumimoji="0" lang="en-US" altLang="ko-KR" sz="1000" b="0">
                <a:latin typeface="+mn-ea"/>
                <a:ea typeface="+mn-ea"/>
                <a:cs typeface="Arial" panose="020B0604020202020204" pitchFamily="34" charset="0"/>
              </a:rPr>
              <a:pPr algn="ctr" defTabSz="1019175" eaLnBrk="0" latinLnBrk="0" hangingPunct="0">
                <a:lnSpc>
                  <a:spcPct val="100000"/>
                </a:lnSpc>
                <a:defRPr/>
              </a:pPr>
              <a:t>‹#›</a:t>
            </a:fld>
            <a:endParaRPr kumimoji="0" lang="en-US" altLang="ko-KR" sz="1000" b="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3084" y="7237016"/>
            <a:ext cx="1455389" cy="217522"/>
          </a:xfrm>
          <a:prstGeom prst="rect">
            <a:avLst/>
          </a:prstGeom>
        </p:spPr>
      </p:pic>
      <p:sp>
        <p:nvSpPr>
          <p:cNvPr id="14" name="직사각형 13"/>
          <p:cNvSpPr/>
          <p:nvPr userDrawn="1"/>
        </p:nvSpPr>
        <p:spPr>
          <a:xfrm>
            <a:off x="-1317640" y="2160703"/>
            <a:ext cx="871297" cy="287528"/>
          </a:xfrm>
          <a:prstGeom prst="rect">
            <a:avLst/>
          </a:prstGeom>
          <a:solidFill>
            <a:srgbClr val="0D4D79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13.77.121</a:t>
            </a:r>
            <a:endParaRPr lang="ko-KR" altLang="en-US" sz="1000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-1317640" y="2556495"/>
            <a:ext cx="871297" cy="287528"/>
          </a:xfrm>
          <a:prstGeom prst="rect">
            <a:avLst/>
          </a:prstGeom>
          <a:solidFill>
            <a:srgbClr val="6028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96.40.0</a:t>
            </a:r>
            <a:endParaRPr lang="ko-KR" altLang="en-US" sz="1000" dirty="0"/>
          </a:p>
        </p:txBody>
      </p:sp>
      <p:sp>
        <p:nvSpPr>
          <p:cNvPr id="19" name="직사각형 18"/>
          <p:cNvSpPr/>
          <p:nvPr userDrawn="1"/>
        </p:nvSpPr>
        <p:spPr>
          <a:xfrm>
            <a:off x="-1317640" y="2952287"/>
            <a:ext cx="871297" cy="287528"/>
          </a:xfrm>
          <a:prstGeom prst="rect">
            <a:avLst/>
          </a:prstGeom>
          <a:solidFill>
            <a:srgbClr val="FFC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255.192.0</a:t>
            </a:r>
            <a:endParaRPr lang="ko-KR" altLang="en-US" sz="1000" dirty="0"/>
          </a:p>
        </p:txBody>
      </p:sp>
      <p:sp>
        <p:nvSpPr>
          <p:cNvPr id="20" name="직사각형 19"/>
          <p:cNvSpPr/>
          <p:nvPr userDrawn="1"/>
        </p:nvSpPr>
        <p:spPr>
          <a:xfrm>
            <a:off x="-1317640" y="3348079"/>
            <a:ext cx="871297" cy="287528"/>
          </a:xfrm>
          <a:prstGeom prst="rect">
            <a:avLst/>
          </a:prstGeom>
          <a:solidFill>
            <a:srgbClr val="FFDC6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255.220.109</a:t>
            </a:r>
          </a:p>
        </p:txBody>
      </p:sp>
      <p:sp>
        <p:nvSpPr>
          <p:cNvPr id="21" name="직사각형 20"/>
          <p:cNvSpPr/>
          <p:nvPr userDrawn="1"/>
        </p:nvSpPr>
        <p:spPr>
          <a:xfrm>
            <a:off x="-1317640" y="3743871"/>
            <a:ext cx="871297" cy="287528"/>
          </a:xfrm>
          <a:prstGeom prst="rect">
            <a:avLst/>
          </a:prstGeom>
          <a:solidFill>
            <a:srgbClr val="FFF2C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255.242.204</a:t>
            </a:r>
          </a:p>
        </p:txBody>
      </p:sp>
    </p:spTree>
    <p:extLst>
      <p:ext uri="{BB962C8B-B14F-4D97-AF65-F5344CB8AC3E}">
        <p14:creationId xmlns:p14="http://schemas.microsoft.com/office/powerpoint/2010/main" val="586359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34671" y="302801"/>
            <a:ext cx="9624060" cy="1260211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4671" y="1764295"/>
            <a:ext cx="9624060" cy="4990084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671" y="7008172"/>
            <a:ext cx="2495127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82AE1-8893-4322-A050-DA3A2E39FF9C}" type="datetimeFigureOut">
              <a:rPr lang="ko-KR" altLang="en-US" smtClean="0"/>
              <a:pPr/>
              <a:t>2026-08-20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3579" y="7008172"/>
            <a:ext cx="338624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4" y="7008172"/>
            <a:ext cx="2495127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0659E-5881-4452-8922-0FC4118DA9F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60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49" r:id="rId3"/>
  </p:sldLayoutIdLst>
  <p:txStyles>
    <p:titleStyle>
      <a:lvl1pPr algn="ctr" defTabSz="1043056" rtl="0" eaLnBrk="1" latinLnBrk="1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1146" indent="-391146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47483" indent="-325955" algn="l" defTabSz="1043056" rtl="0" eaLnBrk="1" latinLnBrk="1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03820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25348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46876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8404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32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460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988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2286360" y="3144172"/>
            <a:ext cx="70567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algn="ctr" defTabSz="1043056" rtl="0" eaLnBrk="1" latinLnBrk="1" hangingPunct="1">
              <a:spcBef>
                <a:spcPct val="0"/>
              </a:spcBef>
              <a:buNone/>
              <a:defRPr sz="5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042988">
              <a:lnSpc>
                <a:spcPct val="100000"/>
              </a:lnSpc>
            </a:pPr>
            <a:r>
              <a:rPr lang="ko-KR" altLang="en-US" sz="32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해외 인프라금융 사업 검토</a:t>
            </a:r>
          </a:p>
        </p:txBody>
      </p:sp>
      <p:graphicFrame>
        <p:nvGraphicFramePr>
          <p:cNvPr id="3" name="Group 23">
            <a:extLst>
              <a:ext uri="{FF2B5EF4-FFF2-40B4-BE49-F238E27FC236}">
                <a16:creationId xmlns:a16="http://schemas.microsoft.com/office/drawing/2014/main" id="{37F22763-61CC-4022-BA4B-18A03B2EA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617397"/>
              </p:ext>
            </p:extLst>
          </p:nvPr>
        </p:nvGraphicFramePr>
        <p:xfrm>
          <a:off x="6966880" y="5422507"/>
          <a:ext cx="3325635" cy="842400"/>
        </p:xfrm>
        <a:graphic>
          <a:graphicData uri="http://schemas.openxmlformats.org/drawingml/2006/table">
            <a:tbl>
              <a:tblPr/>
              <a:tblGrid>
                <a:gridCol w="1002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2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200">
                <a:tc>
                  <a:txBody>
                    <a:bodyPr/>
                    <a:lstStyle/>
                    <a:p>
                      <a:pPr marL="0" marR="0" lvl="0" indent="0" algn="ctr" defTabSz="10001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일자</a:t>
                      </a:r>
                    </a:p>
                  </a:txBody>
                  <a:tcPr marL="105490" marR="105490" marT="53867" marB="5386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D4D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01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2026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년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8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월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20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일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105490" marR="105490" marT="53867" marB="5386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pPr marL="0" marR="0" lvl="0" indent="0" algn="ctr" defTabSz="10001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작성</a:t>
                      </a:r>
                    </a:p>
                  </a:txBody>
                  <a:tcPr marL="105490" marR="105490" marT="53867" marB="5386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D4D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01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경영전략실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105490" marR="105490" marT="53867" marB="5386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46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4608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1003"/>
          <p:cNvSpPr>
            <a:spLocks noChangeArrowheads="1"/>
          </p:cNvSpPr>
          <p:nvPr/>
        </p:nvSpPr>
        <p:spPr bwMode="auto">
          <a:xfrm>
            <a:off x="594172" y="504267"/>
            <a:ext cx="7452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prstClr val="black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Executive Summary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594172" y="1152339"/>
            <a:ext cx="9685076" cy="57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632D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108000" rtlCol="0" anchor="ctr"/>
          <a:lstStyle/>
          <a:p>
            <a:pPr latinLnBrk="0">
              <a:lnSpc>
                <a:spcPct val="17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dirty="0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[</a:t>
            </a:r>
            <a:r>
              <a:rPr sz="1400" b="0" dirty="0" err="1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KB국민은행</a:t>
            </a:r>
            <a:r>
              <a:rPr sz="1400" b="0" dirty="0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해외</a:t>
            </a:r>
            <a:r>
              <a:rPr sz="1400" b="0" dirty="0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인프라금융</a:t>
            </a:r>
            <a:r>
              <a:rPr sz="1400" b="0" dirty="0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실적</a:t>
            </a:r>
            <a:r>
              <a:rPr sz="1400" b="0" dirty="0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]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✓ 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'26년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상반기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주선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4조 8,940억원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전년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동기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대비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176.6%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증가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('25년 </a:t>
            </a:r>
            <a:r>
              <a:rPr sz="11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연간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5조 577억원)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✓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주선금액은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딜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총액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이며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건당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참여액은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2,100~2,300억원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수준</a:t>
            </a:r>
            <a:endParaRPr sz="14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✓ '19년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진출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이후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반복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참여와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글로벌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은행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협약으로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7년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만에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주선사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지위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확보</a:t>
            </a:r>
            <a:endParaRPr sz="1400" b="1" dirty="0">
              <a:solidFill>
                <a:srgbClr val="FF0000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1500"/>
              </a:spcBef>
              <a:spcAft>
                <a:spcPts val="600"/>
              </a:spcAft>
            </a:pPr>
            <a:r>
              <a:rPr sz="1400" b="0" dirty="0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[</a:t>
            </a:r>
            <a:r>
              <a:rPr sz="1400" b="0" dirty="0" err="1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당사</a:t>
            </a:r>
            <a:r>
              <a:rPr sz="1400" b="0" dirty="0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적용</a:t>
            </a:r>
            <a:r>
              <a:rPr sz="1400" b="0" dirty="0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 시 </a:t>
            </a:r>
            <a:r>
              <a:rPr sz="1400" b="0" dirty="0" err="1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제약</a:t>
            </a:r>
            <a:r>
              <a:rPr sz="1400" b="0" dirty="0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]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✓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은행의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저비용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조달을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전제로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한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선순위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보유형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모델은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당사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적용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어려움</a:t>
            </a:r>
            <a:endParaRPr sz="1400" b="1" dirty="0">
              <a:solidFill>
                <a:srgbClr val="FF0000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✓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주선·언더라이팅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후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셀다운하는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자본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회전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구조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정의해야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수익성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확보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1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예시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RAROC: 6개월 31%, 36개월 10%)</a:t>
            </a:r>
          </a:p>
          <a:p>
            <a:pPr>
              <a:spcBef>
                <a:spcPts val="1500"/>
              </a:spcBef>
              <a:spcAft>
                <a:spcPts val="600"/>
              </a:spcAft>
            </a:pPr>
            <a:r>
              <a:rPr sz="1400" b="0" dirty="0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[</a:t>
            </a:r>
            <a:r>
              <a:rPr sz="1400" b="0" dirty="0" err="1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종합금융본부·IB그룹</a:t>
            </a:r>
            <a:r>
              <a:rPr sz="1400" b="0" dirty="0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협업</a:t>
            </a:r>
            <a:r>
              <a:rPr sz="1400" b="0" dirty="0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모델</a:t>
            </a:r>
            <a:r>
              <a:rPr sz="1400" b="0" dirty="0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]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✓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IB그룹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소싱·주선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+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종금본부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인수확약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+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기관영업·계열사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셀다운으로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이어지는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밸류체인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확장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구조</a:t>
            </a:r>
            <a:endParaRPr sz="1400" b="1" dirty="0">
              <a:solidFill>
                <a:srgbClr val="FF0000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✓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당사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우위는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단독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인수확약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속도와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그룹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내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복수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셀다운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채널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1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운용·연기금·해외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PE, </a:t>
            </a:r>
            <a:r>
              <a:rPr sz="11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생보사는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확보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시)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✓ 딜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단위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손익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배분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비율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합의가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선행되어야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개별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딜</a:t>
            </a:r>
            <a:r>
              <a:rPr lang="en-US" altLang="ko-KR"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진행 가능</a:t>
            </a:r>
            <a:endParaRPr sz="14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1500"/>
              </a:spcBef>
              <a:spcAft>
                <a:spcPts val="600"/>
              </a:spcAft>
            </a:pPr>
            <a:r>
              <a:rPr sz="1400" b="0" dirty="0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[</a:t>
            </a:r>
            <a:r>
              <a:rPr sz="1400" b="0" dirty="0" err="1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추진</a:t>
            </a:r>
            <a:r>
              <a:rPr sz="1400" b="0" dirty="0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건의</a:t>
            </a:r>
            <a:r>
              <a:rPr sz="1400" b="0" dirty="0">
                <a:solidFill>
                  <a:srgbClr val="000000"/>
                </a:solidFill>
                <a:latin typeface="HY헤드라인M"/>
                <a:ea typeface="HY헤드라인M"/>
                <a:cs typeface="HY헤드라인M"/>
              </a:rPr>
              <a:t>]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✓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협의체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구성과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함께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발행어음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운용</a:t>
            </a:r>
            <a:r>
              <a:rPr lang="en-US" altLang="ko-KR"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규제·부킹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주체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확인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US" altLang="ko-KR"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✓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우선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사업모델은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글로벌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인프라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인수금융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국내기업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해외확장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금융</a:t>
            </a:r>
            <a:endParaRPr sz="14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✓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초년도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목표는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주선금액이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아닌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참여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건수·심사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통과</a:t>
            </a:r>
            <a:r>
              <a:rPr sz="140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건수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4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설정</a:t>
            </a:r>
            <a:endParaRPr sz="14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35680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ext 0"/>
          <p:cNvSpPr/>
          <p:nvPr/>
        </p:nvSpPr>
        <p:spPr>
          <a:xfrm>
            <a:off x="594360" y="475488"/>
            <a:ext cx="95032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KB국민은행 해외 인프라금융 실적 분석</a:t>
            </a:r>
            <a:endParaRPr lang="en-US" sz="1700" b="1" dirty="0"/>
          </a:p>
        </p:txBody>
      </p:sp>
      <p:sp>
        <p:nvSpPr>
          <p:cNvPr id="501" name="Shape 1"/>
          <p:cNvSpPr/>
          <p:nvPr/>
        </p:nvSpPr>
        <p:spPr>
          <a:xfrm>
            <a:off x="594360" y="969264"/>
            <a:ext cx="9503268" cy="749808"/>
          </a:xfrm>
          <a:prstGeom prst="rect">
            <a:avLst/>
          </a:prstGeom>
          <a:solidFill>
            <a:srgbClr val="0D4D79"/>
          </a:solidFill>
          <a:ln/>
        </p:spPr>
      </p:sp>
      <p:sp>
        <p:nvSpPr>
          <p:cNvPr id="502" name="Text 2"/>
          <p:cNvSpPr/>
          <p:nvPr/>
        </p:nvSpPr>
        <p:spPr>
          <a:xfrm>
            <a:off x="731520" y="969264"/>
            <a:ext cx="92289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KB국민은행 '26년 상반기 주선 4조 8,940억원 (전년 동기 +176.6%)</a:t>
            </a:r>
            <a:endParaRPr lang="en-US" sz="1500" b="1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C000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주선금액은 딜 총액 기준, 건당 참여액은 2,100~2,300억원 수준</a:t>
            </a:r>
            <a:endParaRPr lang="en-US" sz="1500" b="1" dirty="0"/>
          </a:p>
        </p:txBody>
      </p:sp>
      <p:sp>
        <p:nvSpPr>
          <p:cNvPr id="503" name="Shape 3"/>
          <p:cNvSpPr/>
          <p:nvPr/>
        </p:nvSpPr>
        <p:spPr>
          <a:xfrm>
            <a:off x="594360" y="1847088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0D4D79"/>
          </a:solidFill>
          <a:ln/>
        </p:spPr>
      </p:sp>
      <p:sp>
        <p:nvSpPr>
          <p:cNvPr id="504" name="Text 4"/>
          <p:cNvSpPr/>
          <p:nvPr/>
        </p:nvSpPr>
        <p:spPr>
          <a:xfrm>
            <a:off x="594360" y="1847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주선규모 추이</a:t>
            </a:r>
            <a:endParaRPr lang="en-US" sz="1200" dirty="0"/>
          </a:p>
        </p:txBody>
      </p:sp>
      <p:sp>
        <p:nvSpPr>
          <p:cNvPr id="505" name="Text 5"/>
          <p:cNvSpPr/>
          <p:nvPr/>
        </p:nvSpPr>
        <p:spPr>
          <a:xfrm>
            <a:off x="2423160" y="188366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(단위: 조원)</a:t>
            </a:r>
            <a:endParaRPr lang="en-US" sz="1000" dirty="0"/>
          </a:p>
        </p:txBody>
      </p:sp>
      <p:sp>
        <p:nvSpPr>
          <p:cNvPr id="506" name="Shape 6"/>
          <p:cNvSpPr/>
          <p:nvPr/>
        </p:nvSpPr>
        <p:spPr>
          <a:xfrm>
            <a:off x="854964" y="3346196"/>
            <a:ext cx="420624" cy="768604"/>
          </a:xfrm>
          <a:prstGeom prst="rect">
            <a:avLst/>
          </a:prstGeom>
          <a:solidFill>
            <a:srgbClr val="C4CAD2"/>
          </a:solidFill>
          <a:ln/>
        </p:spPr>
      </p:sp>
      <p:sp>
        <p:nvSpPr>
          <p:cNvPr id="507" name="Text 7"/>
          <p:cNvSpPr/>
          <p:nvPr/>
        </p:nvSpPr>
        <p:spPr>
          <a:xfrm>
            <a:off x="708660" y="3154172"/>
            <a:ext cx="713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</a:t>
            </a:r>
            <a:endParaRPr lang="en-US" sz="900" dirty="0"/>
          </a:p>
        </p:txBody>
      </p:sp>
      <p:sp>
        <p:nvSpPr>
          <p:cNvPr id="508" name="Text 8"/>
          <p:cNvSpPr/>
          <p:nvPr/>
        </p:nvSpPr>
        <p:spPr>
          <a:xfrm>
            <a:off x="722376" y="4160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</a:t>
            </a:r>
            <a:endParaRPr lang="en-US" sz="900" dirty="0"/>
          </a:p>
        </p:txBody>
      </p:sp>
      <p:sp>
        <p:nvSpPr>
          <p:cNvPr id="509" name="Shape 9"/>
          <p:cNvSpPr/>
          <p:nvPr/>
        </p:nvSpPr>
        <p:spPr>
          <a:xfrm>
            <a:off x="1431036" y="2622804"/>
            <a:ext cx="420624" cy="1491996"/>
          </a:xfrm>
          <a:prstGeom prst="rect">
            <a:avLst/>
          </a:prstGeom>
          <a:solidFill>
            <a:srgbClr val="C4CAD2"/>
          </a:solidFill>
          <a:ln/>
        </p:spPr>
      </p:sp>
      <p:sp>
        <p:nvSpPr>
          <p:cNvPr id="510" name="Text 10"/>
          <p:cNvSpPr/>
          <p:nvPr/>
        </p:nvSpPr>
        <p:spPr>
          <a:xfrm>
            <a:off x="1284732" y="2430780"/>
            <a:ext cx="713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6.6</a:t>
            </a:r>
            <a:endParaRPr lang="en-US" sz="900" dirty="0"/>
          </a:p>
        </p:txBody>
      </p:sp>
      <p:sp>
        <p:nvSpPr>
          <p:cNvPr id="511" name="Text 11"/>
          <p:cNvSpPr/>
          <p:nvPr/>
        </p:nvSpPr>
        <p:spPr>
          <a:xfrm>
            <a:off x="1298448" y="4160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</a:t>
            </a:r>
            <a:endParaRPr lang="en-US" sz="900" dirty="0"/>
          </a:p>
        </p:txBody>
      </p:sp>
      <p:sp>
        <p:nvSpPr>
          <p:cNvPr id="512" name="Shape 12"/>
          <p:cNvSpPr/>
          <p:nvPr/>
        </p:nvSpPr>
        <p:spPr>
          <a:xfrm>
            <a:off x="2007108" y="2961894"/>
            <a:ext cx="420624" cy="1152906"/>
          </a:xfrm>
          <a:prstGeom prst="rect">
            <a:avLst/>
          </a:prstGeom>
          <a:solidFill>
            <a:srgbClr val="C4CAD2"/>
          </a:solidFill>
          <a:ln/>
        </p:spPr>
      </p:sp>
      <p:sp>
        <p:nvSpPr>
          <p:cNvPr id="513" name="Text 13"/>
          <p:cNvSpPr/>
          <p:nvPr/>
        </p:nvSpPr>
        <p:spPr>
          <a:xfrm>
            <a:off x="1860804" y="2769870"/>
            <a:ext cx="713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5.1</a:t>
            </a:r>
            <a:endParaRPr lang="en-US" sz="900" dirty="0"/>
          </a:p>
        </p:txBody>
      </p:sp>
      <p:sp>
        <p:nvSpPr>
          <p:cNvPr id="514" name="Text 14"/>
          <p:cNvSpPr/>
          <p:nvPr/>
        </p:nvSpPr>
        <p:spPr>
          <a:xfrm>
            <a:off x="1874520" y="4160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</a:t>
            </a:r>
            <a:endParaRPr lang="en-US" sz="900" dirty="0"/>
          </a:p>
        </p:txBody>
      </p:sp>
      <p:sp>
        <p:nvSpPr>
          <p:cNvPr id="515" name="Shape 15"/>
          <p:cNvSpPr/>
          <p:nvPr/>
        </p:nvSpPr>
        <p:spPr>
          <a:xfrm>
            <a:off x="2583180" y="2961894"/>
            <a:ext cx="420624" cy="1152906"/>
          </a:xfrm>
          <a:prstGeom prst="rect">
            <a:avLst/>
          </a:prstGeom>
          <a:solidFill>
            <a:srgbClr val="C4CAD2"/>
          </a:solidFill>
          <a:ln/>
        </p:spPr>
      </p:sp>
      <p:sp>
        <p:nvSpPr>
          <p:cNvPr id="516" name="Text 16"/>
          <p:cNvSpPr/>
          <p:nvPr/>
        </p:nvSpPr>
        <p:spPr>
          <a:xfrm>
            <a:off x="2436876" y="2769870"/>
            <a:ext cx="713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5.1</a:t>
            </a:r>
            <a:endParaRPr lang="en-US" sz="900" dirty="0"/>
          </a:p>
        </p:txBody>
      </p:sp>
      <p:sp>
        <p:nvSpPr>
          <p:cNvPr id="517" name="Text 17"/>
          <p:cNvSpPr/>
          <p:nvPr/>
        </p:nvSpPr>
        <p:spPr>
          <a:xfrm>
            <a:off x="2450592" y="4160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900" dirty="0"/>
          </a:p>
        </p:txBody>
      </p:sp>
      <p:sp>
        <p:nvSpPr>
          <p:cNvPr id="518" name="Shape 18"/>
          <p:cNvSpPr/>
          <p:nvPr/>
        </p:nvSpPr>
        <p:spPr>
          <a:xfrm>
            <a:off x="3067812" y="2212848"/>
            <a:ext cx="603504" cy="2212848"/>
          </a:xfrm>
          <a:prstGeom prst="rect">
            <a:avLst/>
          </a:prstGeom>
          <a:solidFill>
            <a:srgbClr val="E7EEF4"/>
          </a:solidFill>
          <a:ln/>
        </p:spPr>
      </p:sp>
      <p:sp>
        <p:nvSpPr>
          <p:cNvPr id="519" name="Shape 19"/>
          <p:cNvSpPr/>
          <p:nvPr/>
        </p:nvSpPr>
        <p:spPr>
          <a:xfrm>
            <a:off x="3159252" y="3007106"/>
            <a:ext cx="420624" cy="1107694"/>
          </a:xfrm>
          <a:prstGeom prst="rect">
            <a:avLst/>
          </a:prstGeom>
          <a:solidFill>
            <a:srgbClr val="0D4D79"/>
          </a:solidFill>
          <a:ln/>
        </p:spPr>
      </p:sp>
      <p:sp>
        <p:nvSpPr>
          <p:cNvPr id="520" name="Text 20"/>
          <p:cNvSpPr/>
          <p:nvPr/>
        </p:nvSpPr>
        <p:spPr>
          <a:xfrm>
            <a:off x="3012948" y="2815082"/>
            <a:ext cx="713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4.9</a:t>
            </a:r>
            <a:endParaRPr lang="en-US" sz="900" dirty="0"/>
          </a:p>
        </p:txBody>
      </p:sp>
      <p:sp>
        <p:nvSpPr>
          <p:cNvPr id="521" name="Text 21"/>
          <p:cNvSpPr/>
          <p:nvPr/>
        </p:nvSpPr>
        <p:spPr>
          <a:xfrm>
            <a:off x="3026664" y="4160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상반기</a:t>
            </a:r>
            <a:endParaRPr lang="en-US" sz="900" dirty="0"/>
          </a:p>
        </p:txBody>
      </p:sp>
      <p:sp>
        <p:nvSpPr>
          <p:cNvPr id="522" name="Shape 22"/>
          <p:cNvSpPr/>
          <p:nvPr/>
        </p:nvSpPr>
        <p:spPr>
          <a:xfrm>
            <a:off x="685800" y="4114800"/>
            <a:ext cx="3063240" cy="10973"/>
          </a:xfrm>
          <a:prstGeom prst="rect">
            <a:avLst/>
          </a:prstGeom>
          <a:solidFill>
            <a:srgbClr val="C4CAD2"/>
          </a:solidFill>
          <a:ln/>
        </p:spPr>
      </p:sp>
      <p:sp>
        <p:nvSpPr>
          <p:cNvPr id="523" name="Text 23"/>
          <p:cNvSpPr/>
          <p:nvPr/>
        </p:nvSpPr>
        <p:spPr>
          <a:xfrm>
            <a:off x="594360" y="451713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'25년 연간 5조 577억원, '23년 6조 5,816억원(최대)</a:t>
            </a:r>
            <a:endParaRPr lang="en-US" sz="900" dirty="0"/>
          </a:p>
        </p:txBody>
      </p:sp>
      <p:sp>
        <p:nvSpPr>
          <p:cNvPr id="524" name="Shape 24"/>
          <p:cNvSpPr/>
          <p:nvPr/>
        </p:nvSpPr>
        <p:spPr>
          <a:xfrm>
            <a:off x="4160520" y="1847088"/>
            <a:ext cx="1965960" cy="274320"/>
          </a:xfrm>
          <a:prstGeom prst="roundRect">
            <a:avLst>
              <a:gd name="adj" fmla="val 16667"/>
            </a:avLst>
          </a:prstGeom>
          <a:solidFill>
            <a:srgbClr val="0D4D79"/>
          </a:solidFill>
          <a:ln/>
        </p:spPr>
      </p:sp>
      <p:sp>
        <p:nvSpPr>
          <p:cNvPr id="525" name="Text 25"/>
          <p:cNvSpPr/>
          <p:nvPr/>
        </p:nvSpPr>
        <p:spPr>
          <a:xfrm>
            <a:off x="4160520" y="18470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'26년 주요 주선 딜</a:t>
            </a:r>
            <a:endParaRPr lang="en-US" sz="1200" dirty="0"/>
          </a:p>
        </p:txBody>
      </p:sp>
      <p:graphicFrame>
        <p:nvGraphicFramePr>
          <p:cNvPr id="5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299337"/>
              </p:ext>
            </p:extLst>
          </p:nvPr>
        </p:nvGraphicFramePr>
        <p:xfrm>
          <a:off x="4160520" y="2212848"/>
          <a:ext cx="5934456" cy="2223858"/>
        </p:xfrm>
        <a:graphic>
          <a:graphicData uri="http://schemas.openxmlformats.org/drawingml/2006/table">
            <a:tbl>
              <a:tblPr/>
              <a:tblGrid>
                <a:gridCol w="120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6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투자 대상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조달 방식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KB 참여액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6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부유식 천연가스액화설비(FLNG)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PF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1.6억달러 (2,300억원)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6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LNG 포트폴리오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인수금융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1.5억달러 (2,100억원)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6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LNG 수입터미널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PF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미공개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6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버스·철도 운영기업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리파이낸싱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미공개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6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네덜란드·아일랜드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데이터센터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PF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미공개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6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운송인프라 기업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인수금융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미공개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27" name="Text 26"/>
          <p:cNvSpPr/>
          <p:nvPr/>
        </p:nvSpPr>
        <p:spPr>
          <a:xfrm>
            <a:off x="4149354" y="4522640"/>
            <a:ext cx="5934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FLNG 사업 총 투자비 약 4조원 중 KB 참여분 2,300억원 (총액 대비 6% 수준)</a:t>
            </a:r>
            <a:endParaRPr lang="en-US" sz="900" dirty="0"/>
          </a:p>
        </p:txBody>
      </p:sp>
      <p:sp>
        <p:nvSpPr>
          <p:cNvPr id="528" name="Shape 27"/>
          <p:cNvSpPr/>
          <p:nvPr/>
        </p:nvSpPr>
        <p:spPr>
          <a:xfrm>
            <a:off x="594360" y="4833536"/>
            <a:ext cx="2240280" cy="274320"/>
          </a:xfrm>
          <a:prstGeom prst="roundRect">
            <a:avLst>
              <a:gd name="adj" fmla="val 16667"/>
            </a:avLst>
          </a:prstGeom>
          <a:solidFill>
            <a:srgbClr val="0D4D79"/>
          </a:solidFill>
          <a:ln/>
        </p:spPr>
      </p:sp>
      <p:sp>
        <p:nvSpPr>
          <p:cNvPr id="529" name="Text 28"/>
          <p:cNvSpPr/>
          <p:nvPr/>
        </p:nvSpPr>
        <p:spPr>
          <a:xfrm>
            <a:off x="594360" y="48335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주선사 지위 확보 경로</a:t>
            </a:r>
            <a:endParaRPr lang="en-US" sz="1200" dirty="0"/>
          </a:p>
        </p:txBody>
      </p:sp>
      <p:sp>
        <p:nvSpPr>
          <p:cNvPr id="530" name="Text 29"/>
          <p:cNvSpPr/>
          <p:nvPr/>
        </p:nvSpPr>
        <p:spPr>
          <a:xfrm>
            <a:off x="2926080" y="48701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(대주 참여에서 대표 주선까지 7년 소요)</a:t>
            </a:r>
            <a:endParaRPr lang="en-US" sz="1000" dirty="0"/>
          </a:p>
        </p:txBody>
      </p:sp>
      <p:sp>
        <p:nvSpPr>
          <p:cNvPr id="531" name="Shape 30"/>
          <p:cNvSpPr/>
          <p:nvPr/>
        </p:nvSpPr>
        <p:spPr>
          <a:xfrm>
            <a:off x="594360" y="5199296"/>
            <a:ext cx="212140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532" name="Text 31"/>
          <p:cNvSpPr/>
          <p:nvPr/>
        </p:nvSpPr>
        <p:spPr>
          <a:xfrm>
            <a:off x="649224" y="5254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2019</a:t>
            </a:r>
            <a:endParaRPr lang="en-US" sz="1100" dirty="0"/>
          </a:p>
        </p:txBody>
      </p:sp>
      <p:sp>
        <p:nvSpPr>
          <p:cNvPr id="533" name="Text 32"/>
          <p:cNvSpPr/>
          <p:nvPr/>
        </p:nvSpPr>
        <p:spPr>
          <a:xfrm>
            <a:off x="649224" y="54736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대형딜</a:t>
            </a:r>
            <a:endParaRPr lang="en-US" sz="10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본격 참여</a:t>
            </a:r>
            <a:endParaRPr lang="en-US" sz="1000" dirty="0"/>
          </a:p>
        </p:txBody>
      </p:sp>
      <p:sp>
        <p:nvSpPr>
          <p:cNvPr id="534" name="Shape 33"/>
          <p:cNvSpPr/>
          <p:nvPr/>
        </p:nvSpPr>
        <p:spPr>
          <a:xfrm>
            <a:off x="2770632" y="5491904"/>
            <a:ext cx="228600" cy="201168"/>
          </a:xfrm>
          <a:prstGeom prst="rightArrow">
            <a:avLst/>
          </a:prstGeom>
          <a:solidFill>
            <a:srgbClr val="C4CAD2"/>
          </a:solidFill>
          <a:ln/>
        </p:spPr>
      </p:sp>
      <p:sp>
        <p:nvSpPr>
          <p:cNvPr id="535" name="Shape 34"/>
          <p:cNvSpPr/>
          <p:nvPr/>
        </p:nvSpPr>
        <p:spPr>
          <a:xfrm>
            <a:off x="3054096" y="5199296"/>
            <a:ext cx="212140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536" name="Text 35"/>
          <p:cNvSpPr/>
          <p:nvPr/>
        </p:nvSpPr>
        <p:spPr>
          <a:xfrm>
            <a:off x="3108960" y="5254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</a:t>
            </a:r>
            <a:endParaRPr lang="en-US" sz="1100" dirty="0"/>
          </a:p>
        </p:txBody>
      </p:sp>
      <p:sp>
        <p:nvSpPr>
          <p:cNvPr id="537" name="Text 36"/>
          <p:cNvSpPr/>
          <p:nvPr/>
        </p:nvSpPr>
        <p:spPr>
          <a:xfrm>
            <a:off x="3108960" y="54736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산탄데르 은행</a:t>
            </a:r>
            <a:endParaRPr lang="en-US" sz="10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업무협약</a:t>
            </a:r>
            <a:endParaRPr lang="en-US" sz="1000" dirty="0"/>
          </a:p>
        </p:txBody>
      </p:sp>
      <p:sp>
        <p:nvSpPr>
          <p:cNvPr id="538" name="Shape 37"/>
          <p:cNvSpPr/>
          <p:nvPr/>
        </p:nvSpPr>
        <p:spPr>
          <a:xfrm>
            <a:off x="5230368" y="5491904"/>
            <a:ext cx="228600" cy="201168"/>
          </a:xfrm>
          <a:prstGeom prst="rightArrow">
            <a:avLst/>
          </a:prstGeom>
          <a:solidFill>
            <a:srgbClr val="C4CAD2"/>
          </a:solidFill>
          <a:ln/>
        </p:spPr>
      </p:sp>
      <p:sp>
        <p:nvSpPr>
          <p:cNvPr id="539" name="Shape 38"/>
          <p:cNvSpPr/>
          <p:nvPr/>
        </p:nvSpPr>
        <p:spPr>
          <a:xfrm>
            <a:off x="5513832" y="5199296"/>
            <a:ext cx="212140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540" name="Text 39"/>
          <p:cNvSpPr/>
          <p:nvPr/>
        </p:nvSpPr>
        <p:spPr>
          <a:xfrm>
            <a:off x="5568696" y="5254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1100" dirty="0"/>
          </a:p>
        </p:txBody>
      </p:sp>
      <p:sp>
        <p:nvSpPr>
          <p:cNvPr id="541" name="Text 40"/>
          <p:cNvSpPr/>
          <p:nvPr/>
        </p:nvSpPr>
        <p:spPr>
          <a:xfrm>
            <a:off x="5568696" y="54736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MUFG</a:t>
            </a:r>
            <a:endParaRPr lang="en-US" sz="10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업무협약</a:t>
            </a:r>
            <a:endParaRPr lang="en-US" sz="1000" dirty="0"/>
          </a:p>
        </p:txBody>
      </p:sp>
      <p:sp>
        <p:nvSpPr>
          <p:cNvPr id="542" name="Shape 41"/>
          <p:cNvSpPr/>
          <p:nvPr/>
        </p:nvSpPr>
        <p:spPr>
          <a:xfrm>
            <a:off x="7690104" y="5491904"/>
            <a:ext cx="228600" cy="201168"/>
          </a:xfrm>
          <a:prstGeom prst="rightArrow">
            <a:avLst/>
          </a:prstGeom>
          <a:solidFill>
            <a:srgbClr val="C4CAD2"/>
          </a:solidFill>
          <a:ln/>
        </p:spPr>
      </p:sp>
      <p:sp>
        <p:nvSpPr>
          <p:cNvPr id="543" name="Shape 42"/>
          <p:cNvSpPr/>
          <p:nvPr/>
        </p:nvSpPr>
        <p:spPr>
          <a:xfrm>
            <a:off x="7973568" y="5199296"/>
            <a:ext cx="2121408" cy="786384"/>
          </a:xfrm>
          <a:prstGeom prst="rect">
            <a:avLst/>
          </a:prstGeom>
          <a:solidFill>
            <a:srgbClr val="0D4D79"/>
          </a:solidFill>
          <a:ln w="9525">
            <a:solidFill>
              <a:srgbClr val="0D4D79"/>
            </a:solidFill>
            <a:prstDash val="solid"/>
          </a:ln>
        </p:spPr>
      </p:sp>
      <p:sp>
        <p:nvSpPr>
          <p:cNvPr id="544" name="Text 43"/>
          <p:cNvSpPr/>
          <p:nvPr/>
        </p:nvSpPr>
        <p:spPr>
          <a:xfrm>
            <a:off x="8028432" y="5254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1100" dirty="0"/>
          </a:p>
        </p:txBody>
      </p:sp>
      <p:sp>
        <p:nvSpPr>
          <p:cNvPr id="545" name="Text 44"/>
          <p:cNvSpPr/>
          <p:nvPr/>
        </p:nvSpPr>
        <p:spPr>
          <a:xfrm>
            <a:off x="8028432" y="54736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금융사의</a:t>
            </a:r>
            <a:endParaRPr lang="en-US" sz="10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 제안 접수</a:t>
            </a:r>
            <a:endParaRPr lang="en-US" sz="1000" dirty="0"/>
          </a:p>
        </p:txBody>
      </p:sp>
      <p:sp>
        <p:nvSpPr>
          <p:cNvPr id="546" name="Shape 45"/>
          <p:cNvSpPr/>
          <p:nvPr/>
        </p:nvSpPr>
        <p:spPr>
          <a:xfrm>
            <a:off x="594360" y="6131984"/>
            <a:ext cx="9503268" cy="566928"/>
          </a:xfrm>
          <a:prstGeom prst="rect">
            <a:avLst/>
          </a:prstGeom>
          <a:solidFill>
            <a:srgbClr val="FFF2CC"/>
          </a:solidFill>
          <a:ln w="9525">
            <a:solidFill>
              <a:srgbClr val="FFDC6D"/>
            </a:solidFill>
            <a:prstDash val="solid"/>
          </a:ln>
        </p:spPr>
      </p:sp>
      <p:sp>
        <p:nvSpPr>
          <p:cNvPr id="547" name="Text 46"/>
          <p:cNvSpPr/>
          <p:nvPr/>
        </p:nvSpPr>
        <p:spPr>
          <a:xfrm>
            <a:off x="777240" y="6131984"/>
            <a:ext cx="91375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KB의 주선 지위는 '19년 이후 우량 자산에 반복 참여하고 글로벌 은행과 관계를 축적한 결과이며, 단기간에 확보된 것이 아님. 주선금액도 딜 총액 기준이므로 벤치마킹 시 실제 참여액과 구분해 보아야 함</a:t>
            </a:r>
            <a:endParaRPr lang="en-US" sz="1000" dirty="0"/>
          </a:p>
        </p:txBody>
      </p:sp>
      <p:sp>
        <p:nvSpPr>
          <p:cNvPr id="548" name="Text 47"/>
          <p:cNvSpPr/>
          <p:nvPr/>
        </p:nvSpPr>
        <p:spPr>
          <a:xfrm>
            <a:off x="594360" y="6784848"/>
            <a:ext cx="9503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4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자료: 한국경제 마켓인사이트 '국민은행, 해외 인프라 자금 중개 사상 최대 눈앞'('26.8.18), KB국민은행 발표 기준</a:t>
            </a:r>
            <a:endParaRPr lang="en-US" sz="8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원화 환산액은 기사 표기 기준(1.6억달러≒2,300억원, 1.5억달러≒2,100억원). 주선금액의 집계 기준(대표주선/공동주선/참여 구분)은 미공개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Text 0"/>
          <p:cNvSpPr/>
          <p:nvPr/>
        </p:nvSpPr>
        <p:spPr>
          <a:xfrm>
            <a:off x="594360" y="475488"/>
            <a:ext cx="95032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시사점: 당사 적용 시 구조적 제약과 사업 정의</a:t>
            </a:r>
            <a:endParaRPr lang="en-US" sz="1700" b="1" dirty="0"/>
          </a:p>
        </p:txBody>
      </p:sp>
      <p:sp>
        <p:nvSpPr>
          <p:cNvPr id="550" name="Shape 1"/>
          <p:cNvSpPr/>
          <p:nvPr/>
        </p:nvSpPr>
        <p:spPr>
          <a:xfrm>
            <a:off x="594360" y="969264"/>
            <a:ext cx="9503268" cy="749808"/>
          </a:xfrm>
          <a:prstGeom prst="rect">
            <a:avLst/>
          </a:prstGeom>
          <a:solidFill>
            <a:srgbClr val="0D4D79"/>
          </a:solidFill>
          <a:ln/>
        </p:spPr>
      </p:sp>
      <p:sp>
        <p:nvSpPr>
          <p:cNvPr id="551" name="Text 2"/>
          <p:cNvSpPr/>
          <p:nvPr/>
        </p:nvSpPr>
        <p:spPr>
          <a:xfrm>
            <a:off x="731520" y="969264"/>
            <a:ext cx="92289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HY헤드라인M" pitchFamily="34" charset="-120"/>
              </a:rPr>
              <a:t>은행의 저비용 조달을 전제로 한 선순위 보유형 모델은 당사 적용 곤란</a:t>
            </a:r>
            <a:endParaRPr lang="en-US" sz="1500" b="1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HY헤드라인M" pitchFamily="34" charset="-120"/>
              </a:rPr>
              <a:t>주선·언더라이팅 후 셀다운하는 자본 회전 구조로 정의 필요</a:t>
            </a:r>
            <a:endParaRPr lang="en-US" sz="1500" b="1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52" name="Shape 3"/>
          <p:cNvSpPr/>
          <p:nvPr/>
        </p:nvSpPr>
        <p:spPr>
          <a:xfrm>
            <a:off x="594360" y="1847088"/>
            <a:ext cx="2240280" cy="274320"/>
          </a:xfrm>
          <a:prstGeom prst="roundRect">
            <a:avLst>
              <a:gd name="adj" fmla="val 16667"/>
            </a:avLst>
          </a:prstGeom>
          <a:solidFill>
            <a:srgbClr val="0D4D79"/>
          </a:solidFill>
          <a:ln/>
        </p:spPr>
      </p:sp>
      <p:sp>
        <p:nvSpPr>
          <p:cNvPr id="553" name="Text 4"/>
          <p:cNvSpPr/>
          <p:nvPr/>
        </p:nvSpPr>
        <p:spPr>
          <a:xfrm>
            <a:off x="594360" y="18470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은행과 증권의 손익구조</a:t>
            </a:r>
            <a:endParaRPr lang="en-US" sz="1200" dirty="0"/>
          </a:p>
        </p:txBody>
      </p:sp>
      <p:graphicFrame>
        <p:nvGraphicFramePr>
          <p:cNvPr id="5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751738"/>
              </p:ext>
            </p:extLst>
          </p:nvPr>
        </p:nvGraphicFramePr>
        <p:xfrm>
          <a:off x="594360" y="2212848"/>
          <a:ext cx="5074920" cy="181051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은행(KB)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조달 재원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예금 등 저비용 수신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발행어음(원화), 외화채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조달 만기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장기 조달 가능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 이내 비중 높음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선순위 보유 마진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확보 가능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스왑비용 반영 시 축소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단독 인수확약 속도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여신심사 절차상 제약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신속 의사결정 가능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셀다운 채널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기관 신디케이션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기관영업·계열 운용사 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5" name="Shape 5"/>
          <p:cNvSpPr/>
          <p:nvPr/>
        </p:nvSpPr>
        <p:spPr>
          <a:xfrm>
            <a:off x="594360" y="4315968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0D4D79"/>
          </a:solidFill>
          <a:ln/>
        </p:spPr>
      </p:sp>
      <p:sp>
        <p:nvSpPr>
          <p:cNvPr id="556" name="Text 6"/>
          <p:cNvSpPr/>
          <p:nvPr/>
        </p:nvSpPr>
        <p:spPr>
          <a:xfrm>
            <a:off x="594360" y="4315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보유기간별 Deal RAROC</a:t>
            </a:r>
            <a:endParaRPr lang="en-US" sz="1200" dirty="0"/>
          </a:p>
        </p:txBody>
      </p:sp>
      <p:sp>
        <p:nvSpPr>
          <p:cNvPr id="557" name="Text 7"/>
          <p:cNvSpPr/>
          <p:nvPr/>
        </p:nvSpPr>
        <p:spPr>
          <a:xfrm>
            <a:off x="3154680" y="435254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(예시 · 가정 기준)</a:t>
            </a:r>
            <a:endParaRPr lang="en-US" sz="1000" dirty="0"/>
          </a:p>
        </p:txBody>
      </p:sp>
      <p:sp>
        <p:nvSpPr>
          <p:cNvPr id="558" name="Shape 8"/>
          <p:cNvSpPr/>
          <p:nvPr/>
        </p:nvSpPr>
        <p:spPr>
          <a:xfrm>
            <a:off x="594360" y="4700016"/>
            <a:ext cx="1618488" cy="914400"/>
          </a:xfrm>
          <a:prstGeom prst="rect">
            <a:avLst/>
          </a:prstGeom>
          <a:solidFill>
            <a:srgbClr val="E7EEF4"/>
          </a:solidFill>
          <a:ln w="15875">
            <a:solidFill>
              <a:srgbClr val="0D4D79"/>
            </a:solidFill>
            <a:prstDash val="solid"/>
          </a:ln>
        </p:spPr>
      </p:sp>
      <p:sp>
        <p:nvSpPr>
          <p:cNvPr id="559" name="Text 9"/>
          <p:cNvSpPr/>
          <p:nvPr/>
        </p:nvSpPr>
        <p:spPr>
          <a:xfrm>
            <a:off x="649224" y="477316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31.3%</a:t>
            </a:r>
            <a:endParaRPr lang="en-US" sz="1800" dirty="0"/>
          </a:p>
        </p:txBody>
      </p:sp>
      <p:sp>
        <p:nvSpPr>
          <p:cNvPr id="560" name="Text 10"/>
          <p:cNvSpPr/>
          <p:nvPr/>
        </p:nvSpPr>
        <p:spPr>
          <a:xfrm>
            <a:off x="649224" y="517550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</a:t>
            </a:r>
            <a:endParaRPr lang="en-US" sz="1000" dirty="0"/>
          </a:p>
        </p:txBody>
      </p:sp>
      <p:sp>
        <p:nvSpPr>
          <p:cNvPr id="561" name="Shape 11"/>
          <p:cNvSpPr/>
          <p:nvPr/>
        </p:nvSpPr>
        <p:spPr>
          <a:xfrm>
            <a:off x="2322576" y="4700016"/>
            <a:ext cx="161848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62" name="Text 12"/>
          <p:cNvSpPr/>
          <p:nvPr/>
        </p:nvSpPr>
        <p:spPr>
          <a:xfrm>
            <a:off x="2377440" y="477316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18.8%</a:t>
            </a:r>
            <a:endParaRPr lang="en-US" sz="1800" dirty="0"/>
          </a:p>
        </p:txBody>
      </p:sp>
      <p:sp>
        <p:nvSpPr>
          <p:cNvPr id="563" name="Text 13"/>
          <p:cNvSpPr/>
          <p:nvPr/>
        </p:nvSpPr>
        <p:spPr>
          <a:xfrm>
            <a:off x="2377440" y="517550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</a:t>
            </a:r>
            <a:endParaRPr lang="en-US" sz="1000" dirty="0"/>
          </a:p>
        </p:txBody>
      </p:sp>
      <p:sp>
        <p:nvSpPr>
          <p:cNvPr id="564" name="Shape 14"/>
          <p:cNvSpPr/>
          <p:nvPr/>
        </p:nvSpPr>
        <p:spPr>
          <a:xfrm>
            <a:off x="4050792" y="4700016"/>
            <a:ext cx="161848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565" name="Text 15"/>
          <p:cNvSpPr/>
          <p:nvPr/>
        </p:nvSpPr>
        <p:spPr>
          <a:xfrm>
            <a:off x="4105656" y="477316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10.4%</a:t>
            </a:r>
            <a:endParaRPr lang="en-US" sz="1800" dirty="0"/>
          </a:p>
        </p:txBody>
      </p:sp>
      <p:sp>
        <p:nvSpPr>
          <p:cNvPr id="566" name="Text 16"/>
          <p:cNvSpPr/>
          <p:nvPr/>
        </p:nvSpPr>
        <p:spPr>
          <a:xfrm>
            <a:off x="4105656" y="517550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36개월</a:t>
            </a:r>
            <a:endParaRPr lang="en-US" sz="1000" dirty="0"/>
          </a:p>
        </p:txBody>
      </p:sp>
      <p:sp>
        <p:nvSpPr>
          <p:cNvPr id="567" name="Text 17"/>
          <p:cNvSpPr/>
          <p:nvPr/>
        </p:nvSpPr>
        <p:spPr>
          <a:xfrm>
            <a:off x="594360" y="5669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가정: 인수확약 1억달러, 수수료 100bp, </a:t>
            </a:r>
            <a:r>
              <a:rPr lang="en-US" sz="900" dirty="0" err="1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순캐리</a:t>
            </a: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50bp, 소요자본율 8%, 세전</a:t>
            </a:r>
            <a:endParaRPr lang="en-US" sz="900" dirty="0"/>
          </a:p>
        </p:txBody>
      </p:sp>
      <p:sp>
        <p:nvSpPr>
          <p:cNvPr id="568" name="Shape 18"/>
          <p:cNvSpPr/>
          <p:nvPr/>
        </p:nvSpPr>
        <p:spPr>
          <a:xfrm>
            <a:off x="5989320" y="1847088"/>
            <a:ext cx="1874520" cy="274320"/>
          </a:xfrm>
          <a:prstGeom prst="roundRect">
            <a:avLst>
              <a:gd name="adj" fmla="val 16667"/>
            </a:avLst>
          </a:prstGeom>
          <a:solidFill>
            <a:srgbClr val="0D4D79"/>
          </a:solidFill>
          <a:ln/>
        </p:spPr>
      </p:sp>
      <p:sp>
        <p:nvSpPr>
          <p:cNvPr id="569" name="Text 19"/>
          <p:cNvSpPr/>
          <p:nvPr/>
        </p:nvSpPr>
        <p:spPr>
          <a:xfrm>
            <a:off x="5989320" y="1847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당사 우위 요인</a:t>
            </a:r>
            <a:endParaRPr lang="en-US" sz="1200" dirty="0"/>
          </a:p>
        </p:txBody>
      </p:sp>
      <p:sp>
        <p:nvSpPr>
          <p:cNvPr id="570" name="Shape 20"/>
          <p:cNvSpPr/>
          <p:nvPr/>
        </p:nvSpPr>
        <p:spPr>
          <a:xfrm>
            <a:off x="5989320" y="2212848"/>
            <a:ext cx="4105656" cy="3657600"/>
          </a:xfrm>
          <a:prstGeom prst="rect">
            <a:avLst/>
          </a:prstGeom>
          <a:solidFill>
            <a:srgbClr val="F7F8FA"/>
          </a:solidFill>
          <a:ln w="9525">
            <a:solidFill>
              <a:srgbClr val="E8EBEF"/>
            </a:solidFill>
            <a:prstDash val="solid"/>
          </a:ln>
        </p:spPr>
      </p:sp>
      <p:sp>
        <p:nvSpPr>
          <p:cNvPr id="571" name="Text 21"/>
          <p:cNvSpPr/>
          <p:nvPr/>
        </p:nvSpPr>
        <p:spPr>
          <a:xfrm>
            <a:off x="6135624" y="2340864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000" dirty="0"/>
          </a:p>
        </p:txBody>
      </p:sp>
      <p:sp>
        <p:nvSpPr>
          <p:cNvPr id="572" name="Text 22"/>
          <p:cNvSpPr/>
          <p:nvPr/>
        </p:nvSpPr>
        <p:spPr>
          <a:xfrm>
            <a:off x="6318504" y="2340864"/>
            <a:ext cx="3630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속도: </a:t>
            </a: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대주단 구성이 확정되기 전 단독 인수확약 가능. 스폰서는 확약을 먼저 제시하는 기관을 선택함</a:t>
            </a:r>
            <a:endParaRPr lang="en-US" sz="1000" dirty="0"/>
          </a:p>
        </p:txBody>
      </p:sp>
      <p:sp>
        <p:nvSpPr>
          <p:cNvPr id="573" name="Text 23"/>
          <p:cNvSpPr/>
          <p:nvPr/>
        </p:nvSpPr>
        <p:spPr>
          <a:xfrm>
            <a:off x="6135624" y="2944368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000" dirty="0"/>
          </a:p>
        </p:txBody>
      </p:sp>
      <p:sp>
        <p:nvSpPr>
          <p:cNvPr id="574" name="Text 24"/>
          <p:cNvSpPr/>
          <p:nvPr/>
        </p:nvSpPr>
        <p:spPr>
          <a:xfrm>
            <a:off x="6318504" y="2944368"/>
            <a:ext cx="3630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규모: </a:t>
            </a: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발행어음 잔고를 재원으로 단일 딜의 인수 규모를 키울 수 있음</a:t>
            </a:r>
            <a:endParaRPr lang="en-US" sz="1000" dirty="0"/>
          </a:p>
        </p:txBody>
      </p:sp>
      <p:sp>
        <p:nvSpPr>
          <p:cNvPr id="575" name="Text 25"/>
          <p:cNvSpPr/>
          <p:nvPr/>
        </p:nvSpPr>
        <p:spPr>
          <a:xfrm>
            <a:off x="6135624" y="3547872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000" dirty="0"/>
          </a:p>
        </p:txBody>
      </p:sp>
      <p:sp>
        <p:nvSpPr>
          <p:cNvPr id="576" name="Text 26"/>
          <p:cNvSpPr/>
          <p:nvPr/>
        </p:nvSpPr>
        <p:spPr>
          <a:xfrm>
            <a:off x="6318504" y="3547872"/>
            <a:ext cx="3630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역량: </a:t>
            </a: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국내외 PE 인수금융에서 쌓은 구조화·셀다운 방식을 자산만 바꿔 적용</a:t>
            </a:r>
            <a:endParaRPr lang="en-US" sz="1000" dirty="0"/>
          </a:p>
        </p:txBody>
      </p:sp>
      <p:sp>
        <p:nvSpPr>
          <p:cNvPr id="577" name="Text 27"/>
          <p:cNvSpPr/>
          <p:nvPr/>
        </p:nvSpPr>
        <p:spPr>
          <a:xfrm>
            <a:off x="6135624" y="4151376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000" dirty="0"/>
          </a:p>
        </p:txBody>
      </p:sp>
      <p:sp>
        <p:nvSpPr>
          <p:cNvPr id="578" name="Text 28"/>
          <p:cNvSpPr/>
          <p:nvPr/>
        </p:nvSpPr>
        <p:spPr>
          <a:xfrm>
            <a:off x="6318504" y="4151376"/>
            <a:ext cx="3630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채널: </a:t>
            </a: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기관영업·한투운용·연기금 등 셀다운처가 여러 갈래로 존재. 지주 생보사 확보 시 장기 달러자산 수요처 추가</a:t>
            </a:r>
            <a:endParaRPr lang="en-US" sz="1000" dirty="0"/>
          </a:p>
        </p:txBody>
      </p:sp>
      <p:sp>
        <p:nvSpPr>
          <p:cNvPr id="579" name="Text 29"/>
          <p:cNvSpPr/>
          <p:nvPr/>
        </p:nvSpPr>
        <p:spPr>
          <a:xfrm>
            <a:off x="6135624" y="4754880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000" dirty="0"/>
          </a:p>
        </p:txBody>
      </p:sp>
      <p:sp>
        <p:nvSpPr>
          <p:cNvPr id="580" name="Text 30"/>
          <p:cNvSpPr/>
          <p:nvPr/>
        </p:nvSpPr>
        <p:spPr>
          <a:xfrm>
            <a:off x="6318504" y="4754880"/>
            <a:ext cx="3630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수익원: </a:t>
            </a: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M&amp;A 자문, 주선, 인수, 신디케이션, FX·IRS 헤지까지 딜 1건에서 복수로 발생</a:t>
            </a:r>
            <a:endParaRPr lang="en-US" sz="1000" dirty="0"/>
          </a:p>
        </p:txBody>
      </p:sp>
      <p:sp>
        <p:nvSpPr>
          <p:cNvPr id="582" name="Text 32"/>
          <p:cNvSpPr/>
          <p:nvPr/>
        </p:nvSpPr>
        <p:spPr>
          <a:xfrm>
            <a:off x="6318504" y="5358384"/>
            <a:ext cx="3630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⇒ 자본을 장기간 묶어두는 방식보다 회전율로 수익을 만드는 방식이 당사 구조에 부합</a:t>
            </a:r>
            <a:endParaRPr lang="en-US" sz="1000" dirty="0"/>
          </a:p>
        </p:txBody>
      </p:sp>
      <p:sp>
        <p:nvSpPr>
          <p:cNvPr id="583" name="Shape 33"/>
          <p:cNvSpPr/>
          <p:nvPr/>
        </p:nvSpPr>
        <p:spPr>
          <a:xfrm>
            <a:off x="594360" y="6053328"/>
            <a:ext cx="9503268" cy="566928"/>
          </a:xfrm>
          <a:prstGeom prst="rect">
            <a:avLst/>
          </a:prstGeom>
          <a:solidFill>
            <a:srgbClr val="FFF2CC"/>
          </a:solidFill>
          <a:ln w="9525">
            <a:solidFill>
              <a:srgbClr val="FFDC6D"/>
            </a:solidFill>
            <a:prstDash val="solid"/>
          </a:ln>
        </p:spPr>
      </p:sp>
      <p:sp>
        <p:nvSpPr>
          <p:cNvPr id="584" name="Text 34"/>
          <p:cNvSpPr/>
          <p:nvPr/>
        </p:nvSpPr>
        <p:spPr>
          <a:xfrm>
            <a:off x="777240" y="6053328"/>
            <a:ext cx="91375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인프라금융을 투자 확대 사업으로 정의하면 조달비용에서 은행에 열위. 보유기간에 비례해 소요자본이 증가하므로, 셀다운이 지연되면 수수료 수익에도 불구하고 RAROC이 회사 평균을 밑돎</a:t>
            </a:r>
            <a:endParaRPr lang="en-US" sz="1000" dirty="0"/>
          </a:p>
        </p:txBody>
      </p:sp>
      <p:sp>
        <p:nvSpPr>
          <p:cNvPr id="585" name="Text 35"/>
          <p:cNvSpPr/>
          <p:nvPr/>
        </p:nvSpPr>
        <p:spPr>
          <a:xfrm>
            <a:off x="594360" y="6784848"/>
            <a:ext cx="9503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4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Deal RAROC 예시는 사업 구조 설명을 위한 가정치이며, 실제 조달·헤지비용과 신용위험계수 확정 후 재산출 필요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Text 0"/>
          <p:cNvSpPr/>
          <p:nvPr/>
        </p:nvSpPr>
        <p:spPr>
          <a:xfrm>
            <a:off x="594360" y="475488"/>
            <a:ext cx="95032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종합금융본부·IB그룹 협업 모델</a:t>
            </a:r>
            <a:endParaRPr lang="en-US" sz="1700" b="1" dirty="0"/>
          </a:p>
        </p:txBody>
      </p:sp>
      <p:sp>
        <p:nvSpPr>
          <p:cNvPr id="587" name="Shape 1"/>
          <p:cNvSpPr/>
          <p:nvPr/>
        </p:nvSpPr>
        <p:spPr>
          <a:xfrm>
            <a:off x="594360" y="969264"/>
            <a:ext cx="9503268" cy="749808"/>
          </a:xfrm>
          <a:prstGeom prst="rect">
            <a:avLst/>
          </a:prstGeom>
          <a:solidFill>
            <a:srgbClr val="0D4D79"/>
          </a:solidFill>
          <a:ln/>
        </p:spPr>
      </p:sp>
      <p:sp>
        <p:nvSpPr>
          <p:cNvPr id="588" name="Text 2"/>
          <p:cNvSpPr/>
          <p:nvPr/>
        </p:nvSpPr>
        <p:spPr>
          <a:xfrm>
            <a:off x="731520" y="969264"/>
            <a:ext cx="92289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HY헤드라인M" pitchFamily="34" charset="-120"/>
              </a:rPr>
              <a:t>IB그룹이 소싱·구조화·주선, 종합금융본부가 초기 언더라이팅 담당</a:t>
            </a:r>
            <a:endParaRPr lang="en-US" sz="1500" b="1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HY헤드라인M" pitchFamily="34" charset="-120"/>
              </a:rPr>
              <a:t>기관영업·계열사까지 밸류체인을 넓혀 자본을 회수·재투입하는 순환 구조</a:t>
            </a:r>
            <a:endParaRPr lang="en-US" sz="1500" b="1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89" name="Shape 3"/>
          <p:cNvSpPr/>
          <p:nvPr/>
        </p:nvSpPr>
        <p:spPr>
          <a:xfrm>
            <a:off x="594360" y="1847088"/>
            <a:ext cx="2057400" cy="274320"/>
          </a:xfrm>
          <a:prstGeom prst="roundRect">
            <a:avLst>
              <a:gd name="adj" fmla="val 16667"/>
            </a:avLst>
          </a:prstGeom>
          <a:solidFill>
            <a:srgbClr val="0D4D79"/>
          </a:solidFill>
          <a:ln/>
        </p:spPr>
      </p:sp>
      <p:sp>
        <p:nvSpPr>
          <p:cNvPr id="590" name="Text 4"/>
          <p:cNvSpPr/>
          <p:nvPr/>
        </p:nvSpPr>
        <p:spPr>
          <a:xfrm>
            <a:off x="594360" y="18470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단계별 역할 분담</a:t>
            </a:r>
            <a:endParaRPr lang="en-US" sz="1200" dirty="0"/>
          </a:p>
        </p:txBody>
      </p:sp>
      <p:sp>
        <p:nvSpPr>
          <p:cNvPr id="591" name="Text 5"/>
          <p:cNvSpPr/>
          <p:nvPr/>
        </p:nvSpPr>
        <p:spPr>
          <a:xfrm>
            <a:off x="2743200" y="188366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(딜 1건의 진행 순서와 참여 조직)</a:t>
            </a:r>
            <a:endParaRPr lang="en-US" sz="1000" dirty="0"/>
          </a:p>
        </p:txBody>
      </p:sp>
      <p:sp>
        <p:nvSpPr>
          <p:cNvPr id="592" name="Shape 6"/>
          <p:cNvSpPr/>
          <p:nvPr/>
        </p:nvSpPr>
        <p:spPr>
          <a:xfrm>
            <a:off x="4443984" y="2139696"/>
            <a:ext cx="4238244" cy="8229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593" name="Text 7"/>
          <p:cNvSpPr/>
          <p:nvPr/>
        </p:nvSpPr>
        <p:spPr>
          <a:xfrm>
            <a:off x="4443984" y="1920240"/>
            <a:ext cx="4238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종금북 자본 투입 구간</a:t>
            </a:r>
            <a:endParaRPr lang="en-US" sz="950" dirty="0"/>
          </a:p>
        </p:txBody>
      </p:sp>
      <p:sp>
        <p:nvSpPr>
          <p:cNvPr id="594" name="Shape 8"/>
          <p:cNvSpPr/>
          <p:nvPr/>
        </p:nvSpPr>
        <p:spPr>
          <a:xfrm>
            <a:off x="594360" y="2231136"/>
            <a:ext cx="1024128" cy="274320"/>
          </a:xfrm>
          <a:prstGeom prst="rect">
            <a:avLst/>
          </a:prstGeom>
          <a:solidFill>
            <a:srgbClr val="0D4D7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5" name="Text 9"/>
          <p:cNvSpPr/>
          <p:nvPr/>
        </p:nvSpPr>
        <p:spPr>
          <a:xfrm>
            <a:off x="594360" y="223113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1000" dirty="0"/>
          </a:p>
        </p:txBody>
      </p:sp>
      <p:sp>
        <p:nvSpPr>
          <p:cNvPr id="596" name="Shape 10"/>
          <p:cNvSpPr/>
          <p:nvPr/>
        </p:nvSpPr>
        <p:spPr>
          <a:xfrm>
            <a:off x="1618488" y="2231136"/>
            <a:ext cx="1412748" cy="274320"/>
          </a:xfrm>
          <a:prstGeom prst="rect">
            <a:avLst/>
          </a:prstGeom>
          <a:solidFill>
            <a:srgbClr val="0D4D7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7" name="Text 11"/>
          <p:cNvSpPr/>
          <p:nvPr/>
        </p:nvSpPr>
        <p:spPr>
          <a:xfrm>
            <a:off x="1618488" y="2231136"/>
            <a:ext cx="1412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소싱</a:t>
            </a:r>
            <a:endParaRPr lang="en-US" sz="1000" dirty="0"/>
          </a:p>
        </p:txBody>
      </p:sp>
      <p:sp>
        <p:nvSpPr>
          <p:cNvPr id="598" name="Shape 12"/>
          <p:cNvSpPr/>
          <p:nvPr/>
        </p:nvSpPr>
        <p:spPr>
          <a:xfrm>
            <a:off x="3031236" y="2231136"/>
            <a:ext cx="1412748" cy="274320"/>
          </a:xfrm>
          <a:prstGeom prst="rect">
            <a:avLst/>
          </a:prstGeom>
          <a:solidFill>
            <a:srgbClr val="0D4D7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9" name="Text 13"/>
          <p:cNvSpPr/>
          <p:nvPr/>
        </p:nvSpPr>
        <p:spPr>
          <a:xfrm>
            <a:off x="3031236" y="2231136"/>
            <a:ext cx="1412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</a:t>
            </a:r>
            <a:endParaRPr lang="en-US" sz="1000" dirty="0"/>
          </a:p>
        </p:txBody>
      </p:sp>
      <p:sp>
        <p:nvSpPr>
          <p:cNvPr id="600" name="Shape 14"/>
          <p:cNvSpPr/>
          <p:nvPr/>
        </p:nvSpPr>
        <p:spPr>
          <a:xfrm>
            <a:off x="4443984" y="2231136"/>
            <a:ext cx="1412748" cy="274320"/>
          </a:xfrm>
          <a:prstGeom prst="rect">
            <a:avLst/>
          </a:prstGeom>
          <a:solidFill>
            <a:srgbClr val="0D4D7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1" name="Text 15"/>
          <p:cNvSpPr/>
          <p:nvPr/>
        </p:nvSpPr>
        <p:spPr>
          <a:xfrm>
            <a:off x="4443984" y="2231136"/>
            <a:ext cx="1412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언더라이팅</a:t>
            </a:r>
            <a:endParaRPr lang="en-US" sz="1000" dirty="0"/>
          </a:p>
        </p:txBody>
      </p:sp>
      <p:sp>
        <p:nvSpPr>
          <p:cNvPr id="602" name="Shape 16"/>
          <p:cNvSpPr/>
          <p:nvPr/>
        </p:nvSpPr>
        <p:spPr>
          <a:xfrm>
            <a:off x="5856732" y="2231136"/>
            <a:ext cx="1412748" cy="274320"/>
          </a:xfrm>
          <a:prstGeom prst="rect">
            <a:avLst/>
          </a:prstGeom>
          <a:solidFill>
            <a:srgbClr val="0D4D7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3" name="Text 17"/>
          <p:cNvSpPr/>
          <p:nvPr/>
        </p:nvSpPr>
        <p:spPr>
          <a:xfrm>
            <a:off x="5856732" y="2231136"/>
            <a:ext cx="1412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</a:t>
            </a:r>
            <a:endParaRPr lang="en-US" sz="1000" dirty="0"/>
          </a:p>
        </p:txBody>
      </p:sp>
      <p:sp>
        <p:nvSpPr>
          <p:cNvPr id="604" name="Shape 18"/>
          <p:cNvSpPr/>
          <p:nvPr/>
        </p:nvSpPr>
        <p:spPr>
          <a:xfrm>
            <a:off x="7269480" y="2231136"/>
            <a:ext cx="1412748" cy="274320"/>
          </a:xfrm>
          <a:prstGeom prst="rect">
            <a:avLst/>
          </a:prstGeom>
          <a:solidFill>
            <a:srgbClr val="0D4D7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5" name="Text 19"/>
          <p:cNvSpPr/>
          <p:nvPr/>
        </p:nvSpPr>
        <p:spPr>
          <a:xfrm>
            <a:off x="7269480" y="2231136"/>
            <a:ext cx="1412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셀다운</a:t>
            </a:r>
            <a:endParaRPr lang="en-US" sz="1000" dirty="0"/>
          </a:p>
        </p:txBody>
      </p:sp>
      <p:sp>
        <p:nvSpPr>
          <p:cNvPr id="606" name="Shape 20"/>
          <p:cNvSpPr/>
          <p:nvPr/>
        </p:nvSpPr>
        <p:spPr>
          <a:xfrm>
            <a:off x="8682228" y="2231136"/>
            <a:ext cx="1412748" cy="274320"/>
          </a:xfrm>
          <a:prstGeom prst="rect">
            <a:avLst/>
          </a:prstGeom>
          <a:solidFill>
            <a:srgbClr val="0D4D7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7" name="Text 21"/>
          <p:cNvSpPr/>
          <p:nvPr/>
        </p:nvSpPr>
        <p:spPr>
          <a:xfrm>
            <a:off x="8682228" y="2231136"/>
            <a:ext cx="1412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리파이낸싱</a:t>
            </a:r>
            <a:endParaRPr lang="en-US" sz="1000" dirty="0"/>
          </a:p>
        </p:txBody>
      </p:sp>
      <p:sp>
        <p:nvSpPr>
          <p:cNvPr id="608" name="Shape 22"/>
          <p:cNvSpPr/>
          <p:nvPr/>
        </p:nvSpPr>
        <p:spPr>
          <a:xfrm>
            <a:off x="594360" y="2505456"/>
            <a:ext cx="1024128" cy="548640"/>
          </a:xfrm>
          <a:prstGeom prst="rect">
            <a:avLst/>
          </a:prstGeom>
          <a:solidFill>
            <a:srgbClr val="C9DAE8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09" name="Text 23"/>
          <p:cNvSpPr/>
          <p:nvPr/>
        </p:nvSpPr>
        <p:spPr>
          <a:xfrm>
            <a:off x="621792" y="2505456"/>
            <a:ext cx="969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IB그룹</a:t>
            </a:r>
            <a:endParaRPr lang="en-US" sz="1000" dirty="0"/>
          </a:p>
        </p:txBody>
      </p:sp>
      <p:sp>
        <p:nvSpPr>
          <p:cNvPr id="610" name="Shape 24"/>
          <p:cNvSpPr/>
          <p:nvPr/>
        </p:nvSpPr>
        <p:spPr>
          <a:xfrm>
            <a:off x="1618488" y="2505456"/>
            <a:ext cx="14127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11" name="Text 25"/>
          <p:cNvSpPr/>
          <p:nvPr/>
        </p:nvSpPr>
        <p:spPr>
          <a:xfrm>
            <a:off x="1645920" y="2505456"/>
            <a:ext cx="1357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스폰서·PE·</a:t>
            </a:r>
            <a:endParaRPr lang="en-US" sz="10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IB 관계</a:t>
            </a:r>
            <a:endParaRPr lang="en-US" sz="1000" dirty="0"/>
          </a:p>
        </p:txBody>
      </p:sp>
      <p:sp>
        <p:nvSpPr>
          <p:cNvPr id="612" name="Shape 26"/>
          <p:cNvSpPr/>
          <p:nvPr/>
        </p:nvSpPr>
        <p:spPr>
          <a:xfrm>
            <a:off x="3031236" y="2505456"/>
            <a:ext cx="14127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13" name="Text 27"/>
          <p:cNvSpPr/>
          <p:nvPr/>
        </p:nvSpPr>
        <p:spPr>
          <a:xfrm>
            <a:off x="3058668" y="2505456"/>
            <a:ext cx="1357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인수금융·M&amp;A</a:t>
            </a:r>
            <a:endParaRPr lang="en-US" sz="10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설계</a:t>
            </a:r>
            <a:endParaRPr lang="en-US" sz="1000" dirty="0"/>
          </a:p>
        </p:txBody>
      </p:sp>
      <p:sp>
        <p:nvSpPr>
          <p:cNvPr id="614" name="Shape 28"/>
          <p:cNvSpPr/>
          <p:nvPr/>
        </p:nvSpPr>
        <p:spPr>
          <a:xfrm>
            <a:off x="4443984" y="2505456"/>
            <a:ext cx="14127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15" name="Text 29"/>
          <p:cNvSpPr/>
          <p:nvPr/>
        </p:nvSpPr>
        <p:spPr>
          <a:xfrm>
            <a:off x="4471416" y="2505456"/>
            <a:ext cx="1357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주선·</a:t>
            </a:r>
            <a:endParaRPr lang="en-US" sz="10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협상</a:t>
            </a:r>
            <a:endParaRPr lang="en-US" sz="1000" dirty="0"/>
          </a:p>
        </p:txBody>
      </p:sp>
      <p:sp>
        <p:nvSpPr>
          <p:cNvPr id="616" name="Shape 30"/>
          <p:cNvSpPr/>
          <p:nvPr/>
        </p:nvSpPr>
        <p:spPr>
          <a:xfrm>
            <a:off x="5856732" y="2505456"/>
            <a:ext cx="14127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17" name="Text 31"/>
          <p:cNvSpPr/>
          <p:nvPr/>
        </p:nvSpPr>
        <p:spPr>
          <a:xfrm>
            <a:off x="5884164" y="2505456"/>
            <a:ext cx="1357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스폰서 관리</a:t>
            </a:r>
            <a:endParaRPr lang="en-US" sz="1000" dirty="0"/>
          </a:p>
        </p:txBody>
      </p:sp>
      <p:sp>
        <p:nvSpPr>
          <p:cNvPr id="618" name="Shape 32"/>
          <p:cNvSpPr/>
          <p:nvPr/>
        </p:nvSpPr>
        <p:spPr>
          <a:xfrm>
            <a:off x="7269480" y="2505456"/>
            <a:ext cx="14127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19" name="Text 33"/>
          <p:cNvSpPr/>
          <p:nvPr/>
        </p:nvSpPr>
        <p:spPr>
          <a:xfrm>
            <a:off x="7296912" y="2505456"/>
            <a:ext cx="1357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은행·</a:t>
            </a:r>
            <a:endParaRPr lang="en-US" sz="10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 연결</a:t>
            </a:r>
            <a:endParaRPr lang="en-US" sz="1000" dirty="0"/>
          </a:p>
        </p:txBody>
      </p:sp>
      <p:sp>
        <p:nvSpPr>
          <p:cNvPr id="620" name="Shape 34"/>
          <p:cNvSpPr/>
          <p:nvPr/>
        </p:nvSpPr>
        <p:spPr>
          <a:xfrm>
            <a:off x="8682228" y="2505456"/>
            <a:ext cx="14127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21" name="Text 35"/>
          <p:cNvSpPr/>
          <p:nvPr/>
        </p:nvSpPr>
        <p:spPr>
          <a:xfrm>
            <a:off x="8709660" y="2505456"/>
            <a:ext cx="1357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후속 자문</a:t>
            </a:r>
            <a:endParaRPr lang="en-US" sz="1000" dirty="0"/>
          </a:p>
        </p:txBody>
      </p:sp>
      <p:sp>
        <p:nvSpPr>
          <p:cNvPr id="622" name="Shape 36"/>
          <p:cNvSpPr/>
          <p:nvPr/>
        </p:nvSpPr>
        <p:spPr>
          <a:xfrm>
            <a:off x="594360" y="3054096"/>
            <a:ext cx="1024128" cy="548640"/>
          </a:xfrm>
          <a:prstGeom prst="rect">
            <a:avLst/>
          </a:prstGeom>
          <a:solidFill>
            <a:srgbClr val="C9DAE8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23" name="Text 37"/>
          <p:cNvSpPr/>
          <p:nvPr/>
        </p:nvSpPr>
        <p:spPr>
          <a:xfrm>
            <a:off x="621792" y="3054096"/>
            <a:ext cx="969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종합금융본부</a:t>
            </a:r>
            <a:endParaRPr lang="en-US" sz="1000" dirty="0"/>
          </a:p>
        </p:txBody>
      </p:sp>
      <p:sp>
        <p:nvSpPr>
          <p:cNvPr id="624" name="Shape 38"/>
          <p:cNvSpPr/>
          <p:nvPr/>
        </p:nvSpPr>
        <p:spPr>
          <a:xfrm>
            <a:off x="1618488" y="3054096"/>
            <a:ext cx="14127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25" name="Text 39"/>
          <p:cNvSpPr/>
          <p:nvPr/>
        </p:nvSpPr>
        <p:spPr>
          <a:xfrm>
            <a:off x="1645920" y="3054096"/>
            <a:ext cx="1357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 수요</a:t>
            </a:r>
            <a:endParaRPr lang="en-US" sz="10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파악</a:t>
            </a:r>
            <a:endParaRPr lang="en-US" sz="1000" dirty="0"/>
          </a:p>
        </p:txBody>
      </p:sp>
      <p:sp>
        <p:nvSpPr>
          <p:cNvPr id="626" name="Shape 40"/>
          <p:cNvSpPr/>
          <p:nvPr/>
        </p:nvSpPr>
        <p:spPr>
          <a:xfrm>
            <a:off x="3031236" y="3054096"/>
            <a:ext cx="14127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27" name="Text 41"/>
          <p:cNvSpPr/>
          <p:nvPr/>
        </p:nvSpPr>
        <p:spPr>
          <a:xfrm>
            <a:off x="3058668" y="3054096"/>
            <a:ext cx="1357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조달구조</a:t>
            </a:r>
            <a:endParaRPr lang="en-US" sz="10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</a:t>
            </a:r>
            <a:endParaRPr lang="en-US" sz="1000" dirty="0"/>
          </a:p>
        </p:txBody>
      </p:sp>
      <p:sp>
        <p:nvSpPr>
          <p:cNvPr id="628" name="Shape 42"/>
          <p:cNvSpPr/>
          <p:nvPr/>
        </p:nvSpPr>
        <p:spPr>
          <a:xfrm>
            <a:off x="4443984" y="3054096"/>
            <a:ext cx="14127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29" name="Text 43"/>
          <p:cNvSpPr/>
          <p:nvPr/>
        </p:nvSpPr>
        <p:spPr>
          <a:xfrm>
            <a:off x="4471416" y="3054096"/>
            <a:ext cx="1357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인수확약·</a:t>
            </a:r>
            <a:endParaRPr lang="en-US" sz="10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브릿지론 제공</a:t>
            </a:r>
            <a:endParaRPr lang="en-US" sz="1000" dirty="0"/>
          </a:p>
        </p:txBody>
      </p:sp>
      <p:sp>
        <p:nvSpPr>
          <p:cNvPr id="630" name="Shape 44"/>
          <p:cNvSpPr/>
          <p:nvPr/>
        </p:nvSpPr>
        <p:spPr>
          <a:xfrm>
            <a:off x="5856732" y="3054096"/>
            <a:ext cx="14127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31" name="Text 45"/>
          <p:cNvSpPr/>
          <p:nvPr/>
        </p:nvSpPr>
        <p:spPr>
          <a:xfrm>
            <a:off x="5884164" y="3054096"/>
            <a:ext cx="1357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일정기간</a:t>
            </a:r>
            <a:endParaRPr lang="en-US" sz="10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 보유</a:t>
            </a:r>
            <a:endParaRPr lang="en-US" sz="1000" dirty="0"/>
          </a:p>
        </p:txBody>
      </p:sp>
      <p:sp>
        <p:nvSpPr>
          <p:cNvPr id="632" name="Shape 46"/>
          <p:cNvSpPr/>
          <p:nvPr/>
        </p:nvSpPr>
        <p:spPr>
          <a:xfrm>
            <a:off x="7269480" y="3054096"/>
            <a:ext cx="14127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33" name="Text 47"/>
          <p:cNvSpPr/>
          <p:nvPr/>
        </p:nvSpPr>
        <p:spPr>
          <a:xfrm>
            <a:off x="7296912" y="3054096"/>
            <a:ext cx="1357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기관</a:t>
            </a:r>
            <a:endParaRPr lang="en-US" sz="10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</a:t>
            </a:r>
            <a:endParaRPr lang="en-US" sz="1000" dirty="0"/>
          </a:p>
        </p:txBody>
      </p:sp>
      <p:sp>
        <p:nvSpPr>
          <p:cNvPr id="634" name="Shape 48"/>
          <p:cNvSpPr/>
          <p:nvPr/>
        </p:nvSpPr>
        <p:spPr>
          <a:xfrm>
            <a:off x="8682228" y="3054096"/>
            <a:ext cx="14127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35" name="Text 49"/>
          <p:cNvSpPr/>
          <p:nvPr/>
        </p:nvSpPr>
        <p:spPr>
          <a:xfrm>
            <a:off x="8709660" y="3054096"/>
            <a:ext cx="1357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재대출·</a:t>
            </a:r>
            <a:endParaRPr lang="en-US" sz="10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채권 발행</a:t>
            </a:r>
            <a:endParaRPr lang="en-US" sz="1000" dirty="0"/>
          </a:p>
        </p:txBody>
      </p:sp>
      <p:sp>
        <p:nvSpPr>
          <p:cNvPr id="636" name="Shape 50"/>
          <p:cNvSpPr/>
          <p:nvPr/>
        </p:nvSpPr>
        <p:spPr>
          <a:xfrm>
            <a:off x="594360" y="3602736"/>
            <a:ext cx="1024128" cy="347472"/>
          </a:xfrm>
          <a:prstGeom prst="rect">
            <a:avLst/>
          </a:prstGeom>
          <a:solidFill>
            <a:srgbClr val="C9DAE8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37" name="Text 51"/>
          <p:cNvSpPr/>
          <p:nvPr/>
        </p:nvSpPr>
        <p:spPr>
          <a:xfrm>
            <a:off x="621792" y="3602736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수익원</a:t>
            </a:r>
            <a:endParaRPr lang="en-US" sz="1000" dirty="0"/>
          </a:p>
        </p:txBody>
      </p:sp>
      <p:sp>
        <p:nvSpPr>
          <p:cNvPr id="638" name="Shape 52"/>
          <p:cNvSpPr/>
          <p:nvPr/>
        </p:nvSpPr>
        <p:spPr>
          <a:xfrm>
            <a:off x="1618488" y="3602736"/>
            <a:ext cx="1412748" cy="347472"/>
          </a:xfrm>
          <a:prstGeom prst="rect">
            <a:avLst/>
          </a:prstGeom>
          <a:solidFill>
            <a:srgbClr val="E7EEF4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39" name="Text 53"/>
          <p:cNvSpPr/>
          <p:nvPr/>
        </p:nvSpPr>
        <p:spPr>
          <a:xfrm>
            <a:off x="1645920" y="3602736"/>
            <a:ext cx="1357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자문 수수료</a:t>
            </a:r>
            <a:endParaRPr lang="en-US" sz="950" dirty="0"/>
          </a:p>
        </p:txBody>
      </p:sp>
      <p:sp>
        <p:nvSpPr>
          <p:cNvPr id="640" name="Shape 54"/>
          <p:cNvSpPr/>
          <p:nvPr/>
        </p:nvSpPr>
        <p:spPr>
          <a:xfrm>
            <a:off x="3031236" y="3602736"/>
            <a:ext cx="1412748" cy="347472"/>
          </a:xfrm>
          <a:prstGeom prst="rect">
            <a:avLst/>
          </a:prstGeom>
          <a:solidFill>
            <a:srgbClr val="E7EEF4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41" name="Text 55"/>
          <p:cNvSpPr/>
          <p:nvPr/>
        </p:nvSpPr>
        <p:spPr>
          <a:xfrm>
            <a:off x="3058668" y="3602736"/>
            <a:ext cx="1357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 수수료</a:t>
            </a:r>
            <a:endParaRPr lang="en-US" sz="950" dirty="0"/>
          </a:p>
        </p:txBody>
      </p:sp>
      <p:sp>
        <p:nvSpPr>
          <p:cNvPr id="642" name="Shape 56"/>
          <p:cNvSpPr/>
          <p:nvPr/>
        </p:nvSpPr>
        <p:spPr>
          <a:xfrm>
            <a:off x="4443984" y="3602736"/>
            <a:ext cx="1412748" cy="347472"/>
          </a:xfrm>
          <a:prstGeom prst="rect">
            <a:avLst/>
          </a:prstGeom>
          <a:solidFill>
            <a:srgbClr val="E7EEF4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43" name="Text 57"/>
          <p:cNvSpPr/>
          <p:nvPr/>
        </p:nvSpPr>
        <p:spPr>
          <a:xfrm>
            <a:off x="4471416" y="3602736"/>
            <a:ext cx="1357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인수 수수료</a:t>
            </a:r>
            <a:endParaRPr lang="en-US" sz="950" dirty="0"/>
          </a:p>
        </p:txBody>
      </p:sp>
      <p:sp>
        <p:nvSpPr>
          <p:cNvPr id="644" name="Shape 58"/>
          <p:cNvSpPr/>
          <p:nvPr/>
        </p:nvSpPr>
        <p:spPr>
          <a:xfrm>
            <a:off x="5856732" y="3602736"/>
            <a:ext cx="1412748" cy="347472"/>
          </a:xfrm>
          <a:prstGeom prst="rect">
            <a:avLst/>
          </a:prstGeom>
          <a:solidFill>
            <a:srgbClr val="E7EEF4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45" name="Text 59"/>
          <p:cNvSpPr/>
          <p:nvPr/>
        </p:nvSpPr>
        <p:spPr>
          <a:xfrm>
            <a:off x="5884164" y="3602736"/>
            <a:ext cx="1357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캐리</a:t>
            </a:r>
            <a:endParaRPr lang="en-US" sz="950" dirty="0"/>
          </a:p>
        </p:txBody>
      </p:sp>
      <p:sp>
        <p:nvSpPr>
          <p:cNvPr id="646" name="Shape 60"/>
          <p:cNvSpPr/>
          <p:nvPr/>
        </p:nvSpPr>
        <p:spPr>
          <a:xfrm>
            <a:off x="7269480" y="3602736"/>
            <a:ext cx="1412748" cy="347472"/>
          </a:xfrm>
          <a:prstGeom prst="rect">
            <a:avLst/>
          </a:prstGeom>
          <a:solidFill>
            <a:srgbClr val="E7EEF4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47" name="Text 61"/>
          <p:cNvSpPr/>
          <p:nvPr/>
        </p:nvSpPr>
        <p:spPr>
          <a:xfrm>
            <a:off x="7296912" y="3602736"/>
            <a:ext cx="1357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신디케이션</a:t>
            </a:r>
            <a:endParaRPr lang="en-US" sz="95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수수료</a:t>
            </a:r>
            <a:endParaRPr lang="en-US" sz="950" dirty="0"/>
          </a:p>
        </p:txBody>
      </p:sp>
      <p:sp>
        <p:nvSpPr>
          <p:cNvPr id="648" name="Shape 62"/>
          <p:cNvSpPr/>
          <p:nvPr/>
        </p:nvSpPr>
        <p:spPr>
          <a:xfrm>
            <a:off x="8682228" y="3602736"/>
            <a:ext cx="1412748" cy="347472"/>
          </a:xfrm>
          <a:prstGeom prst="rect">
            <a:avLst/>
          </a:prstGeom>
          <a:solidFill>
            <a:srgbClr val="E7EEF4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49" name="Text 63"/>
          <p:cNvSpPr/>
          <p:nvPr/>
        </p:nvSpPr>
        <p:spPr>
          <a:xfrm>
            <a:off x="8709660" y="3602736"/>
            <a:ext cx="1357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리파이낸싱</a:t>
            </a:r>
            <a:endParaRPr lang="en-US" sz="95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수수료</a:t>
            </a:r>
            <a:endParaRPr lang="en-US" sz="950" dirty="0"/>
          </a:p>
        </p:txBody>
      </p:sp>
      <p:sp>
        <p:nvSpPr>
          <p:cNvPr id="650" name="Shape 64"/>
          <p:cNvSpPr/>
          <p:nvPr/>
        </p:nvSpPr>
        <p:spPr>
          <a:xfrm>
            <a:off x="594360" y="3950208"/>
            <a:ext cx="1024128" cy="475488"/>
          </a:xfrm>
          <a:prstGeom prst="rect">
            <a:avLst/>
          </a:prstGeom>
          <a:solidFill>
            <a:srgbClr val="C9DAE8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51" name="Text 65"/>
          <p:cNvSpPr/>
          <p:nvPr/>
        </p:nvSpPr>
        <p:spPr>
          <a:xfrm>
            <a:off x="621792" y="3950208"/>
            <a:ext cx="969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연계 조직·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계열사</a:t>
            </a:r>
            <a:endParaRPr lang="en-US" sz="1000" dirty="0"/>
          </a:p>
        </p:txBody>
      </p:sp>
      <p:sp>
        <p:nvSpPr>
          <p:cNvPr id="652" name="Shape 66"/>
          <p:cNvSpPr/>
          <p:nvPr/>
        </p:nvSpPr>
        <p:spPr>
          <a:xfrm>
            <a:off x="1618488" y="3950208"/>
            <a:ext cx="141274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53" name="Text 67"/>
          <p:cNvSpPr/>
          <p:nvPr/>
        </p:nvSpPr>
        <p:spPr>
          <a:xfrm>
            <a:off x="1645920" y="3950208"/>
            <a:ext cx="13578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법인</a:t>
            </a:r>
            <a:endParaRPr lang="en-US" sz="95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기업금융 커버리지</a:t>
            </a:r>
            <a:endParaRPr lang="en-US" sz="950" dirty="0"/>
          </a:p>
        </p:txBody>
      </p:sp>
      <p:sp>
        <p:nvSpPr>
          <p:cNvPr id="654" name="Shape 68"/>
          <p:cNvSpPr/>
          <p:nvPr/>
        </p:nvSpPr>
        <p:spPr>
          <a:xfrm>
            <a:off x="3031236" y="3950208"/>
            <a:ext cx="141274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55" name="Text 69"/>
          <p:cNvSpPr/>
          <p:nvPr/>
        </p:nvSpPr>
        <p:spPr>
          <a:xfrm>
            <a:off x="3058668" y="3950208"/>
            <a:ext cx="13578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리스크관리본부</a:t>
            </a:r>
            <a:endParaRPr lang="en-US" sz="95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(심사)</a:t>
            </a:r>
            <a:endParaRPr lang="en-US" sz="950" dirty="0"/>
          </a:p>
        </p:txBody>
      </p:sp>
      <p:sp>
        <p:nvSpPr>
          <p:cNvPr id="656" name="Shape 70"/>
          <p:cNvSpPr/>
          <p:nvPr/>
        </p:nvSpPr>
        <p:spPr>
          <a:xfrm>
            <a:off x="4443984" y="3950208"/>
            <a:ext cx="141274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57" name="Text 71"/>
          <p:cNvSpPr/>
          <p:nvPr/>
        </p:nvSpPr>
        <p:spPr>
          <a:xfrm>
            <a:off x="4471416" y="3950208"/>
            <a:ext cx="13578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종금북</a:t>
            </a:r>
            <a:endParaRPr lang="en-US" sz="950" dirty="0"/>
          </a:p>
        </p:txBody>
      </p:sp>
      <p:sp>
        <p:nvSpPr>
          <p:cNvPr id="658" name="Shape 72"/>
          <p:cNvSpPr/>
          <p:nvPr/>
        </p:nvSpPr>
        <p:spPr>
          <a:xfrm>
            <a:off x="5856732" y="3950208"/>
            <a:ext cx="141274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59" name="Text 73"/>
          <p:cNvSpPr/>
          <p:nvPr/>
        </p:nvSpPr>
        <p:spPr>
          <a:xfrm>
            <a:off x="5884164" y="3950208"/>
            <a:ext cx="13578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S&amp;T</a:t>
            </a:r>
            <a:endParaRPr lang="en-US" sz="95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(헤지)</a:t>
            </a:r>
            <a:endParaRPr lang="en-US" sz="950" dirty="0"/>
          </a:p>
        </p:txBody>
      </p:sp>
      <p:sp>
        <p:nvSpPr>
          <p:cNvPr id="660" name="Shape 74"/>
          <p:cNvSpPr/>
          <p:nvPr/>
        </p:nvSpPr>
        <p:spPr>
          <a:xfrm>
            <a:off x="7269480" y="3950208"/>
            <a:ext cx="141274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61" name="Text 75"/>
          <p:cNvSpPr/>
          <p:nvPr/>
        </p:nvSpPr>
        <p:spPr>
          <a:xfrm>
            <a:off x="7296912" y="3950208"/>
            <a:ext cx="13578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기관영업·한투운용</a:t>
            </a:r>
            <a:endParaRPr lang="en-US" sz="95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(지주 생보사)</a:t>
            </a:r>
            <a:endParaRPr lang="en-US" sz="950" dirty="0"/>
          </a:p>
        </p:txBody>
      </p:sp>
      <p:sp>
        <p:nvSpPr>
          <p:cNvPr id="662" name="Shape 76"/>
          <p:cNvSpPr/>
          <p:nvPr/>
        </p:nvSpPr>
        <p:spPr>
          <a:xfrm>
            <a:off x="8682228" y="3950208"/>
            <a:ext cx="141274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63" name="Text 77"/>
          <p:cNvSpPr/>
          <p:nvPr/>
        </p:nvSpPr>
        <p:spPr>
          <a:xfrm>
            <a:off x="8709660" y="3950208"/>
            <a:ext cx="13578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5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DCM</a:t>
            </a:r>
            <a:endParaRPr lang="en-US" sz="950" dirty="0"/>
          </a:p>
        </p:txBody>
      </p:sp>
      <p:sp>
        <p:nvSpPr>
          <p:cNvPr id="664" name="Shape 78"/>
          <p:cNvSpPr/>
          <p:nvPr/>
        </p:nvSpPr>
        <p:spPr>
          <a:xfrm>
            <a:off x="594360" y="4626864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D4D79"/>
          </a:solidFill>
          <a:ln/>
        </p:spPr>
      </p:sp>
      <p:sp>
        <p:nvSpPr>
          <p:cNvPr id="665" name="Text 79"/>
          <p:cNvSpPr/>
          <p:nvPr/>
        </p:nvSpPr>
        <p:spPr>
          <a:xfrm>
            <a:off x="594360" y="4626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셀다운처</a:t>
            </a:r>
            <a:endParaRPr lang="en-US" sz="1200" dirty="0"/>
          </a:p>
        </p:txBody>
      </p:sp>
      <p:sp>
        <p:nvSpPr>
          <p:cNvPr id="666" name="Text 80"/>
          <p:cNvSpPr/>
          <p:nvPr/>
        </p:nvSpPr>
        <p:spPr>
          <a:xfrm>
            <a:off x="2331720" y="46634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(계열사 및 외부 기관)</a:t>
            </a:r>
            <a:endParaRPr lang="en-US" sz="1000" dirty="0"/>
          </a:p>
        </p:txBody>
      </p:sp>
      <p:sp>
        <p:nvSpPr>
          <p:cNvPr id="667" name="Shape 81"/>
          <p:cNvSpPr/>
          <p:nvPr/>
        </p:nvSpPr>
        <p:spPr>
          <a:xfrm>
            <a:off x="594360" y="4992624"/>
            <a:ext cx="120015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68" name="Text 82"/>
          <p:cNvSpPr/>
          <p:nvPr/>
        </p:nvSpPr>
        <p:spPr>
          <a:xfrm>
            <a:off x="630936" y="5047488"/>
            <a:ext cx="11269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지주 생보사*</a:t>
            </a:r>
            <a:endParaRPr lang="en-US" sz="1000" dirty="0"/>
          </a:p>
        </p:txBody>
      </p:sp>
      <p:sp>
        <p:nvSpPr>
          <p:cNvPr id="669" name="Text 83"/>
          <p:cNvSpPr/>
          <p:nvPr/>
        </p:nvSpPr>
        <p:spPr>
          <a:xfrm>
            <a:off x="630936" y="5285232"/>
            <a:ext cx="11269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 시 장기</a:t>
            </a:r>
            <a:endParaRPr lang="en-US" sz="10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달러자산 수요처</a:t>
            </a:r>
            <a:endParaRPr lang="en-US" sz="1000" dirty="0"/>
          </a:p>
        </p:txBody>
      </p:sp>
      <p:sp>
        <p:nvSpPr>
          <p:cNvPr id="670" name="Shape 84"/>
          <p:cNvSpPr/>
          <p:nvPr/>
        </p:nvSpPr>
        <p:spPr>
          <a:xfrm>
            <a:off x="1885950" y="4992624"/>
            <a:ext cx="120015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71" name="Text 85"/>
          <p:cNvSpPr/>
          <p:nvPr/>
        </p:nvSpPr>
        <p:spPr>
          <a:xfrm>
            <a:off x="1922526" y="5047488"/>
            <a:ext cx="11269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한투운용</a:t>
            </a:r>
            <a:endParaRPr lang="en-US" sz="1000" dirty="0"/>
          </a:p>
        </p:txBody>
      </p:sp>
      <p:sp>
        <p:nvSpPr>
          <p:cNvPr id="672" name="Text 86"/>
          <p:cNvSpPr/>
          <p:nvPr/>
        </p:nvSpPr>
        <p:spPr>
          <a:xfrm>
            <a:off x="1922526" y="5285232"/>
            <a:ext cx="11269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펀드</a:t>
            </a:r>
            <a:endParaRPr lang="en-US" sz="10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상품화</a:t>
            </a:r>
            <a:endParaRPr lang="en-US" sz="1000" dirty="0"/>
          </a:p>
        </p:txBody>
      </p:sp>
      <p:sp>
        <p:nvSpPr>
          <p:cNvPr id="673" name="Shape 87"/>
          <p:cNvSpPr/>
          <p:nvPr/>
        </p:nvSpPr>
        <p:spPr>
          <a:xfrm>
            <a:off x="3177540" y="4992624"/>
            <a:ext cx="120015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74" name="Text 88"/>
          <p:cNvSpPr/>
          <p:nvPr/>
        </p:nvSpPr>
        <p:spPr>
          <a:xfrm>
            <a:off x="3214116" y="5047488"/>
            <a:ext cx="11269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연기금·보험</a:t>
            </a:r>
            <a:endParaRPr lang="en-US" sz="1000" dirty="0"/>
          </a:p>
        </p:txBody>
      </p:sp>
      <p:sp>
        <p:nvSpPr>
          <p:cNvPr id="675" name="Text 89"/>
          <p:cNvSpPr/>
          <p:nvPr/>
        </p:nvSpPr>
        <p:spPr>
          <a:xfrm>
            <a:off x="3214116" y="5285232"/>
            <a:ext cx="11269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사모</a:t>
            </a:r>
            <a:endParaRPr lang="en-US" sz="10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신디케이션</a:t>
            </a:r>
            <a:endParaRPr lang="en-US" sz="1000" dirty="0"/>
          </a:p>
        </p:txBody>
      </p:sp>
      <p:sp>
        <p:nvSpPr>
          <p:cNvPr id="676" name="Shape 90"/>
          <p:cNvSpPr/>
          <p:nvPr/>
        </p:nvSpPr>
        <p:spPr>
          <a:xfrm>
            <a:off x="4469130" y="4992624"/>
            <a:ext cx="120015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677" name="Text 91"/>
          <p:cNvSpPr/>
          <p:nvPr/>
        </p:nvSpPr>
        <p:spPr>
          <a:xfrm>
            <a:off x="4505706" y="5047488"/>
            <a:ext cx="11269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은행·PE</a:t>
            </a:r>
            <a:endParaRPr lang="en-US" sz="1000" dirty="0"/>
          </a:p>
        </p:txBody>
      </p:sp>
      <p:sp>
        <p:nvSpPr>
          <p:cNvPr id="678" name="Text 92"/>
          <p:cNvSpPr/>
          <p:nvPr/>
        </p:nvSpPr>
        <p:spPr>
          <a:xfrm>
            <a:off x="4505706" y="5285232"/>
            <a:ext cx="11269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 참여</a:t>
            </a:r>
            <a:endParaRPr lang="en-US" sz="10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</a:t>
            </a:r>
            <a:endParaRPr lang="en-US" sz="1000" dirty="0"/>
          </a:p>
        </p:txBody>
      </p:sp>
      <p:sp>
        <p:nvSpPr>
          <p:cNvPr id="679" name="Shape 93"/>
          <p:cNvSpPr/>
          <p:nvPr/>
        </p:nvSpPr>
        <p:spPr>
          <a:xfrm>
            <a:off x="5989320" y="4626864"/>
            <a:ext cx="1874520" cy="274320"/>
          </a:xfrm>
          <a:prstGeom prst="roundRect">
            <a:avLst>
              <a:gd name="adj" fmla="val 16667"/>
            </a:avLst>
          </a:prstGeom>
          <a:solidFill>
            <a:srgbClr val="0D4D79"/>
          </a:solidFill>
          <a:ln/>
        </p:spPr>
      </p:sp>
      <p:sp>
        <p:nvSpPr>
          <p:cNvPr id="680" name="Text 94"/>
          <p:cNvSpPr/>
          <p:nvPr/>
        </p:nvSpPr>
        <p:spPr>
          <a:xfrm>
            <a:off x="5989320" y="46268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사전 합의 사항</a:t>
            </a:r>
            <a:endParaRPr lang="en-US" sz="1200" dirty="0"/>
          </a:p>
        </p:txBody>
      </p:sp>
      <p:sp>
        <p:nvSpPr>
          <p:cNvPr id="681" name="Shape 95"/>
          <p:cNvSpPr/>
          <p:nvPr/>
        </p:nvSpPr>
        <p:spPr>
          <a:xfrm>
            <a:off x="5989320" y="4992624"/>
            <a:ext cx="4105656" cy="841248"/>
          </a:xfrm>
          <a:prstGeom prst="rect">
            <a:avLst/>
          </a:prstGeom>
          <a:solidFill>
            <a:srgbClr val="F7F8FA"/>
          </a:solidFill>
          <a:ln w="9525">
            <a:solidFill>
              <a:srgbClr val="E8EBEF"/>
            </a:solidFill>
            <a:prstDash val="solid"/>
          </a:ln>
        </p:spPr>
      </p:sp>
      <p:sp>
        <p:nvSpPr>
          <p:cNvPr id="682" name="Text 96"/>
          <p:cNvSpPr/>
          <p:nvPr/>
        </p:nvSpPr>
        <p:spPr>
          <a:xfrm>
            <a:off x="6135624" y="5084064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000" dirty="0"/>
          </a:p>
        </p:txBody>
      </p:sp>
      <p:sp>
        <p:nvSpPr>
          <p:cNvPr id="683" name="Text 97"/>
          <p:cNvSpPr/>
          <p:nvPr/>
        </p:nvSpPr>
        <p:spPr>
          <a:xfrm>
            <a:off x="6318504" y="5084064"/>
            <a:ext cx="3630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딜 승인 시점에 </a:t>
            </a: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딜 단위 손익 배분 비율 확정</a:t>
            </a: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(캐리는 종금북, 자문·주선 수수료는 IB, 셀다운 손익은 사전 배분)</a:t>
            </a:r>
            <a:endParaRPr lang="en-US" sz="1000" dirty="0"/>
          </a:p>
        </p:txBody>
      </p:sp>
      <p:sp>
        <p:nvSpPr>
          <p:cNvPr id="684" name="Text 98"/>
          <p:cNvSpPr/>
          <p:nvPr/>
        </p:nvSpPr>
        <p:spPr>
          <a:xfrm>
            <a:off x="6135624" y="5504688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000" dirty="0"/>
          </a:p>
        </p:txBody>
      </p:sp>
      <p:sp>
        <p:nvSpPr>
          <p:cNvPr id="685" name="Text 99"/>
          <p:cNvSpPr/>
          <p:nvPr/>
        </p:nvSpPr>
        <p:spPr>
          <a:xfrm>
            <a:off x="6318504" y="5504688"/>
            <a:ext cx="3630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언더라이팅 승인 조건에 </a:t>
            </a: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 내 셀다운 미완료 시 처리 방안</a:t>
            </a: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포함</a:t>
            </a:r>
            <a:endParaRPr lang="en-US" sz="1000" dirty="0"/>
          </a:p>
        </p:txBody>
      </p:sp>
      <p:sp>
        <p:nvSpPr>
          <p:cNvPr id="686" name="Shape 100"/>
          <p:cNvSpPr/>
          <p:nvPr/>
        </p:nvSpPr>
        <p:spPr>
          <a:xfrm>
            <a:off x="594360" y="6035040"/>
            <a:ext cx="9503268" cy="566928"/>
          </a:xfrm>
          <a:prstGeom prst="rect">
            <a:avLst/>
          </a:prstGeom>
          <a:solidFill>
            <a:srgbClr val="FFF2CC"/>
          </a:solidFill>
          <a:ln w="9525">
            <a:solidFill>
              <a:srgbClr val="FFDC6D"/>
            </a:solidFill>
            <a:prstDash val="solid"/>
          </a:ln>
        </p:spPr>
      </p:sp>
      <p:sp>
        <p:nvSpPr>
          <p:cNvPr id="687" name="Text 101"/>
          <p:cNvSpPr/>
          <p:nvPr/>
        </p:nvSpPr>
        <p:spPr>
          <a:xfrm>
            <a:off x="777240" y="6035040"/>
            <a:ext cx="91375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딜 1건이 IB그룹·종합금융본부에서 기관영업·S&amp;T를 거쳐 한투운용 등 계열사까지 이어지므로, 손익은 참여 조직 전체를 합산해 판단해야 함. </a:t>
            </a:r>
          </a:p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조직의 개별 수익률로만 보면 딜이 승인되지 않으며, Deal RAROC 기준과 셀다운 미완료 잔액 한도를 먼저 합의해야 함</a:t>
            </a:r>
            <a:endParaRPr lang="en-US" sz="1000" dirty="0"/>
          </a:p>
        </p:txBody>
      </p:sp>
      <p:sp>
        <p:nvSpPr>
          <p:cNvPr id="688" name="Text 102"/>
          <p:cNvSpPr/>
          <p:nvPr/>
        </p:nvSpPr>
        <p:spPr>
          <a:xfrm>
            <a:off x="594360" y="6784848"/>
            <a:ext cx="9503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4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종금북 자본 투입 구간은 언더라이팅부터 셀다운 완료까지이며, 이 구간의 길이가 딜 수익성을 결정</a:t>
            </a:r>
            <a:endParaRPr lang="en-US" sz="8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지주 생보사는 인수 절차 진행 중으로, 확보를 전제로 한 셀다운처 후보 표기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Text 0"/>
          <p:cNvSpPr/>
          <p:nvPr/>
        </p:nvSpPr>
        <p:spPr>
          <a:xfrm>
            <a:off x="594360" y="475488"/>
            <a:ext cx="95032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우선 추진 사업모델 및 선결 확인사항</a:t>
            </a:r>
            <a:endParaRPr lang="en-US" sz="1700" b="1" dirty="0"/>
          </a:p>
        </p:txBody>
      </p:sp>
      <p:sp>
        <p:nvSpPr>
          <p:cNvPr id="690" name="Shape 1"/>
          <p:cNvSpPr/>
          <p:nvPr/>
        </p:nvSpPr>
        <p:spPr>
          <a:xfrm>
            <a:off x="594360" y="969264"/>
            <a:ext cx="9503268" cy="749808"/>
          </a:xfrm>
          <a:prstGeom prst="rect">
            <a:avLst/>
          </a:prstGeom>
          <a:solidFill>
            <a:srgbClr val="0D4D79"/>
          </a:solidFill>
          <a:ln/>
        </p:spPr>
      </p:sp>
      <p:sp>
        <p:nvSpPr>
          <p:cNvPr id="691" name="Text 2"/>
          <p:cNvSpPr/>
          <p:nvPr/>
        </p:nvSpPr>
        <p:spPr>
          <a:xfrm>
            <a:off x="731520" y="969264"/>
            <a:ext cx="92289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글로벌 인프라 인수금융과 국내기업 해외확장 금융을 우선 추진</a:t>
            </a:r>
            <a:endParaRPr lang="en-US" sz="1500" b="1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C000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발행어음 운용규제 분류와 부킹 주체 확인 전에는 본격 추진 불가</a:t>
            </a:r>
            <a:endParaRPr lang="en-US" sz="1500" b="1" dirty="0"/>
          </a:p>
        </p:txBody>
      </p:sp>
      <p:sp>
        <p:nvSpPr>
          <p:cNvPr id="692" name="Shape 3"/>
          <p:cNvSpPr/>
          <p:nvPr/>
        </p:nvSpPr>
        <p:spPr>
          <a:xfrm>
            <a:off x="594360" y="1847088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0D4D79"/>
          </a:solidFill>
          <a:ln/>
        </p:spPr>
      </p:sp>
      <p:sp>
        <p:nvSpPr>
          <p:cNvPr id="693" name="Text 4"/>
          <p:cNvSpPr/>
          <p:nvPr/>
        </p:nvSpPr>
        <p:spPr>
          <a:xfrm>
            <a:off x="594360" y="1847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우선순위별 사업모델</a:t>
            </a:r>
            <a:endParaRPr lang="en-US" sz="1200" dirty="0"/>
          </a:p>
        </p:txBody>
      </p:sp>
      <p:graphicFrame>
        <p:nvGraphicFramePr>
          <p:cNvPr id="6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031184"/>
              </p:ext>
            </p:extLst>
          </p:nvPr>
        </p:nvGraphicFramePr>
        <p:xfrm>
          <a:off x="594360" y="2212848"/>
          <a:ext cx="5577840" cy="239572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우선순위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사업모델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진입 여건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1순위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글로벌 인프라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인수금융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글로벌 인프라 운용사의 자산 인수 시 </a:t>
                      </a:r>
                      <a:r>
                        <a:rPr lang="en-US" sz="900" dirty="0" err="1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인수금융</a:t>
                      </a: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제공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pitchFamily="34" charset="-120"/>
                        </a:rPr>
                        <a:t>, </a:t>
                      </a:r>
                      <a:r>
                        <a:rPr lang="en-US" sz="900" dirty="0" err="1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이미</a:t>
                      </a: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가동 중인 기존 자산으로 한정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PE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인수금융 연장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2순위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국내기업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해외확장 금융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기업의 해외 발전·데이터센터·LNG 설비 </a:t>
                      </a:r>
                      <a:r>
                        <a:rPr lang="en-US" sz="900" dirty="0" err="1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인수</a:t>
                      </a: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건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pitchFamily="34" charset="-120"/>
                        </a:rPr>
                        <a:t>, </a:t>
                      </a: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M&amp;A 자문·인수금융·헤지를 묶어 제안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커버리지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활용 가능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3순위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데이터센터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주변 인프라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전력·송배전·ESS·냉각 등 장기계약이 확보된 자산의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인수금융·브릿지론·메자닌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섹터 심사역량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확보 필요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4순위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포트폴리오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복수 자산을 일정 규모까지 모은 뒤 </a:t>
                      </a:r>
                      <a:r>
                        <a:rPr lang="en-US" sz="900" dirty="0" err="1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단계적으로</a:t>
                      </a: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셀다운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pitchFamily="34" charset="-120"/>
                        </a:rPr>
                        <a:t>, </a:t>
                      </a:r>
                      <a:r>
                        <a:rPr lang="en-US" sz="900" dirty="0" err="1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셀다운</a:t>
                      </a: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미완료 위험이 가장 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규제 확인 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3년차 이후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5" name="Shape 5"/>
          <p:cNvSpPr/>
          <p:nvPr/>
        </p:nvSpPr>
        <p:spPr>
          <a:xfrm>
            <a:off x="6400800" y="1847088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0D4D79"/>
          </a:solidFill>
          <a:ln/>
        </p:spPr>
      </p:sp>
      <p:sp>
        <p:nvSpPr>
          <p:cNvPr id="696" name="Text 6"/>
          <p:cNvSpPr/>
          <p:nvPr/>
        </p:nvSpPr>
        <p:spPr>
          <a:xfrm>
            <a:off x="6400800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선결 확인사항</a:t>
            </a:r>
            <a:endParaRPr lang="en-US" sz="1200" dirty="0"/>
          </a:p>
        </p:txBody>
      </p:sp>
      <p:sp>
        <p:nvSpPr>
          <p:cNvPr id="697" name="Shape 7"/>
          <p:cNvSpPr/>
          <p:nvPr/>
        </p:nvSpPr>
        <p:spPr>
          <a:xfrm>
            <a:off x="6400800" y="2212848"/>
            <a:ext cx="3694176" cy="2395728"/>
          </a:xfrm>
          <a:prstGeom prst="rect">
            <a:avLst/>
          </a:prstGeom>
          <a:solidFill>
            <a:srgbClr val="F7F8FA"/>
          </a:solidFill>
          <a:ln w="9525">
            <a:solidFill>
              <a:srgbClr val="E8EBEF"/>
            </a:solidFill>
            <a:prstDash val="solid"/>
          </a:ln>
        </p:spPr>
      </p:sp>
      <p:sp>
        <p:nvSpPr>
          <p:cNvPr id="698" name="Text 8"/>
          <p:cNvSpPr/>
          <p:nvPr/>
        </p:nvSpPr>
        <p:spPr>
          <a:xfrm>
            <a:off x="6547104" y="2377440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000" dirty="0"/>
          </a:p>
        </p:txBody>
      </p:sp>
      <p:sp>
        <p:nvSpPr>
          <p:cNvPr id="699" name="Text 9"/>
          <p:cNvSpPr/>
          <p:nvPr/>
        </p:nvSpPr>
        <p:spPr>
          <a:xfrm>
            <a:off x="6729984" y="2377440"/>
            <a:ext cx="32186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발행어음 운용규제: </a:t>
            </a: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인프라 SPC 대출의 기업금융 자산 인정 여부, 데이터센터의 부동산 관련 자산 분류 여부</a:t>
            </a:r>
            <a:endParaRPr lang="en-US" sz="1000" dirty="0"/>
          </a:p>
        </p:txBody>
      </p:sp>
      <p:sp>
        <p:nvSpPr>
          <p:cNvPr id="700" name="Text 10"/>
          <p:cNvSpPr/>
          <p:nvPr/>
        </p:nvSpPr>
        <p:spPr>
          <a:xfrm>
            <a:off x="6547104" y="3145536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000" dirty="0"/>
          </a:p>
        </p:txBody>
      </p:sp>
      <p:sp>
        <p:nvSpPr>
          <p:cNvPr id="701" name="Text 11"/>
          <p:cNvSpPr/>
          <p:nvPr/>
        </p:nvSpPr>
        <p:spPr>
          <a:xfrm>
            <a:off x="6729984" y="3145536"/>
            <a:ext cx="32186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통화·만기 미스매치: </a:t>
            </a: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원화 조달자금을 달러자산에 운용할 때의 스왑비용을 딜 수익성에 선반영</a:t>
            </a:r>
            <a:endParaRPr lang="en-US" sz="1000" dirty="0"/>
          </a:p>
        </p:txBody>
      </p:sp>
      <p:sp>
        <p:nvSpPr>
          <p:cNvPr id="702" name="Text 12"/>
          <p:cNvSpPr/>
          <p:nvPr/>
        </p:nvSpPr>
        <p:spPr>
          <a:xfrm>
            <a:off x="6547104" y="3913632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000" dirty="0"/>
          </a:p>
        </p:txBody>
      </p:sp>
      <p:sp>
        <p:nvSpPr>
          <p:cNvPr id="703" name="Text 13"/>
          <p:cNvSpPr/>
          <p:nvPr/>
        </p:nvSpPr>
        <p:spPr>
          <a:xfrm>
            <a:off x="6729984" y="3913632"/>
            <a:ext cx="32186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부킹 주체: </a:t>
            </a: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본사·뉴욕·홍콩·싱가포르 법인별 자본규제와 세제를 비교해 결정</a:t>
            </a:r>
            <a:endParaRPr lang="en-US" sz="1000" dirty="0"/>
          </a:p>
        </p:txBody>
      </p:sp>
      <p:sp>
        <p:nvSpPr>
          <p:cNvPr id="704" name="Shape 14"/>
          <p:cNvSpPr/>
          <p:nvPr/>
        </p:nvSpPr>
        <p:spPr>
          <a:xfrm>
            <a:off x="594360" y="4809744"/>
            <a:ext cx="2057400" cy="274320"/>
          </a:xfrm>
          <a:prstGeom prst="roundRect">
            <a:avLst>
              <a:gd name="adj" fmla="val 16667"/>
            </a:avLst>
          </a:prstGeom>
          <a:solidFill>
            <a:srgbClr val="0D4D79"/>
          </a:solidFill>
          <a:ln/>
        </p:spPr>
      </p:sp>
      <p:sp>
        <p:nvSpPr>
          <p:cNvPr id="705" name="Text 15"/>
          <p:cNvSpPr/>
          <p:nvPr/>
        </p:nvSpPr>
        <p:spPr>
          <a:xfrm>
            <a:off x="594360" y="48097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리스크 관리 원칙</a:t>
            </a:r>
            <a:endParaRPr lang="en-US" sz="1200" dirty="0"/>
          </a:p>
        </p:txBody>
      </p:sp>
      <p:sp>
        <p:nvSpPr>
          <p:cNvPr id="706" name="Text 16"/>
          <p:cNvSpPr/>
          <p:nvPr/>
        </p:nvSpPr>
        <p:spPr>
          <a:xfrm>
            <a:off x="2743200" y="4846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(해외 대체투자 손실 경험 반영)</a:t>
            </a:r>
            <a:endParaRPr lang="en-US" sz="1000" dirty="0"/>
          </a:p>
        </p:txBody>
      </p:sp>
      <p:sp>
        <p:nvSpPr>
          <p:cNvPr id="707" name="Shape 17"/>
          <p:cNvSpPr/>
          <p:nvPr/>
        </p:nvSpPr>
        <p:spPr>
          <a:xfrm>
            <a:off x="594360" y="5175504"/>
            <a:ext cx="9503268" cy="987552"/>
          </a:xfrm>
          <a:prstGeom prst="rect">
            <a:avLst/>
          </a:prstGeom>
          <a:solidFill>
            <a:srgbClr val="F7F8FA"/>
          </a:solidFill>
          <a:ln w="9525">
            <a:solidFill>
              <a:srgbClr val="E8EBEF"/>
            </a:solidFill>
            <a:prstDash val="solid"/>
          </a:ln>
        </p:spPr>
      </p:sp>
      <p:sp>
        <p:nvSpPr>
          <p:cNvPr id="708" name="Text 18"/>
          <p:cNvSpPr/>
          <p:nvPr/>
        </p:nvSpPr>
        <p:spPr>
          <a:xfrm>
            <a:off x="740664" y="5285232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000" dirty="0"/>
          </a:p>
        </p:txBody>
      </p:sp>
      <p:sp>
        <p:nvSpPr>
          <p:cNvPr id="709" name="Text 19"/>
          <p:cNvSpPr/>
          <p:nvPr/>
        </p:nvSpPr>
        <p:spPr>
          <a:xfrm>
            <a:off x="923544" y="5314728"/>
            <a:ext cx="9027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자산군 이원화: </a:t>
            </a: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계약·규제 기반 자산(전력·송배전·유료도로·항만)과 부동산성 자산(데이터센터·물류)의 익스포저 한도를 분리 운영</a:t>
            </a:r>
            <a:endParaRPr lang="en-US" sz="1000" dirty="0"/>
          </a:p>
        </p:txBody>
      </p:sp>
      <p:sp>
        <p:nvSpPr>
          <p:cNvPr id="710" name="Text 20"/>
          <p:cNvSpPr/>
          <p:nvPr/>
        </p:nvSpPr>
        <p:spPr>
          <a:xfrm>
            <a:off x="740664" y="5577840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000" dirty="0"/>
          </a:p>
        </p:txBody>
      </p:sp>
      <p:sp>
        <p:nvSpPr>
          <p:cNvPr id="711" name="Text 21"/>
          <p:cNvSpPr/>
          <p:nvPr/>
        </p:nvSpPr>
        <p:spPr>
          <a:xfrm>
            <a:off x="923544" y="5607336"/>
            <a:ext cx="9027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개발 단계 자산은 제외하고, 통화·금리 헤지를 의무화하며, 국가별·스폰서별 한도를 사전 설정</a:t>
            </a:r>
            <a:endParaRPr lang="en-US" sz="1000" dirty="0"/>
          </a:p>
        </p:txBody>
      </p:sp>
      <p:sp>
        <p:nvSpPr>
          <p:cNvPr id="712" name="Text 22"/>
          <p:cNvSpPr/>
          <p:nvPr/>
        </p:nvSpPr>
        <p:spPr>
          <a:xfrm>
            <a:off x="740664" y="5870448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000" dirty="0"/>
          </a:p>
        </p:txBody>
      </p:sp>
      <p:sp>
        <p:nvSpPr>
          <p:cNvPr id="713" name="Text 23"/>
          <p:cNvSpPr/>
          <p:nvPr/>
        </p:nvSpPr>
        <p:spPr>
          <a:xfrm>
            <a:off x="923544" y="5899944"/>
            <a:ext cx="9027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전용 심사 트랙 신설: </a:t>
            </a: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SPC 특성상 기존 기업금융 기준(재무제표)이나 부동산 기준(담보가치)을 적용하면 정상 딜도 부결</a:t>
            </a:r>
            <a:endParaRPr lang="en-US" sz="1000" dirty="0"/>
          </a:p>
        </p:txBody>
      </p:sp>
      <p:sp>
        <p:nvSpPr>
          <p:cNvPr id="714" name="Shape 24"/>
          <p:cNvSpPr/>
          <p:nvPr/>
        </p:nvSpPr>
        <p:spPr>
          <a:xfrm>
            <a:off x="594360" y="6236208"/>
            <a:ext cx="9503268" cy="548640"/>
          </a:xfrm>
          <a:prstGeom prst="rect">
            <a:avLst/>
          </a:prstGeom>
          <a:solidFill>
            <a:srgbClr val="FFF2CC"/>
          </a:solidFill>
          <a:ln w="9525">
            <a:solidFill>
              <a:srgbClr val="FFDC6D"/>
            </a:solidFill>
            <a:prstDash val="solid"/>
          </a:ln>
        </p:spPr>
      </p:sp>
      <p:sp>
        <p:nvSpPr>
          <p:cNvPr id="715" name="Text 25"/>
          <p:cNvSpPr/>
          <p:nvPr/>
        </p:nvSpPr>
        <p:spPr>
          <a:xfrm>
            <a:off x="777240" y="6236208"/>
            <a:ext cx="91375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발행어음 운용규제 분류와 부킹 주체가 확인되기 전에는 종금북 자금을 재원으로 한 본격 추진이 불가함. 인프라는 계약 현금흐름으로 상환해 해외 부동산과 구조가 다르나, 데이터센터는 자산 성격이 부동산에 가까워 별도 한도 관리가 필요함</a:t>
            </a:r>
            <a:endParaRPr lang="en-US" sz="1000" dirty="0"/>
          </a:p>
        </p:txBody>
      </p:sp>
      <p:sp>
        <p:nvSpPr>
          <p:cNvPr id="716" name="Text 26"/>
          <p:cNvSpPr/>
          <p:nvPr/>
        </p:nvSpPr>
        <p:spPr>
          <a:xfrm>
            <a:off x="594360" y="6839712"/>
            <a:ext cx="9503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발행어음 조달자금은 기업금융 관련 자산 50% 이상, 부동산 관련 자산 30% 이하 운용 요건 적용. 분류 확인 전에는 참여형 딜에 한정하고 종금북 대규모 인수확약은 유보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Text 0"/>
          <p:cNvSpPr/>
          <p:nvPr/>
        </p:nvSpPr>
        <p:spPr>
          <a:xfrm>
            <a:off x="594360" y="475488"/>
            <a:ext cx="95032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추진 건의</a:t>
            </a:r>
            <a:endParaRPr lang="en-US" sz="1700" b="1" dirty="0"/>
          </a:p>
        </p:txBody>
      </p:sp>
      <p:sp>
        <p:nvSpPr>
          <p:cNvPr id="718" name="Shape 1"/>
          <p:cNvSpPr/>
          <p:nvPr/>
        </p:nvSpPr>
        <p:spPr>
          <a:xfrm>
            <a:off x="594360" y="969264"/>
            <a:ext cx="9503268" cy="749808"/>
          </a:xfrm>
          <a:prstGeom prst="rect">
            <a:avLst/>
          </a:prstGeom>
          <a:solidFill>
            <a:srgbClr val="0D4D79"/>
          </a:solidFill>
          <a:ln/>
        </p:spPr>
      </p:sp>
      <p:sp>
        <p:nvSpPr>
          <p:cNvPr id="719" name="Text 2"/>
          <p:cNvSpPr/>
          <p:nvPr/>
        </p:nvSpPr>
        <p:spPr>
          <a:xfrm>
            <a:off x="731520" y="969264"/>
            <a:ext cx="92289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협의체 구성과 규제 확인 우선 착수, 초년도는 참여형 딜로 역량 축적</a:t>
            </a:r>
            <a:endParaRPr lang="en-US" sz="1500" b="1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C000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관리지표는 인수확약액·셀다운 기간·Deal RAROC 기준으로 설정</a:t>
            </a:r>
            <a:endParaRPr lang="en-US" sz="1500" b="1" dirty="0"/>
          </a:p>
        </p:txBody>
      </p:sp>
      <p:sp>
        <p:nvSpPr>
          <p:cNvPr id="720" name="Shape 3"/>
          <p:cNvSpPr/>
          <p:nvPr/>
        </p:nvSpPr>
        <p:spPr>
          <a:xfrm>
            <a:off x="594360" y="1847088"/>
            <a:ext cx="2057400" cy="274320"/>
          </a:xfrm>
          <a:prstGeom prst="roundRect">
            <a:avLst>
              <a:gd name="adj" fmla="val 16667"/>
            </a:avLst>
          </a:prstGeom>
          <a:solidFill>
            <a:srgbClr val="0D4D79"/>
          </a:solidFill>
          <a:ln/>
        </p:spPr>
      </p:sp>
      <p:sp>
        <p:nvSpPr>
          <p:cNvPr id="721" name="Text 4"/>
          <p:cNvSpPr/>
          <p:nvPr/>
        </p:nvSpPr>
        <p:spPr>
          <a:xfrm>
            <a:off x="594360" y="18470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단계별 추진 계획</a:t>
            </a:r>
            <a:endParaRPr lang="en-US" sz="1200" dirty="0"/>
          </a:p>
        </p:txBody>
      </p:sp>
      <p:sp>
        <p:nvSpPr>
          <p:cNvPr id="722" name="Shape 5"/>
          <p:cNvSpPr/>
          <p:nvPr/>
        </p:nvSpPr>
        <p:spPr>
          <a:xfrm>
            <a:off x="594360" y="2212848"/>
            <a:ext cx="3076316" cy="1755648"/>
          </a:xfrm>
          <a:prstGeom prst="rect">
            <a:avLst/>
          </a:prstGeom>
          <a:solidFill>
            <a:srgbClr val="FFFFFF"/>
          </a:solidFill>
          <a:ln w="15875">
            <a:solidFill>
              <a:srgbClr val="0D4D79"/>
            </a:solidFill>
            <a:prstDash val="solid"/>
          </a:ln>
        </p:spPr>
      </p:sp>
      <p:sp>
        <p:nvSpPr>
          <p:cNvPr id="723" name="Shape 6"/>
          <p:cNvSpPr/>
          <p:nvPr/>
        </p:nvSpPr>
        <p:spPr>
          <a:xfrm>
            <a:off x="594360" y="2212848"/>
            <a:ext cx="3076316" cy="329184"/>
          </a:xfrm>
          <a:prstGeom prst="rect">
            <a:avLst/>
          </a:prstGeom>
          <a:solidFill>
            <a:srgbClr val="0D4D79"/>
          </a:solidFill>
          <a:ln/>
        </p:spPr>
      </p:sp>
      <p:sp>
        <p:nvSpPr>
          <p:cNvPr id="724" name="Text 7"/>
          <p:cNvSpPr/>
          <p:nvPr/>
        </p:nvSpPr>
        <p:spPr>
          <a:xfrm>
            <a:off x="649224" y="2212848"/>
            <a:ext cx="29665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FY26 하반기  </a:t>
            </a: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기반 정비</a:t>
            </a:r>
            <a:endParaRPr lang="en-US" sz="1100" dirty="0"/>
          </a:p>
        </p:txBody>
      </p:sp>
      <p:sp>
        <p:nvSpPr>
          <p:cNvPr id="725" name="Text 8"/>
          <p:cNvSpPr/>
          <p:nvPr/>
        </p:nvSpPr>
        <p:spPr>
          <a:xfrm>
            <a:off x="704088" y="2615184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000" dirty="0"/>
          </a:p>
        </p:txBody>
      </p:sp>
      <p:sp>
        <p:nvSpPr>
          <p:cNvPr id="726" name="Text 9"/>
          <p:cNvSpPr/>
          <p:nvPr/>
        </p:nvSpPr>
        <p:spPr>
          <a:xfrm>
            <a:off x="813816" y="2654512"/>
            <a:ext cx="2747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발행어음 운용규제·부킹 주체 확인</a:t>
            </a:r>
            <a:endParaRPr lang="en-US" sz="1000" dirty="0"/>
          </a:p>
        </p:txBody>
      </p:sp>
      <p:sp>
        <p:nvSpPr>
          <p:cNvPr id="727" name="Text 10"/>
          <p:cNvSpPr/>
          <p:nvPr/>
        </p:nvSpPr>
        <p:spPr>
          <a:xfrm>
            <a:off x="704088" y="2935224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000" dirty="0"/>
          </a:p>
        </p:txBody>
      </p:sp>
      <p:sp>
        <p:nvSpPr>
          <p:cNvPr id="728" name="Text 11"/>
          <p:cNvSpPr/>
          <p:nvPr/>
        </p:nvSpPr>
        <p:spPr>
          <a:xfrm>
            <a:off x="813816" y="2974552"/>
            <a:ext cx="2747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 간 손익 배분 비율 합의</a:t>
            </a:r>
            <a:endParaRPr lang="en-US" sz="1000" dirty="0"/>
          </a:p>
        </p:txBody>
      </p:sp>
      <p:sp>
        <p:nvSpPr>
          <p:cNvPr id="729" name="Text 12"/>
          <p:cNvSpPr/>
          <p:nvPr/>
        </p:nvSpPr>
        <p:spPr>
          <a:xfrm>
            <a:off x="704088" y="3255264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000" dirty="0"/>
          </a:p>
        </p:txBody>
      </p:sp>
      <p:sp>
        <p:nvSpPr>
          <p:cNvPr id="730" name="Text 13"/>
          <p:cNvSpPr/>
          <p:nvPr/>
        </p:nvSpPr>
        <p:spPr>
          <a:xfrm>
            <a:off x="813816" y="3294592"/>
            <a:ext cx="2747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전용 심사 트랙 설계</a:t>
            </a:r>
            <a:endParaRPr lang="en-US" sz="1000" dirty="0"/>
          </a:p>
        </p:txBody>
      </p:sp>
      <p:sp>
        <p:nvSpPr>
          <p:cNvPr id="731" name="Text 14"/>
          <p:cNvSpPr/>
          <p:nvPr/>
        </p:nvSpPr>
        <p:spPr>
          <a:xfrm>
            <a:off x="704088" y="3575304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000" dirty="0"/>
          </a:p>
        </p:txBody>
      </p:sp>
      <p:sp>
        <p:nvSpPr>
          <p:cNvPr id="732" name="Text 15"/>
          <p:cNvSpPr/>
          <p:nvPr/>
        </p:nvSpPr>
        <p:spPr>
          <a:xfrm>
            <a:off x="813816" y="3614632"/>
            <a:ext cx="2747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IB 주선 딜 참여 2~3건</a:t>
            </a:r>
            <a:endParaRPr lang="en-US" sz="1000" dirty="0"/>
          </a:p>
        </p:txBody>
      </p:sp>
      <p:sp>
        <p:nvSpPr>
          <p:cNvPr id="733" name="Shape 16"/>
          <p:cNvSpPr/>
          <p:nvPr/>
        </p:nvSpPr>
        <p:spPr>
          <a:xfrm>
            <a:off x="3807836" y="2212848"/>
            <a:ext cx="3076316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734" name="Shape 17"/>
          <p:cNvSpPr/>
          <p:nvPr/>
        </p:nvSpPr>
        <p:spPr>
          <a:xfrm>
            <a:off x="3807836" y="2212848"/>
            <a:ext cx="3076316" cy="329184"/>
          </a:xfrm>
          <a:prstGeom prst="rect">
            <a:avLst/>
          </a:prstGeom>
          <a:solidFill>
            <a:srgbClr val="E7EEF4"/>
          </a:solidFill>
          <a:ln/>
        </p:spPr>
      </p:sp>
      <p:sp>
        <p:nvSpPr>
          <p:cNvPr id="735" name="Text 18"/>
          <p:cNvSpPr/>
          <p:nvPr/>
        </p:nvSpPr>
        <p:spPr>
          <a:xfrm>
            <a:off x="3862700" y="2212848"/>
            <a:ext cx="29665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FY27  </a:t>
            </a:r>
            <a:r>
              <a:rPr lang="en-US" sz="10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트랙레코드 축적</a:t>
            </a:r>
            <a:endParaRPr lang="en-US" sz="1100" dirty="0"/>
          </a:p>
        </p:txBody>
      </p:sp>
      <p:sp>
        <p:nvSpPr>
          <p:cNvPr id="736" name="Text 19"/>
          <p:cNvSpPr/>
          <p:nvPr/>
        </p:nvSpPr>
        <p:spPr>
          <a:xfrm>
            <a:off x="3917564" y="2615184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000" dirty="0"/>
          </a:p>
        </p:txBody>
      </p:sp>
      <p:sp>
        <p:nvSpPr>
          <p:cNvPr id="737" name="Text 20"/>
          <p:cNvSpPr/>
          <p:nvPr/>
        </p:nvSpPr>
        <p:spPr>
          <a:xfrm>
            <a:off x="4027292" y="2654512"/>
            <a:ext cx="2747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스폰서 3~4곳과 반복거래</a:t>
            </a:r>
            <a:endParaRPr lang="en-US" sz="1000" dirty="0"/>
          </a:p>
        </p:txBody>
      </p:sp>
      <p:sp>
        <p:nvSpPr>
          <p:cNvPr id="738" name="Text 21"/>
          <p:cNvSpPr/>
          <p:nvPr/>
        </p:nvSpPr>
        <p:spPr>
          <a:xfrm>
            <a:off x="3917564" y="2935224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000" dirty="0"/>
          </a:p>
        </p:txBody>
      </p:sp>
      <p:sp>
        <p:nvSpPr>
          <p:cNvPr id="739" name="Text 22"/>
          <p:cNvSpPr/>
          <p:nvPr/>
        </p:nvSpPr>
        <p:spPr>
          <a:xfrm>
            <a:off x="4027292" y="2974552"/>
            <a:ext cx="2747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딜당 인수확약 규모 확대</a:t>
            </a:r>
            <a:endParaRPr lang="en-US" sz="1000" dirty="0"/>
          </a:p>
        </p:txBody>
      </p:sp>
      <p:sp>
        <p:nvSpPr>
          <p:cNvPr id="740" name="Text 23"/>
          <p:cNvSpPr/>
          <p:nvPr/>
        </p:nvSpPr>
        <p:spPr>
          <a:xfrm>
            <a:off x="3917564" y="3255264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000" dirty="0"/>
          </a:p>
        </p:txBody>
      </p:sp>
      <p:sp>
        <p:nvSpPr>
          <p:cNvPr id="741" name="Text 24"/>
          <p:cNvSpPr/>
          <p:nvPr/>
        </p:nvSpPr>
        <p:spPr>
          <a:xfrm>
            <a:off x="4027292" y="3294592"/>
            <a:ext cx="2747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 주선(Joint Lead) 1건</a:t>
            </a:r>
            <a:endParaRPr lang="en-US" sz="1000" dirty="0"/>
          </a:p>
        </p:txBody>
      </p:sp>
      <p:sp>
        <p:nvSpPr>
          <p:cNvPr id="742" name="Text 25"/>
          <p:cNvSpPr/>
          <p:nvPr/>
        </p:nvSpPr>
        <p:spPr>
          <a:xfrm>
            <a:off x="3917564" y="3575304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000" dirty="0"/>
          </a:p>
        </p:txBody>
      </p:sp>
      <p:sp>
        <p:nvSpPr>
          <p:cNvPr id="743" name="Text 26"/>
          <p:cNvSpPr/>
          <p:nvPr/>
        </p:nvSpPr>
        <p:spPr>
          <a:xfrm>
            <a:off x="4027292" y="3614632"/>
            <a:ext cx="2747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셀다운 채널 가동</a:t>
            </a:r>
            <a:endParaRPr lang="en-US" sz="1000" dirty="0"/>
          </a:p>
        </p:txBody>
      </p:sp>
      <p:sp>
        <p:nvSpPr>
          <p:cNvPr id="744" name="Shape 27"/>
          <p:cNvSpPr/>
          <p:nvPr/>
        </p:nvSpPr>
        <p:spPr>
          <a:xfrm>
            <a:off x="7021312" y="2212848"/>
            <a:ext cx="3076316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C4CAD2"/>
            </a:solidFill>
            <a:prstDash val="solid"/>
          </a:ln>
        </p:spPr>
      </p:sp>
      <p:sp>
        <p:nvSpPr>
          <p:cNvPr id="745" name="Shape 28"/>
          <p:cNvSpPr/>
          <p:nvPr/>
        </p:nvSpPr>
        <p:spPr>
          <a:xfrm>
            <a:off x="7021312" y="2212848"/>
            <a:ext cx="3076316" cy="329184"/>
          </a:xfrm>
          <a:prstGeom prst="rect">
            <a:avLst/>
          </a:prstGeom>
          <a:solidFill>
            <a:srgbClr val="E7EEF4"/>
          </a:solidFill>
          <a:ln/>
        </p:spPr>
      </p:sp>
      <p:sp>
        <p:nvSpPr>
          <p:cNvPr id="746" name="Text 29"/>
          <p:cNvSpPr/>
          <p:nvPr/>
        </p:nvSpPr>
        <p:spPr>
          <a:xfrm>
            <a:off x="7076176" y="2212848"/>
            <a:ext cx="29665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FY28 이후  </a:t>
            </a:r>
            <a:r>
              <a:rPr lang="en-US" sz="10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사업화</a:t>
            </a:r>
            <a:endParaRPr lang="en-US" sz="1100" dirty="0"/>
          </a:p>
        </p:txBody>
      </p:sp>
      <p:sp>
        <p:nvSpPr>
          <p:cNvPr id="747" name="Text 30"/>
          <p:cNvSpPr/>
          <p:nvPr/>
        </p:nvSpPr>
        <p:spPr>
          <a:xfrm>
            <a:off x="7131040" y="2615184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000" dirty="0"/>
          </a:p>
        </p:txBody>
      </p:sp>
      <p:sp>
        <p:nvSpPr>
          <p:cNvPr id="748" name="Text 31"/>
          <p:cNvSpPr/>
          <p:nvPr/>
        </p:nvSpPr>
        <p:spPr>
          <a:xfrm>
            <a:off x="7240768" y="2654512"/>
            <a:ext cx="2747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포트폴리오 금융 착수</a:t>
            </a:r>
            <a:endParaRPr lang="en-US" sz="1000" dirty="0"/>
          </a:p>
        </p:txBody>
      </p:sp>
      <p:sp>
        <p:nvSpPr>
          <p:cNvPr id="749" name="Text 32"/>
          <p:cNvSpPr/>
          <p:nvPr/>
        </p:nvSpPr>
        <p:spPr>
          <a:xfrm>
            <a:off x="7131040" y="2935224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000" dirty="0"/>
          </a:p>
        </p:txBody>
      </p:sp>
      <p:sp>
        <p:nvSpPr>
          <p:cNvPr id="750" name="Text 33"/>
          <p:cNvSpPr/>
          <p:nvPr/>
        </p:nvSpPr>
        <p:spPr>
          <a:xfrm>
            <a:off x="7240768" y="2974552"/>
            <a:ext cx="2747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주선 시도</a:t>
            </a:r>
            <a:endParaRPr lang="en-US" sz="1000" dirty="0"/>
          </a:p>
        </p:txBody>
      </p:sp>
      <p:sp>
        <p:nvSpPr>
          <p:cNvPr id="751" name="Text 34"/>
          <p:cNvSpPr/>
          <p:nvPr/>
        </p:nvSpPr>
        <p:spPr>
          <a:xfrm>
            <a:off x="7131040" y="3255264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000" dirty="0"/>
          </a:p>
        </p:txBody>
      </p:sp>
      <p:sp>
        <p:nvSpPr>
          <p:cNvPr id="752" name="Text 35"/>
          <p:cNvSpPr/>
          <p:nvPr/>
        </p:nvSpPr>
        <p:spPr>
          <a:xfrm>
            <a:off x="7240768" y="3294592"/>
            <a:ext cx="2747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리파이낸싱 반복수익 확보</a:t>
            </a:r>
            <a:endParaRPr lang="en-US" sz="1000" dirty="0"/>
          </a:p>
        </p:txBody>
      </p:sp>
      <p:sp>
        <p:nvSpPr>
          <p:cNvPr id="753" name="Text 36"/>
          <p:cNvSpPr/>
          <p:nvPr/>
        </p:nvSpPr>
        <p:spPr>
          <a:xfrm>
            <a:off x="7131040" y="3575304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000" dirty="0"/>
          </a:p>
        </p:txBody>
      </p:sp>
      <p:sp>
        <p:nvSpPr>
          <p:cNvPr id="754" name="Text 37"/>
          <p:cNvSpPr/>
          <p:nvPr/>
        </p:nvSpPr>
        <p:spPr>
          <a:xfrm>
            <a:off x="7240768" y="3614632"/>
            <a:ext cx="2747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전담 인력 체계 확립</a:t>
            </a:r>
            <a:endParaRPr lang="en-US" sz="1000" dirty="0"/>
          </a:p>
        </p:txBody>
      </p:sp>
      <p:sp>
        <p:nvSpPr>
          <p:cNvPr id="755" name="Shape 38"/>
          <p:cNvSpPr/>
          <p:nvPr/>
        </p:nvSpPr>
        <p:spPr>
          <a:xfrm>
            <a:off x="594360" y="4224528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0D4D79"/>
          </a:solidFill>
          <a:ln/>
        </p:spPr>
      </p:sp>
      <p:sp>
        <p:nvSpPr>
          <p:cNvPr id="756" name="Text 39"/>
          <p:cNvSpPr/>
          <p:nvPr/>
        </p:nvSpPr>
        <p:spPr>
          <a:xfrm>
            <a:off x="594360" y="42245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관리지표</a:t>
            </a:r>
            <a:endParaRPr lang="en-US" sz="1200" dirty="0"/>
          </a:p>
        </p:txBody>
      </p:sp>
      <p:sp>
        <p:nvSpPr>
          <p:cNvPr id="757" name="Text 40"/>
          <p:cNvSpPr/>
          <p:nvPr/>
        </p:nvSpPr>
        <p:spPr>
          <a:xfrm>
            <a:off x="2194560" y="4261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(주선금액은 3개 기준으로 분리 집계)</a:t>
            </a:r>
            <a:endParaRPr lang="en-US" sz="1000" dirty="0"/>
          </a:p>
        </p:txBody>
      </p:sp>
      <p:graphicFrame>
        <p:nvGraphicFramePr>
          <p:cNvPr id="7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204162"/>
              </p:ext>
            </p:extLst>
          </p:nvPr>
        </p:nvGraphicFramePr>
        <p:xfrm>
          <a:off x="594360" y="4590288"/>
          <a:ext cx="4663440" cy="16459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정의·용도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딜 총액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대외 발표·시장 지위 표시용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인수확약액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본부 실적 평가 기준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최종 보유액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리스크·자본 관리 기준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셀다운 소요기간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자본 회전율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Deal RAROC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딜 승인 기준 (총수익 ÷ 소요자본)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59" name="Shape 41"/>
          <p:cNvSpPr/>
          <p:nvPr/>
        </p:nvSpPr>
        <p:spPr>
          <a:xfrm>
            <a:off x="5577840" y="4224528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0D4D79"/>
          </a:solidFill>
          <a:ln/>
        </p:spPr>
      </p:sp>
      <p:sp>
        <p:nvSpPr>
          <p:cNvPr id="760" name="Text 42"/>
          <p:cNvSpPr/>
          <p:nvPr/>
        </p:nvSpPr>
        <p:spPr>
          <a:xfrm>
            <a:off x="5577840" y="42245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건의사항</a:t>
            </a:r>
            <a:endParaRPr lang="en-US" sz="1200" dirty="0"/>
          </a:p>
        </p:txBody>
      </p:sp>
      <p:sp>
        <p:nvSpPr>
          <p:cNvPr id="761" name="Shape 43"/>
          <p:cNvSpPr/>
          <p:nvPr/>
        </p:nvSpPr>
        <p:spPr>
          <a:xfrm>
            <a:off x="5577840" y="4590288"/>
            <a:ext cx="4517136" cy="1645920"/>
          </a:xfrm>
          <a:prstGeom prst="rect">
            <a:avLst/>
          </a:prstGeom>
          <a:solidFill>
            <a:srgbClr val="F7F8FA"/>
          </a:solidFill>
          <a:ln w="9525">
            <a:solidFill>
              <a:srgbClr val="E8EBEF"/>
            </a:solidFill>
            <a:prstDash val="solid"/>
          </a:ln>
        </p:spPr>
      </p:sp>
      <p:sp>
        <p:nvSpPr>
          <p:cNvPr id="762" name="Text 44"/>
          <p:cNvSpPr/>
          <p:nvPr/>
        </p:nvSpPr>
        <p:spPr>
          <a:xfrm>
            <a:off x="5724144" y="4681728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000" dirty="0"/>
          </a:p>
        </p:txBody>
      </p:sp>
      <p:sp>
        <p:nvSpPr>
          <p:cNvPr id="763" name="Text 45"/>
          <p:cNvSpPr/>
          <p:nvPr/>
        </p:nvSpPr>
        <p:spPr>
          <a:xfrm>
            <a:off x="5907024" y="4721056"/>
            <a:ext cx="4041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종금본부·IB그룹 공동 파이프라인 </a:t>
            </a:r>
            <a:r>
              <a:rPr lang="en-US" sz="1000" b="1" dirty="0" err="1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협의체</a:t>
            </a: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</a:t>
            </a: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en-US" sz="9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(월 1회, 일정 금액 이하 인수확약 한도 승인권 부여)</a:t>
            </a:r>
            <a:endParaRPr lang="en-US" sz="900" dirty="0"/>
          </a:p>
        </p:txBody>
      </p:sp>
      <p:sp>
        <p:nvSpPr>
          <p:cNvPr id="764" name="Text 46"/>
          <p:cNvSpPr/>
          <p:nvPr/>
        </p:nvSpPr>
        <p:spPr>
          <a:xfrm>
            <a:off x="5724144" y="5114936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000" dirty="0"/>
          </a:p>
        </p:txBody>
      </p:sp>
      <p:sp>
        <p:nvSpPr>
          <p:cNvPr id="765" name="Text 47"/>
          <p:cNvSpPr/>
          <p:nvPr/>
        </p:nvSpPr>
        <p:spPr>
          <a:xfrm>
            <a:off x="5907024" y="5154264"/>
            <a:ext cx="4041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선결 확인사항 3건에 대한 검토 </a:t>
            </a:r>
            <a:r>
              <a:rPr lang="en-US" sz="900" dirty="0" err="1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</a:t>
            </a:r>
            <a:r>
              <a:rPr lang="en-US" sz="9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(컴플라이언스·리스크관리본부 협조)</a:t>
            </a:r>
            <a:endParaRPr lang="en-US" sz="1000" dirty="0"/>
          </a:p>
        </p:txBody>
      </p:sp>
      <p:sp>
        <p:nvSpPr>
          <p:cNvPr id="766" name="Text 48"/>
          <p:cNvSpPr/>
          <p:nvPr/>
        </p:nvSpPr>
        <p:spPr>
          <a:xfrm>
            <a:off x="5724144" y="5449824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D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000" dirty="0"/>
          </a:p>
        </p:txBody>
      </p:sp>
      <p:sp>
        <p:nvSpPr>
          <p:cNvPr id="767" name="Text 49"/>
          <p:cNvSpPr/>
          <p:nvPr/>
        </p:nvSpPr>
        <p:spPr>
          <a:xfrm>
            <a:off x="5907024" y="5489152"/>
            <a:ext cx="4041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3C4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FY27 사업계획 반영 여부는 FY26 하반기 참여 실적 확인 후 결정</a:t>
            </a:r>
            <a:endParaRPr lang="en-US" sz="1000" dirty="0"/>
          </a:p>
        </p:txBody>
      </p:sp>
      <p:sp>
        <p:nvSpPr>
          <p:cNvPr id="769" name="Text 51"/>
          <p:cNvSpPr/>
          <p:nvPr/>
        </p:nvSpPr>
        <p:spPr>
          <a:xfrm>
            <a:off x="5866013" y="5774946"/>
            <a:ext cx="4041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⇒ 초년도 목표는 주선금액이 아닌 참여 건수·심사 통과 건수로 설정</a:t>
            </a:r>
            <a:endParaRPr lang="en-US" sz="1000" dirty="0"/>
          </a:p>
        </p:txBody>
      </p:sp>
      <p:sp>
        <p:nvSpPr>
          <p:cNvPr id="770" name="Shape 52"/>
          <p:cNvSpPr/>
          <p:nvPr/>
        </p:nvSpPr>
        <p:spPr>
          <a:xfrm>
            <a:off x="594360" y="6345936"/>
            <a:ext cx="9503268" cy="457200"/>
          </a:xfrm>
          <a:prstGeom prst="rect">
            <a:avLst/>
          </a:prstGeom>
          <a:solidFill>
            <a:srgbClr val="FFF2CC"/>
          </a:solidFill>
          <a:ln w="9525">
            <a:solidFill>
              <a:srgbClr val="FFDC6D"/>
            </a:solidFill>
            <a:prstDash val="solid"/>
          </a:ln>
        </p:spPr>
      </p:sp>
      <p:sp>
        <p:nvSpPr>
          <p:cNvPr id="771" name="Text 53"/>
          <p:cNvSpPr/>
          <p:nvPr/>
        </p:nvSpPr>
        <p:spPr>
          <a:xfrm>
            <a:off x="777240" y="6345936"/>
            <a:ext cx="9137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KB가 대주 참여에서 주선사 지위까지 7년이 걸린 점을 고려하면, 초년도는 실적 규모보다 참여 건수와 심사 통과 건수로 관리하는 편이 적절함</a:t>
            </a:r>
            <a:endParaRPr lang="en-US" sz="1000" dirty="0"/>
          </a:p>
        </p:txBody>
      </p:sp>
      <p:sp>
        <p:nvSpPr>
          <p:cNvPr id="772" name="Text 54"/>
          <p:cNvSpPr/>
          <p:nvPr/>
        </p:nvSpPr>
        <p:spPr>
          <a:xfrm>
            <a:off x="594360" y="6876288"/>
            <a:ext cx="9503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인프라 사업성 모델링과 기술·환경 자문사 관리는 PF본부의 국내 부동산 업무와 성격이 달라, 경력 채용을 통한 기간 단축이 초기 예산의 핵심 항목</a:t>
            </a:r>
            <a:endParaRPr lang="en-US" sz="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561.25"/>
  <p:tag name="LLEFT" val=" 618.6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561.25"/>
  <p:tag name="LLEFT" val=" 618.6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6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mpd="sng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spAutoFit/>
      </a:bodyPr>
      <a:lstStyle>
        <a:defPPr algn="l">
          <a:defRPr sz="12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138073</TotalTime>
  <Words>1656</Words>
  <Application>Microsoft Office PowerPoint</Application>
  <PresentationFormat>사용자 지정</PresentationFormat>
  <Paragraphs>319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HY헤드라인M</vt:lpstr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help</dc:creator>
  <cp:lastModifiedBy>신환욱</cp:lastModifiedBy>
  <cp:revision>12346</cp:revision>
  <cp:lastPrinted>2026-03-03T03:21:04Z</cp:lastPrinted>
  <dcterms:created xsi:type="dcterms:W3CDTF">2014-04-15T23:43:29Z</dcterms:created>
  <dcterms:modified xsi:type="dcterms:W3CDTF">2026-08-20T05:30:10Z</dcterms:modified>
</cp:coreProperties>
</file>